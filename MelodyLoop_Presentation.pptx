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280160"/>
            <a:ext cx="3840480" cy="347472"/>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E40AF"/>
                </a:solidFill>
                <a:latin typeface="Calibri"/>
              </a:defRPr>
            </a:pPr>
            <a:r>
              <a:t>ACADEMIC PROJECT DEFENSE • DEEP LEARNING</a:t>
            </a:r>
          </a:p>
        </p:txBody>
      </p:sp>
      <p:sp>
        <p:nvSpPr>
          <p:cNvPr id="5" name="TextBox 4"/>
          <p:cNvSpPr txBox="1"/>
          <p:nvPr/>
        </p:nvSpPr>
        <p:spPr>
          <a:xfrm>
            <a:off x="1371600" y="1783080"/>
            <a:ext cx="9326880" cy="1645920"/>
          </a:xfrm>
          <a:prstGeom prst="rect">
            <a:avLst/>
          </a:prstGeom>
          <a:noFill/>
        </p:spPr>
        <p:txBody>
          <a:bodyPr wrap="square">
            <a:spAutoFit/>
          </a:bodyPr>
          <a:lstStyle/>
          <a:p>
            <a:pPr>
              <a:defRPr sz="3200" b="1">
                <a:solidFill>
                  <a:srgbClr val="0F172A"/>
                </a:solidFill>
                <a:latin typeface="Calibri"/>
              </a:defRPr>
            </a:pPr>
            <a:r>
              <a:t>MelodyLoop: Music Generation Using an LSTM</a:t>
            </a:r>
          </a:p>
          <a:p>
            <a:pPr>
              <a:spcBef>
                <a:spcPts val="800"/>
              </a:spcBef>
              <a:defRPr sz="1300">
                <a:solidFill>
                  <a:srgbClr val="64748B"/>
                </a:solidFill>
                <a:latin typeface="Calibri"/>
              </a:defRPr>
            </a:pPr>
            <a:r>
              <a:t>Diagnosing Autoregressive Sampling Instability, Enforcing Musical Coherence via Top-K Filtering, and Building an Interactive Demonstration on the MAESTRO MIDI Dataset</a:t>
            </a:r>
          </a:p>
        </p:txBody>
      </p:sp>
      <p:sp>
        <p:nvSpPr>
          <p:cNvPr id="6" name="Rounded Rectangle 5"/>
          <p:cNvSpPr/>
          <p:nvPr/>
        </p:nvSpPr>
        <p:spPr>
          <a:xfrm>
            <a:off x="1371600" y="3749039"/>
            <a:ext cx="2926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3840480"/>
            <a:ext cx="2651760" cy="914400"/>
          </a:xfrm>
          <a:prstGeom prst="rect">
            <a:avLst/>
          </a:prstGeom>
          <a:noFill/>
        </p:spPr>
        <p:txBody>
          <a:bodyPr wrap="square">
            <a:spAutoFit/>
          </a:bodyPr>
          <a:lstStyle/>
          <a:p>
            <a:pPr>
              <a:defRPr sz="1150" b="1">
                <a:solidFill>
                  <a:srgbClr val="0F172A"/>
                </a:solidFill>
                <a:latin typeface="Calibri"/>
              </a:defRPr>
            </a:pPr>
            <a:r>
              <a:t>🎵 MAESTRO v3.0.0</a:t>
            </a:r>
          </a:p>
          <a:p>
            <a:pPr>
              <a:spcBef>
                <a:spcPts val="200"/>
              </a:spcBef>
              <a:defRPr sz="950">
                <a:solidFill>
                  <a:srgbClr val="334155"/>
                </a:solidFill>
                <a:latin typeface="Calibri"/>
              </a:defRPr>
            </a:pPr>
            <a:r>
              <a:t>1,276 virtuosic piano performances, multi-task quantized tokenization</a:t>
            </a:r>
          </a:p>
        </p:txBody>
      </p:sp>
      <p:sp>
        <p:nvSpPr>
          <p:cNvPr id="8" name="Rounded Rectangle 7"/>
          <p:cNvSpPr/>
          <p:nvPr/>
        </p:nvSpPr>
        <p:spPr>
          <a:xfrm>
            <a:off x="4572000" y="3749039"/>
            <a:ext cx="2926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3840480"/>
            <a:ext cx="2651760" cy="914400"/>
          </a:xfrm>
          <a:prstGeom prst="rect">
            <a:avLst/>
          </a:prstGeom>
          <a:noFill/>
        </p:spPr>
        <p:txBody>
          <a:bodyPr wrap="square">
            <a:spAutoFit/>
          </a:bodyPr>
          <a:lstStyle/>
          <a:p>
            <a:pPr>
              <a:defRPr sz="1150" b="1">
                <a:solidFill>
                  <a:srgbClr val="0F172A"/>
                </a:solidFill>
                <a:latin typeface="Calibri"/>
              </a:defRPr>
            </a:pPr>
            <a:r>
              <a:t>🧠 PyTorch MelodyLSTM</a:t>
            </a:r>
          </a:p>
          <a:p>
            <a:pPr>
              <a:spcBef>
                <a:spcPts val="200"/>
              </a:spcBef>
              <a:defRPr sz="950">
                <a:solidFill>
                  <a:srgbClr val="334155"/>
                </a:solidFill>
                <a:latin typeface="Calibri"/>
              </a:defRPr>
            </a:pPr>
            <a:r>
              <a:t>Multi-head architecture predicting pitch, duration &amp; time step</a:t>
            </a:r>
          </a:p>
        </p:txBody>
      </p:sp>
      <p:sp>
        <p:nvSpPr>
          <p:cNvPr id="10" name="Rounded Rectangle 9"/>
          <p:cNvSpPr/>
          <p:nvPr/>
        </p:nvSpPr>
        <p:spPr>
          <a:xfrm>
            <a:off x="7772400" y="3749039"/>
            <a:ext cx="2926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3840480"/>
            <a:ext cx="2651760" cy="914400"/>
          </a:xfrm>
          <a:prstGeom prst="rect">
            <a:avLst/>
          </a:prstGeom>
          <a:noFill/>
        </p:spPr>
        <p:txBody>
          <a:bodyPr wrap="square">
            <a:spAutoFit/>
          </a:bodyPr>
          <a:lstStyle/>
          <a:p>
            <a:pPr>
              <a:defRPr sz="1150" b="1">
                <a:solidFill>
                  <a:srgbClr val="0F172A"/>
                </a:solidFill>
                <a:latin typeface="Calibri"/>
              </a:defRPr>
            </a:pPr>
            <a:r>
              <a:t>⚡ Coherence Engine</a:t>
            </a:r>
          </a:p>
          <a:p>
            <a:pPr>
              <a:spcBef>
                <a:spcPts val="200"/>
              </a:spcBef>
              <a:defRPr sz="950">
                <a:solidFill>
                  <a:srgbClr val="334155"/>
                </a:solidFill>
                <a:latin typeface="Calibri"/>
              </a:defRPr>
            </a:pPr>
            <a:r>
              <a:t>Top-K candidate filtering, temperature tuning &amp; seeded phrase continuation</a:t>
            </a:r>
          </a:p>
        </p:txBody>
      </p:sp>
      <p:sp>
        <p:nvSpPr>
          <p:cNvPr id="12" name="TextBox 11"/>
          <p:cNvSpPr txBox="1"/>
          <p:nvPr/>
        </p:nvSpPr>
        <p:spPr>
          <a:xfrm>
            <a:off x="1371600" y="5074920"/>
            <a:ext cx="9326880" cy="457200"/>
          </a:xfrm>
          <a:prstGeom prst="rect">
            <a:avLst/>
          </a:prstGeom>
          <a:noFill/>
        </p:spPr>
        <p:txBody>
          <a:bodyPr wrap="none">
            <a:spAutoFit/>
          </a:bodyPr>
          <a:lstStyle/>
          <a:p>
            <a:pPr>
              <a:defRPr sz="950" b="1">
                <a:solidFill>
                  <a:srgbClr val="64748B"/>
                </a:solidFill>
                <a:latin typeface="Calibri"/>
              </a:defRPr>
            </a:pPr>
            <a:r>
              <a:t>Environment: NVIDIA RTX 3050 Laptop GPU (CUDA) | Educational PyTorch Implementation | Streamlit Interactive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BACKGROUND &amp; SCOPE</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1. Project Objective &amp; The Sequential Music Problem</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389120"/>
          </a:xfrm>
          <a:prstGeom prst="rect">
            <a:avLst/>
          </a:prstGeom>
          <a:noFill/>
        </p:spPr>
        <p:txBody>
          <a:bodyPr wrap="square">
            <a:spAutoFit/>
          </a:bodyPr>
          <a:lstStyle/>
          <a:p>
            <a:pPr>
              <a:spcAft>
                <a:spcPts val="800"/>
              </a:spcAft>
              <a:defRPr sz="1400" b="1">
                <a:solidFill>
                  <a:srgbClr val="1E40AF"/>
                </a:solidFill>
                <a:latin typeface="Calibri"/>
              </a:defRPr>
            </a:pPr>
            <a:r>
              <a:t>Why Is Symbolic Music Generation Difficult?</a:t>
            </a:r>
          </a:p>
          <a:p>
            <a:pPr>
              <a:spcAft>
                <a:spcPts val="400"/>
              </a:spcAft>
              <a:defRPr sz="1050">
                <a:latin typeface="Calibri"/>
              </a:defRPr>
            </a:pPr>
            <a:r>
              <a:rPr b="1">
                <a:solidFill>
                  <a:srgbClr val="0F172A"/>
                </a:solidFill>
              </a:rPr>
              <a:t>Temporal &amp; Harmonic Dual Nature: </a:t>
            </a:r>
            <a:r>
              <a:rPr b="0">
                <a:solidFill>
                  <a:srgbClr val="334155"/>
                </a:solidFill>
              </a:rPr>
              <a:t>Music is not just 1D text; it requires pitch harmony, rhythmic meters, and voice-leading rules simultaneously.</a:t>
            </a:r>
          </a:p>
          <a:p>
            <a:pPr>
              <a:spcAft>
                <a:spcPts val="400"/>
              </a:spcAft>
              <a:defRPr sz="1050">
                <a:latin typeface="Calibri"/>
              </a:defRPr>
            </a:pPr>
            <a:r>
              <a:rPr b="1">
                <a:solidFill>
                  <a:srgbClr val="0F172A"/>
                </a:solidFill>
              </a:rPr>
              <a:t>Extreme Vocabulary Space: </a:t>
            </a:r>
            <a:r>
              <a:rPr b="0">
                <a:solidFill>
                  <a:srgbClr val="334155"/>
                </a:solidFill>
              </a:rPr>
              <a:t>128 MIDI pitch classes + continuous note durations + asynchronous start times. In free softmax sampling, entropy is extremely high.</a:t>
            </a:r>
          </a:p>
          <a:p>
            <a:pPr>
              <a:spcAft>
                <a:spcPts val="400"/>
              </a:spcAft>
              <a:defRPr sz="1050">
                <a:latin typeface="Calibri"/>
              </a:defRPr>
            </a:pPr>
            <a:r>
              <a:rPr b="1">
                <a:solidFill>
                  <a:srgbClr val="0F172A"/>
                </a:solidFill>
              </a:rPr>
              <a:t>Autoregressive Sensitivity: </a:t>
            </a:r>
            <a:r>
              <a:rPr b="0">
                <a:solidFill>
                  <a:srgbClr val="334155"/>
                </a:solidFill>
              </a:rPr>
              <a:t>In recurrent rollouts, one bad prediction ($y_t$) becomes the input ($x_{t+1}$), pushing the internal hidden state away from the musical manifold.</a:t>
            </a:r>
          </a:p>
          <a:p>
            <a:pPr>
              <a:spcAft>
                <a:spcPts val="400"/>
              </a:spcAft>
              <a:defRPr sz="1050">
                <a:latin typeface="Calibri"/>
              </a:defRPr>
            </a:pPr>
            <a:r>
              <a:rPr b="1">
                <a:solidFill>
                  <a:srgbClr val="0F172A"/>
                </a:solidFill>
              </a:rPr>
              <a:t>Educational Boundary: </a:t>
            </a:r>
            <a:r>
              <a:rPr b="0">
                <a:solidFill>
                  <a:srgbClr val="334155"/>
                </a:solidFill>
              </a:rPr>
              <a:t>Goal is to learn and demonstrate LSTM sequential mechanics from scratch without relying on multi-billion parameter blackbox models.</a:t>
            </a:r>
          </a:p>
        </p:txBody>
      </p:sp>
      <p:sp>
        <p:nvSpPr>
          <p:cNvPr id="7" name="Rounded Rectangle 6"/>
          <p:cNvSpPr/>
          <p:nvPr/>
        </p:nvSpPr>
        <p:spPr>
          <a:xfrm>
            <a:off x="6217920" y="137160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389120"/>
          </a:xfrm>
          <a:prstGeom prst="rect">
            <a:avLst/>
          </a:prstGeom>
          <a:noFill/>
        </p:spPr>
        <p:txBody>
          <a:bodyPr wrap="square">
            <a:spAutoFit/>
          </a:bodyPr>
          <a:lstStyle/>
          <a:p>
            <a:pPr>
              <a:spcAft>
                <a:spcPts val="800"/>
              </a:spcAft>
              <a:defRPr sz="1400" b="1">
                <a:solidFill>
                  <a:srgbClr val="0F172A"/>
                </a:solidFill>
                <a:latin typeface="Calibri"/>
              </a:defRPr>
            </a:pPr>
            <a:r>
              <a:t>Project Mandate &amp; Engineering Principles</a:t>
            </a:r>
          </a:p>
          <a:p>
            <a:pPr>
              <a:spcAft>
                <a:spcPts val="400"/>
              </a:spcAft>
              <a:defRPr sz="1050">
                <a:latin typeface="Calibri"/>
              </a:defRPr>
            </a:pPr>
            <a:r>
              <a:rPr b="1">
                <a:solidFill>
                  <a:srgbClr val="0F172A"/>
                </a:solidFill>
              </a:rPr>
              <a:t>1. Train from Scratch: </a:t>
            </a:r>
            <a:r>
              <a:rPr b="0">
                <a:solidFill>
                  <a:srgbClr val="334155"/>
                </a:solidFill>
              </a:rPr>
              <a:t>Zero pre-trained foundation checkpoints; fully transparent PyTorch model with ~167,000 parameters.</a:t>
            </a:r>
          </a:p>
          <a:p>
            <a:pPr>
              <a:spcAft>
                <a:spcPts val="400"/>
              </a:spcAft>
              <a:defRPr sz="1050">
                <a:latin typeface="Calibri"/>
              </a:defRPr>
            </a:pPr>
            <a:r>
              <a:rPr b="1">
                <a:solidFill>
                  <a:srgbClr val="0F172A"/>
                </a:solidFill>
              </a:rPr>
              <a:t>2. Full Pipeline Ownership: </a:t>
            </a:r>
            <a:r>
              <a:rPr b="0">
                <a:solidFill>
                  <a:srgbClr val="334155"/>
                </a:solidFill>
              </a:rPr>
              <a:t>MAESTRO MIDI parsing → multi-task quantization → LSTM training → autoregressive inference → zero-dependency WAV synthesis.</a:t>
            </a:r>
          </a:p>
          <a:p>
            <a:pPr>
              <a:spcAft>
                <a:spcPts val="400"/>
              </a:spcAft>
              <a:defRPr sz="1050">
                <a:latin typeface="Calibri"/>
              </a:defRPr>
            </a:pPr>
            <a:r>
              <a:rPr b="1">
                <a:solidFill>
                  <a:srgbClr val="0F172A"/>
                </a:solidFill>
              </a:rPr>
              <a:t>3. Diagnose Before Modifying: </a:t>
            </a:r>
            <a:r>
              <a:rPr b="0">
                <a:solidFill>
                  <a:srgbClr val="334155"/>
                </a:solidFill>
              </a:rPr>
              <a:t>Audit why initial generated music sounded random rather than blindly adding parameters or epochs.</a:t>
            </a:r>
          </a:p>
          <a:p>
            <a:pPr>
              <a:spcAft>
                <a:spcPts val="400"/>
              </a:spcAft>
              <a:defRPr sz="1050">
                <a:latin typeface="Calibri"/>
              </a:defRPr>
            </a:pPr>
            <a:r>
              <a:rPr b="1">
                <a:solidFill>
                  <a:srgbClr val="0F172A"/>
                </a:solidFill>
              </a:rPr>
              <a:t>4. Real vs. Generated Comparison: </a:t>
            </a:r>
            <a:r>
              <a:rPr b="0">
                <a:solidFill>
                  <a:srgbClr val="334155"/>
                </a:solidFill>
              </a:rPr>
              <a:t>Allow direct auditory and piano-roll comparison against real human virtuoso performances.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DATASET &amp; BENCHMARK</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2. The Dataset: MAESTRO v3.0.0 MIDI Corpus</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25603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2560320" cy="731520"/>
          </a:xfrm>
          <a:prstGeom prst="rect">
            <a:avLst/>
          </a:prstGeom>
          <a:noFill/>
        </p:spPr>
        <p:txBody>
          <a:bodyPr wrap="square">
            <a:spAutoFit/>
          </a:bodyPr>
          <a:lstStyle/>
          <a:p>
            <a:pPr algn="ctr">
              <a:defRPr sz="1700" b="1">
                <a:solidFill>
                  <a:srgbClr val="1E40AF"/>
                </a:solidFill>
                <a:latin typeface="Calibri"/>
              </a:defRPr>
            </a:pPr>
            <a:r>
              <a:t>1,276</a:t>
            </a:r>
          </a:p>
          <a:p>
            <a:pPr algn="ctr">
              <a:defRPr sz="850">
                <a:solidFill>
                  <a:srgbClr val="64748B"/>
                </a:solidFill>
                <a:latin typeface="Calibri"/>
              </a:defRPr>
            </a:pPr>
            <a:r>
              <a:t>Virtuoso MIDI Performances</a:t>
            </a:r>
          </a:p>
        </p:txBody>
      </p:sp>
      <p:sp>
        <p:nvSpPr>
          <p:cNvPr id="7" name="Rounded Rectangle 6"/>
          <p:cNvSpPr/>
          <p:nvPr/>
        </p:nvSpPr>
        <p:spPr>
          <a:xfrm>
            <a:off x="3429000" y="1371600"/>
            <a:ext cx="25603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463040"/>
            <a:ext cx="2560320" cy="731520"/>
          </a:xfrm>
          <a:prstGeom prst="rect">
            <a:avLst/>
          </a:prstGeom>
          <a:noFill/>
        </p:spPr>
        <p:txBody>
          <a:bodyPr wrap="square">
            <a:spAutoFit/>
          </a:bodyPr>
          <a:lstStyle/>
          <a:p>
            <a:pPr algn="ctr">
              <a:defRPr sz="1700" b="1">
                <a:solidFill>
                  <a:srgbClr val="0F172A"/>
                </a:solidFill>
                <a:latin typeface="Calibri"/>
              </a:defRPr>
            </a:pPr>
            <a:r>
              <a:t>~200 Hours</a:t>
            </a:r>
          </a:p>
          <a:p>
            <a:pPr algn="ctr">
              <a:defRPr sz="850">
                <a:solidFill>
                  <a:srgbClr val="64748B"/>
                </a:solidFill>
                <a:latin typeface="Calibri"/>
              </a:defRPr>
            </a:pPr>
            <a:r>
              <a:t>Classical Repertoire</a:t>
            </a:r>
          </a:p>
        </p:txBody>
      </p:sp>
      <p:sp>
        <p:nvSpPr>
          <p:cNvPr id="9" name="Rounded Rectangle 8"/>
          <p:cNvSpPr/>
          <p:nvPr/>
        </p:nvSpPr>
        <p:spPr>
          <a:xfrm>
            <a:off x="6126480" y="1371600"/>
            <a:ext cx="25603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463040"/>
            <a:ext cx="2560320" cy="731520"/>
          </a:xfrm>
          <a:prstGeom prst="rect">
            <a:avLst/>
          </a:prstGeom>
          <a:noFill/>
        </p:spPr>
        <p:txBody>
          <a:bodyPr wrap="square">
            <a:spAutoFit/>
          </a:bodyPr>
          <a:lstStyle/>
          <a:p>
            <a:pPr algn="ctr">
              <a:defRPr sz="1700" b="1">
                <a:solidFill>
                  <a:srgbClr val="D97706"/>
                </a:solidFill>
                <a:latin typeface="Calibri"/>
              </a:defRPr>
            </a:pPr>
            <a:r>
              <a:t>Yamaha Disklavier</a:t>
            </a:r>
          </a:p>
          <a:p>
            <a:pPr algn="ctr">
              <a:defRPr sz="850">
                <a:solidFill>
                  <a:srgbClr val="64748B"/>
                </a:solidFill>
                <a:latin typeface="Calibri"/>
              </a:defRPr>
            </a:pPr>
            <a:r>
              <a:t>High-Precision Sensor Capture</a:t>
            </a:r>
          </a:p>
        </p:txBody>
      </p:sp>
      <p:sp>
        <p:nvSpPr>
          <p:cNvPr id="11" name="Rounded Rectangle 10"/>
          <p:cNvSpPr/>
          <p:nvPr/>
        </p:nvSpPr>
        <p:spPr>
          <a:xfrm>
            <a:off x="8823960" y="1371600"/>
            <a:ext cx="25603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23960" y="1463040"/>
            <a:ext cx="2560320" cy="731520"/>
          </a:xfrm>
          <a:prstGeom prst="rect">
            <a:avLst/>
          </a:prstGeom>
          <a:noFill/>
        </p:spPr>
        <p:txBody>
          <a:bodyPr wrap="square">
            <a:spAutoFit/>
          </a:bodyPr>
          <a:lstStyle/>
          <a:p>
            <a:pPr algn="ctr">
              <a:defRPr sz="1700" b="1">
                <a:solidFill>
                  <a:srgbClr val="047857"/>
                </a:solidFill>
                <a:latin typeface="Calibri"/>
              </a:defRPr>
            </a:pPr>
            <a:r>
              <a:t>3 Splits</a:t>
            </a:r>
          </a:p>
          <a:p>
            <a:pPr algn="ctr">
              <a:defRPr sz="850">
                <a:solidFill>
                  <a:srgbClr val="64748B"/>
                </a:solidFill>
                <a:latin typeface="Calibri"/>
              </a:defRPr>
            </a:pPr>
            <a:r>
              <a:t>Train (962), Val (137), Test (177)</a:t>
            </a:r>
          </a:p>
        </p:txBody>
      </p:sp>
      <p:sp>
        <p:nvSpPr>
          <p:cNvPr id="13" name="Rounded Rectangle 12"/>
          <p:cNvSpPr/>
          <p:nvPr/>
        </p:nvSpPr>
        <p:spPr>
          <a:xfrm>
            <a:off x="731520" y="2514600"/>
            <a:ext cx="5120640" cy="3703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651760"/>
            <a:ext cx="4754880" cy="3383280"/>
          </a:xfrm>
          <a:prstGeom prst="rect">
            <a:avLst/>
          </a:prstGeom>
          <a:noFill/>
        </p:spPr>
        <p:txBody>
          <a:bodyPr wrap="square">
            <a:spAutoFit/>
          </a:bodyPr>
          <a:lstStyle/>
          <a:p>
            <a:pPr>
              <a:spcAft>
                <a:spcPts val="600"/>
              </a:spcAft>
              <a:defRPr sz="1300" b="1">
                <a:solidFill>
                  <a:srgbClr val="1E40AF"/>
                </a:solidFill>
                <a:latin typeface="Calibri"/>
              </a:defRPr>
            </a:pPr>
            <a:r>
              <a:t>Dataset Characteristics &amp; Curation</a:t>
            </a:r>
          </a:p>
          <a:p>
            <a:pPr>
              <a:spcAft>
                <a:spcPts val="400"/>
              </a:spcAft>
              <a:defRPr sz="1000">
                <a:latin typeface="Calibri"/>
              </a:defRPr>
            </a:pPr>
            <a:r>
              <a:rPr b="1">
                <a:solidFill>
                  <a:srgbClr val="0F172A"/>
                </a:solidFill>
              </a:rPr>
              <a:t>Human Virtuosity: </a:t>
            </a:r>
            <a:r>
              <a:rPr b="0">
                <a:solidFill>
                  <a:srgbClr val="334155"/>
                </a:solidFill>
              </a:rPr>
              <a:t>Captured live during the Piano-e-Competition; natural rubato, subtle dynamic variation, and micro-timing intervals.</a:t>
            </a:r>
          </a:p>
          <a:p>
            <a:pPr>
              <a:spcAft>
                <a:spcPts val="400"/>
              </a:spcAft>
              <a:defRPr sz="1000">
                <a:latin typeface="Calibri"/>
              </a:defRPr>
            </a:pPr>
            <a:r>
              <a:rPr b="1">
                <a:solidFill>
                  <a:srgbClr val="0F172A"/>
                </a:solidFill>
              </a:rPr>
              <a:t>Repertoire Diversity: </a:t>
            </a:r>
            <a:r>
              <a:rPr b="0">
                <a:solidFill>
                  <a:srgbClr val="334155"/>
                </a:solidFill>
              </a:rPr>
              <a:t>Contains masterworks across Baroque, Classical, Romantic, and Modern eras (Bach, Mozart, Beethoven, Chopin, Liszt, Schubert).</a:t>
            </a:r>
          </a:p>
          <a:p>
            <a:pPr>
              <a:spcAft>
                <a:spcPts val="400"/>
              </a:spcAft>
              <a:defRPr sz="1000">
                <a:latin typeface="Calibri"/>
              </a:defRPr>
            </a:pPr>
            <a:r>
              <a:rPr b="1">
                <a:solidFill>
                  <a:srgbClr val="0F172A"/>
                </a:solidFill>
              </a:rPr>
              <a:t>Official Stratified Splits: </a:t>
            </a:r>
            <a:r>
              <a:rPr b="0">
                <a:solidFill>
                  <a:srgbClr val="334155"/>
                </a:solidFill>
              </a:rPr>
              <a:t>Strict train/validation/test partitions ensured no musical piece or performer overlap leaks between evaluation and training.</a:t>
            </a:r>
          </a:p>
        </p:txBody>
      </p:sp>
      <p:sp>
        <p:nvSpPr>
          <p:cNvPr id="15" name="Rounded Rectangle 14"/>
          <p:cNvSpPr/>
          <p:nvPr/>
        </p:nvSpPr>
        <p:spPr>
          <a:xfrm>
            <a:off x="6217920" y="2514600"/>
            <a:ext cx="5212080" cy="3703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651760"/>
            <a:ext cx="4846320" cy="3383280"/>
          </a:xfrm>
          <a:prstGeom prst="rect">
            <a:avLst/>
          </a:prstGeom>
          <a:noFill/>
        </p:spPr>
        <p:txBody>
          <a:bodyPr wrap="square">
            <a:spAutoFit/>
          </a:bodyPr>
          <a:lstStyle/>
          <a:p>
            <a:pPr>
              <a:spcAft>
                <a:spcPts val="600"/>
              </a:spcAft>
              <a:defRPr sz="1300" b="1">
                <a:solidFill>
                  <a:srgbClr val="0F172A"/>
                </a:solidFill>
                <a:latin typeface="Calibri"/>
              </a:defRPr>
            </a:pPr>
            <a:r>
              <a:t>Multi-File Sequence Stratification</a:t>
            </a:r>
          </a:p>
          <a:p>
            <a:pPr>
              <a:spcAft>
                <a:spcPts val="400"/>
              </a:spcAft>
              <a:defRPr sz="1000">
                <a:latin typeface="Calibri"/>
              </a:defRPr>
            </a:pPr>
            <a:r>
              <a:rPr b="1">
                <a:solidFill>
                  <a:srgbClr val="0F172A"/>
                </a:solidFill>
              </a:rPr>
              <a:t>Previous Deficiency: </a:t>
            </a:r>
            <a:r>
              <a:rPr b="0">
                <a:solidFill>
                  <a:srgbClr val="334155"/>
                </a:solidFill>
              </a:rPr>
              <a:t>Earlier versions extracted 10,000 sequences from only the first ~13 MIDI files, creating severe stylistic overfitting.</a:t>
            </a:r>
          </a:p>
          <a:p>
            <a:pPr>
              <a:spcAft>
                <a:spcPts val="400"/>
              </a:spcAft>
              <a:defRPr sz="1000">
                <a:latin typeface="Calibri"/>
              </a:defRPr>
            </a:pPr>
            <a:r>
              <a:rPr b="1">
                <a:solidFill>
                  <a:srgbClr val="0F172A"/>
                </a:solidFill>
              </a:rPr>
              <a:t>Stratified Sampling Engine: </a:t>
            </a:r>
            <a:r>
              <a:rPr b="0">
                <a:solidFill>
                  <a:srgbClr val="334155"/>
                </a:solidFill>
              </a:rPr>
              <a:t>Updated data loader proportionally samples across up to 40 distinct MAESTRO files, harvesting 16,000 diverse sequences from 34 compositions.</a:t>
            </a:r>
          </a:p>
          <a:p>
            <a:pPr>
              <a:spcAft>
                <a:spcPts val="400"/>
              </a:spcAft>
              <a:defRPr sz="1000">
                <a:latin typeface="Calibri"/>
              </a:defRPr>
            </a:pPr>
            <a:r>
              <a:rPr b="1">
                <a:solidFill>
                  <a:srgbClr val="0F172A"/>
                </a:solidFill>
              </a:rPr>
              <a:t>Generalization Gain: </a:t>
            </a:r>
            <a:r>
              <a:rPr b="0">
                <a:solidFill>
                  <a:srgbClr val="334155"/>
                </a:solidFill>
              </a:rPr>
              <a:t>Model exposure to varied key signatures, tempos, and meters dropped pitch validation cross-entropy from 3.910 to 3.756.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FEATURE ENGINEERING</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3. Data Preprocessing &amp; Multi-Task Quantization</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108960" cy="1737360"/>
          </a:xfrm>
          <a:prstGeom prst="rect">
            <a:avLst/>
          </a:prstGeom>
          <a:noFill/>
        </p:spPr>
        <p:txBody>
          <a:bodyPr wrap="square">
            <a:spAutoFit/>
          </a:bodyPr>
          <a:lstStyle/>
          <a:p>
            <a:pPr>
              <a:defRPr sz="1300" b="1">
                <a:solidFill>
                  <a:srgbClr val="1E40AF"/>
                </a:solidFill>
                <a:latin typeface="Calibri"/>
              </a:defRPr>
            </a:pPr>
            <a:r>
              <a:t>Pitch Token (0–127)</a:t>
            </a:r>
          </a:p>
          <a:p>
            <a:pPr>
              <a:spcAft>
                <a:spcPts val="400"/>
              </a:spcAft>
              <a:defRPr sz="950">
                <a:solidFill>
                  <a:srgbClr val="64748B"/>
                </a:solidFill>
                <a:latin typeface="Calibri"/>
              </a:defRPr>
            </a:pPr>
            <a:r>
              <a:t>Discrete Classification</a:t>
            </a:r>
          </a:p>
          <a:p>
            <a:pPr>
              <a:defRPr sz="950">
                <a:solidFill>
                  <a:srgbClr val="334155"/>
                </a:solidFill>
                <a:latin typeface="Calibri"/>
              </a:defRPr>
            </a:pPr>
            <a:r>
              <a:t>Standard MIDI pitch space. Middle C = 60 (261.6 Hz). Vocab size: 128 discrete classes covering all piano keys.</a:t>
            </a:r>
          </a:p>
        </p:txBody>
      </p:sp>
      <p:sp>
        <p:nvSpPr>
          <p:cNvPr id="7" name="Rounded Rectangle 6"/>
          <p:cNvSpPr/>
          <p:nvPr/>
        </p:nvSpPr>
        <p:spPr>
          <a:xfrm>
            <a:off x="4343400" y="13716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08760"/>
            <a:ext cx="3108960" cy="1737360"/>
          </a:xfrm>
          <a:prstGeom prst="rect">
            <a:avLst/>
          </a:prstGeom>
          <a:noFill/>
        </p:spPr>
        <p:txBody>
          <a:bodyPr wrap="square">
            <a:spAutoFit/>
          </a:bodyPr>
          <a:lstStyle/>
          <a:p>
            <a:pPr>
              <a:defRPr sz="1300" b="1">
                <a:solidFill>
                  <a:srgbClr val="D97706"/>
                </a:solidFill>
                <a:latin typeface="Calibri"/>
              </a:defRPr>
            </a:pPr>
            <a:r>
              <a:t>Duration Token (0–31)</a:t>
            </a:r>
          </a:p>
          <a:p>
            <a:pPr>
              <a:spcAft>
                <a:spcPts val="400"/>
              </a:spcAft>
              <a:defRPr sz="950">
                <a:solidFill>
                  <a:srgbClr val="64748B"/>
                </a:solidFill>
                <a:latin typeface="Calibri"/>
              </a:defRPr>
            </a:pPr>
            <a:r>
              <a:t>32 Log-Spaced Bins</a:t>
            </a:r>
          </a:p>
          <a:p>
            <a:pPr>
              <a:defRPr sz="950">
                <a:solidFill>
                  <a:srgbClr val="334155"/>
                </a:solidFill>
                <a:latin typeface="Calibri"/>
              </a:defRPr>
            </a:pPr>
            <a:r>
              <a:t>Quantized from 0.05s to 4.0s using logarithmic binning to reflect human musical perception (finer bins for fast notes).</a:t>
            </a:r>
          </a:p>
        </p:txBody>
      </p:sp>
      <p:sp>
        <p:nvSpPr>
          <p:cNvPr id="9" name="Rounded Rectangle 8"/>
          <p:cNvSpPr/>
          <p:nvPr/>
        </p:nvSpPr>
        <p:spPr>
          <a:xfrm>
            <a:off x="7955280" y="137160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3108960" cy="1737360"/>
          </a:xfrm>
          <a:prstGeom prst="rect">
            <a:avLst/>
          </a:prstGeom>
          <a:noFill/>
        </p:spPr>
        <p:txBody>
          <a:bodyPr wrap="square">
            <a:spAutoFit/>
          </a:bodyPr>
          <a:lstStyle/>
          <a:p>
            <a:pPr>
              <a:defRPr sz="1300" b="1">
                <a:solidFill>
                  <a:srgbClr val="047857"/>
                </a:solidFill>
                <a:latin typeface="Calibri"/>
              </a:defRPr>
            </a:pPr>
            <a:r>
              <a:t>Time Step Token (0–31)</a:t>
            </a:r>
          </a:p>
          <a:p>
            <a:pPr>
              <a:spcAft>
                <a:spcPts val="400"/>
              </a:spcAft>
              <a:defRPr sz="950">
                <a:solidFill>
                  <a:srgbClr val="64748B"/>
                </a:solidFill>
                <a:latin typeface="Calibri"/>
              </a:defRPr>
            </a:pPr>
            <a:r>
              <a:t>32 Log-Spaced Bins</a:t>
            </a:r>
          </a:p>
          <a:p>
            <a:pPr>
              <a:defRPr sz="950">
                <a:solidFill>
                  <a:srgbClr val="334155"/>
                </a:solidFill>
                <a:latin typeface="Calibri"/>
              </a:defRPr>
            </a:pPr>
            <a:r>
              <a:t>Inter-onset interval (delta time between consecutive note starts) quantized from 0.0s to 2.0s to capture phrasing.</a:t>
            </a:r>
          </a:p>
        </p:txBody>
      </p:sp>
      <p:sp>
        <p:nvSpPr>
          <p:cNvPr id="11" name="Rounded Rectangle 10"/>
          <p:cNvSpPr/>
          <p:nvPr/>
        </p:nvSpPr>
        <p:spPr>
          <a:xfrm>
            <a:off x="731520" y="3566160"/>
            <a:ext cx="10698480" cy="2651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03320"/>
            <a:ext cx="10332720" cy="2377440"/>
          </a:xfrm>
          <a:prstGeom prst="rect">
            <a:avLst/>
          </a:prstGeom>
          <a:noFill/>
        </p:spPr>
        <p:txBody>
          <a:bodyPr wrap="square">
            <a:spAutoFit/>
          </a:bodyPr>
          <a:lstStyle/>
          <a:p>
            <a:pPr>
              <a:spcAft>
                <a:spcPts val="600"/>
              </a:spcAft>
              <a:defRPr sz="1300" b="1">
                <a:solidFill>
                  <a:srgbClr val="0F172A"/>
                </a:solidFill>
                <a:latin typeface="Calibri"/>
              </a:defRPr>
            </a:pPr>
            <a:r>
              <a:t>Sliding Window Sequence Slicing &amp; Next-Event Target Alignment</a:t>
            </a:r>
          </a:p>
          <a:p>
            <a:pPr>
              <a:spcAft>
                <a:spcPts val="400"/>
              </a:spcAft>
              <a:defRPr sz="1000">
                <a:latin typeface="Calibri"/>
              </a:defRPr>
            </a:pPr>
            <a:r>
              <a:rPr b="1">
                <a:solidFill>
                  <a:srgbClr val="0F172A"/>
                </a:solidFill>
              </a:rPr>
              <a:t>Context Length: </a:t>
            </a:r>
            <a:r>
              <a:rPr b="0">
                <a:solidFill>
                  <a:srgbClr val="334155"/>
                </a:solidFill>
              </a:rPr>
              <a:t>Fixed context window of L = 64 consecutive musical events: X = [(p_1, d_1, s_1), ..., (p_64, d_64, s_64)].</a:t>
            </a:r>
          </a:p>
          <a:p>
            <a:pPr>
              <a:spcAft>
                <a:spcPts val="400"/>
              </a:spcAft>
              <a:defRPr sz="1000">
                <a:latin typeface="Calibri"/>
              </a:defRPr>
            </a:pPr>
            <a:r>
              <a:rPr b="1">
                <a:solidFill>
                  <a:srgbClr val="0F172A"/>
                </a:solidFill>
              </a:rPr>
              <a:t>Supervised Target: </a:t>
            </a:r>
            <a:r>
              <a:rPr b="0">
                <a:solidFill>
                  <a:srgbClr val="334155"/>
                </a:solidFill>
              </a:rPr>
              <a:t>Chronological next-event token y = (p_65, d_65, s_65). Strict causality ensures no future context leakage.</a:t>
            </a:r>
          </a:p>
          <a:p>
            <a:pPr>
              <a:spcAft>
                <a:spcPts val="400"/>
              </a:spcAft>
              <a:defRPr sz="1000">
                <a:latin typeface="Calibri"/>
              </a:defRPr>
            </a:pPr>
            <a:r>
              <a:rPr b="1">
                <a:solidFill>
                  <a:srgbClr val="0F172A"/>
                </a:solidFill>
              </a:rPr>
              <a:t>Quantization Inversion: </a:t>
            </a:r>
            <a:r>
              <a:rPr b="0">
                <a:solidFill>
                  <a:srgbClr val="334155"/>
                </a:solidFill>
              </a:rPr>
              <a:t>dequantize_duration() and dequantize_step() map discrete class indices back into exact floating-point seconds for MIDI synthesis.</a:t>
            </a:r>
          </a:p>
          <a:p>
            <a:pPr>
              <a:spcAft>
                <a:spcPts val="400"/>
              </a:spcAft>
              <a:defRPr sz="1000">
                <a:latin typeface="Calibri"/>
              </a:defRPr>
            </a:pPr>
            <a:r>
              <a:rPr b="1">
                <a:solidFill>
                  <a:srgbClr val="0F172A"/>
                </a:solidFill>
              </a:rPr>
              <a:t>Corrupt File Safeguards: </a:t>
            </a:r>
            <a:r>
              <a:rPr b="0">
                <a:solidFill>
                  <a:srgbClr val="334155"/>
                </a:solidFill>
              </a:rPr>
              <a:t>Built-in error handling skips malformed tracks or zero-event files, validated by rigorous unit tests in test_data.py.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MODEL DESIGN</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4. Deep Learning Model Architecture: MelodyLSTM</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4864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5120640" cy="4480560"/>
          </a:xfrm>
          <a:prstGeom prst="rect">
            <a:avLst/>
          </a:prstGeom>
          <a:noFill/>
        </p:spPr>
        <p:txBody>
          <a:bodyPr wrap="square">
            <a:spAutoFit/>
          </a:bodyPr>
          <a:lstStyle/>
          <a:p>
            <a:pPr>
              <a:spcAft>
                <a:spcPts val="600"/>
              </a:spcAft>
              <a:defRPr sz="1350" b="1">
                <a:solidFill>
                  <a:srgbClr val="1E40AF"/>
                </a:solidFill>
                <a:latin typeface="Calibri"/>
              </a:defRPr>
            </a:pPr>
            <a:r>
              <a:t>PyTorch Multi-Head MelodyLSTM Design</a:t>
            </a:r>
          </a:p>
          <a:p>
            <a:pPr>
              <a:spcAft>
                <a:spcPts val="400"/>
              </a:spcAft>
              <a:defRPr sz="1000">
                <a:latin typeface="Calibri"/>
              </a:defRPr>
            </a:pPr>
            <a:r>
              <a:rPr b="1">
                <a:solidFill>
                  <a:srgbClr val="0F172A"/>
                </a:solidFill>
              </a:rPr>
              <a:t>Input Embeddings: </a:t>
            </a:r>
            <a:r>
              <a:rPr b="0">
                <a:solidFill>
                  <a:srgbClr val="334155"/>
                </a:solidFill>
              </a:rPr>
              <a:t>Three distinct embedding lookups: Pitch (128 → 64-d), Duration (32 → 32-d), Time Step (32 → 32-d). Concatenated input dimension: 128-d.</a:t>
            </a:r>
          </a:p>
          <a:p>
            <a:pPr>
              <a:spcAft>
                <a:spcPts val="400"/>
              </a:spcAft>
              <a:defRPr sz="1000">
                <a:latin typeface="Calibri"/>
              </a:defRPr>
            </a:pPr>
            <a:r>
              <a:rPr b="1">
                <a:solidFill>
                  <a:srgbClr val="0F172A"/>
                </a:solidFill>
              </a:rPr>
              <a:t>LSTM Backbone: </a:t>
            </a:r>
            <a:r>
              <a:rPr b="0">
                <a:solidFill>
                  <a:srgbClr val="334155"/>
                </a:solidFill>
              </a:rPr>
              <a:t>Single-layer recurrent network with hidden_dim = 128. Updates internal hidden state h_t and memory cell state c_t at each timestep.</a:t>
            </a:r>
          </a:p>
          <a:p>
            <a:pPr>
              <a:spcAft>
                <a:spcPts val="400"/>
              </a:spcAft>
              <a:defRPr sz="1000">
                <a:latin typeface="Calibri"/>
              </a:defRPr>
            </a:pPr>
            <a:r>
              <a:rPr b="1">
                <a:solidFill>
                  <a:srgbClr val="0F172A"/>
                </a:solidFill>
              </a:rPr>
              <a:t>Three Output Heads: </a:t>
            </a:r>
            <a:r>
              <a:rPr b="0">
                <a:solidFill>
                  <a:srgbClr val="334155"/>
                </a:solidFill>
              </a:rPr>
              <a:t>Linear projections map final hidden state to raw logits: Pitch Head (128 → 128), Duration Head (128 → 32), Step Head (128 → 32).</a:t>
            </a:r>
          </a:p>
          <a:p>
            <a:pPr>
              <a:spcAft>
                <a:spcPts val="400"/>
              </a:spcAft>
              <a:defRPr sz="1000">
                <a:latin typeface="Calibri"/>
              </a:defRPr>
            </a:pPr>
            <a:r>
              <a:rPr b="1">
                <a:solidFill>
                  <a:srgbClr val="0F172A"/>
                </a:solidFill>
              </a:rPr>
              <a:t>Total Parameters: </a:t>
            </a:r>
            <a:r>
              <a:rPr b="0">
                <a:solidFill>
                  <a:srgbClr val="334155"/>
                </a:solidFill>
              </a:rPr>
              <a:t>167,104 trainable parameters — compact, transparent, and completely trainable from scratch without cloud infrastructure.</a:t>
            </a:r>
          </a:p>
        </p:txBody>
      </p:sp>
      <p:sp>
        <p:nvSpPr>
          <p:cNvPr id="7" name="Rounded Rectangle 6"/>
          <p:cNvSpPr/>
          <p:nvPr/>
        </p:nvSpPr>
        <p:spPr>
          <a:xfrm>
            <a:off x="6492240" y="1371600"/>
            <a:ext cx="4937760" cy="48463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480560"/>
          </a:xfrm>
          <a:prstGeom prst="rect">
            <a:avLst/>
          </a:prstGeom>
          <a:noFill/>
        </p:spPr>
        <p:txBody>
          <a:bodyPr wrap="square">
            <a:spAutoFit/>
          </a:bodyPr>
          <a:lstStyle/>
          <a:p>
            <a:pPr>
              <a:spcAft>
                <a:spcPts val="600"/>
              </a:spcAft>
              <a:defRPr sz="1350" b="1">
                <a:solidFill>
                  <a:srgbClr val="0F172A"/>
                </a:solidFill>
                <a:latin typeface="Calibri"/>
              </a:defRPr>
            </a:pPr>
            <a:r>
              <a:t>Multi-Task Cross-Entropy Objective</a:t>
            </a:r>
          </a:p>
          <a:p>
            <a:pPr>
              <a:spcAft>
                <a:spcPts val="400"/>
              </a:spcAft>
              <a:defRPr sz="1100">
                <a:latin typeface="Calibri"/>
              </a:defRPr>
            </a:pPr>
            <a:r>
              <a:rPr b="1">
                <a:solidFill>
                  <a:srgbClr val="1E40AF"/>
                </a:solidFill>
              </a:rPr>
              <a:t>Total Loss Formulation: </a:t>
            </a:r>
            <a:r>
              <a:rPr b="0">
                <a:solidFill>
                  <a:srgbClr val="334155"/>
                </a:solidFill>
              </a:rPr>
              <a:t>L_total = L_pitch + L_duration + L_step</a:t>
            </a:r>
          </a:p>
          <a:p>
            <a:pPr>
              <a:spcAft>
                <a:spcPts val="400"/>
              </a:spcAft>
              <a:defRPr sz="1000">
                <a:latin typeface="Calibri"/>
              </a:defRPr>
            </a:pPr>
            <a:r>
              <a:rPr b="1">
                <a:solidFill>
                  <a:srgbClr val="0F172A"/>
                </a:solidFill>
              </a:rPr>
              <a:t>Independent Supervision: </a:t>
            </a:r>
            <a:r>
              <a:rPr b="0">
                <a:solidFill>
                  <a:srgbClr val="334155"/>
                </a:solidFill>
              </a:rPr>
              <a:t>Each head optimizes its discrete cross-entropy loss against the ground truth next token, allowing balanced multi-attribute learning.</a:t>
            </a:r>
          </a:p>
          <a:p>
            <a:pPr>
              <a:spcAft>
                <a:spcPts val="400"/>
              </a:spcAft>
              <a:defRPr sz="1000">
                <a:latin typeface="Calibri"/>
              </a:defRPr>
            </a:pPr>
            <a:r>
              <a:rPr b="1">
                <a:solidFill>
                  <a:srgbClr val="0F172A"/>
                </a:solidFill>
              </a:rPr>
              <a:t>Hardware Acceleration: </a:t>
            </a:r>
            <a:r>
              <a:rPr b="0">
                <a:solidFill>
                  <a:srgbClr val="334155"/>
                </a:solidFill>
              </a:rPr>
              <a:t>NVIDIA RTX 3050 Laptop GPU (4 GB VRAM) using CUDA acceleration. Automatic hardware detection checks VRAM and CPU threads prior to batching.</a:t>
            </a:r>
          </a:p>
          <a:p>
            <a:pPr>
              <a:spcAft>
                <a:spcPts val="400"/>
              </a:spcAft>
              <a:defRPr sz="1000">
                <a:latin typeface="Calibri"/>
              </a:defRPr>
            </a:pPr>
            <a:r>
              <a:rPr b="1">
                <a:solidFill>
                  <a:srgbClr val="0F172A"/>
                </a:solidFill>
              </a:rPr>
              <a:t>Checkpoint Integrity: </a:t>
            </a:r>
            <a:r>
              <a:rPr b="0">
                <a:solidFill>
                  <a:srgbClr val="334155"/>
                </a:solidFill>
              </a:rPr>
              <a:t>Checkpoints bundle model weights, optimizer state, scheduler state, current epoch, and best validation metric for seamless resumption.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ERROR AUDIT</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5. Diagnosis: Why the Initial Melodies Sounded Random</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3200400" cy="1920240"/>
          </a:xfrm>
          <a:prstGeom prst="rect">
            <a:avLst/>
          </a:prstGeom>
          <a:noFill/>
        </p:spPr>
        <p:txBody>
          <a:bodyPr wrap="square">
            <a:spAutoFit/>
          </a:bodyPr>
          <a:lstStyle/>
          <a:p>
            <a:pPr>
              <a:spcAft>
                <a:spcPts val="400"/>
              </a:spcAft>
              <a:defRPr sz="1200" b="1">
                <a:solidFill>
                  <a:srgbClr val="E11D48"/>
                </a:solidFill>
                <a:latin typeface="Calibri"/>
              </a:defRPr>
            </a:pPr>
            <a:r>
              <a:t>Flaw #1: Unrestricted Tail Sampling</a:t>
            </a:r>
          </a:p>
          <a:p>
            <a:pPr>
              <a:defRPr sz="950">
                <a:solidFill>
                  <a:srgbClr val="334155"/>
                </a:solidFill>
                <a:latin typeface="Calibri"/>
              </a:defRPr>
            </a:pPr>
            <a:r>
              <a:t>Pitch logits were sampled over all 128 classes with temperature 0.85–0.90. Even with low individual probabilities, the sum of 124 improbable pitches caused frequent chaotic leaps of 35–45 semitones into extreme registers.</a:t>
            </a:r>
          </a:p>
        </p:txBody>
      </p:sp>
      <p:sp>
        <p:nvSpPr>
          <p:cNvPr id="7" name="Rounded Rectangle 6"/>
          <p:cNvSpPr/>
          <p:nvPr/>
        </p:nvSpPr>
        <p:spPr>
          <a:xfrm>
            <a:off x="4343400" y="13716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508760"/>
            <a:ext cx="3200400" cy="1920240"/>
          </a:xfrm>
          <a:prstGeom prst="rect">
            <a:avLst/>
          </a:prstGeom>
          <a:noFill/>
        </p:spPr>
        <p:txBody>
          <a:bodyPr wrap="square">
            <a:spAutoFit/>
          </a:bodyPr>
          <a:lstStyle/>
          <a:p>
            <a:pPr>
              <a:spcAft>
                <a:spcPts val="400"/>
              </a:spcAft>
              <a:defRPr sz="1200" b="1">
                <a:solidFill>
                  <a:srgbClr val="D97706"/>
                </a:solidFill>
                <a:latin typeface="Calibri"/>
              </a:defRPr>
            </a:pPr>
            <a:r>
              <a:t>Flaw #2: Autoregressive Compounding</a:t>
            </a:r>
          </a:p>
          <a:p>
            <a:pPr>
              <a:defRPr sz="950">
                <a:solidFill>
                  <a:srgbClr val="334155"/>
                </a:solidFill>
                <a:latin typeface="Calibri"/>
              </a:defRPr>
            </a:pPr>
            <a:r>
              <a:t>Because generated notes are fed back into the next input step (y_t → x_{t+1}), an erratic outlier note instantly corrupts the LSTM's hidden state, throwing it permanently off the musical manifold.</a:t>
            </a:r>
          </a:p>
        </p:txBody>
      </p:sp>
      <p:sp>
        <p:nvSpPr>
          <p:cNvPr id="9" name="Rounded Rectangle 8"/>
          <p:cNvSpPr/>
          <p:nvPr/>
        </p:nvSpPr>
        <p:spPr>
          <a:xfrm>
            <a:off x="7955280" y="1371600"/>
            <a:ext cx="347472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508760"/>
            <a:ext cx="3200400" cy="1920240"/>
          </a:xfrm>
          <a:prstGeom prst="rect">
            <a:avLst/>
          </a:prstGeom>
          <a:noFill/>
        </p:spPr>
        <p:txBody>
          <a:bodyPr wrap="square">
            <a:spAutoFit/>
          </a:bodyPr>
          <a:lstStyle/>
          <a:p>
            <a:pPr>
              <a:spcAft>
                <a:spcPts val="400"/>
              </a:spcAft>
              <a:defRPr sz="1200" b="1">
                <a:solidFill>
                  <a:srgbClr val="0F172A"/>
                </a:solidFill>
                <a:latin typeface="Calibri"/>
              </a:defRPr>
            </a:pPr>
            <a:r>
              <a:t>Flaw #3: Static Artificial Seed</a:t>
            </a:r>
          </a:p>
          <a:p>
            <a:pPr>
              <a:defRPr sz="950">
                <a:solidFill>
                  <a:srgbClr val="334155"/>
                </a:solidFill>
                <a:latin typeface="Calibri"/>
              </a:defRPr>
            </a:pPr>
            <a:r>
              <a:t>Free generation was previously primed with a rigid artificial arpeggio rather than authentic harmonic progressions, giving the LSTM an unnatural initial context.</a:t>
            </a:r>
          </a:p>
        </p:txBody>
      </p:sp>
      <p:pic>
        <p:nvPicPr>
          <p:cNvPr id="11" name="Picture 10" descr="topk_comparison.png"/>
          <p:cNvPicPr>
            <a:picLocks noChangeAspect="1"/>
          </p:cNvPicPr>
          <p:nvPr/>
        </p:nvPicPr>
        <p:blipFill>
          <a:blip r:embed="rId2"/>
          <a:stretch>
            <a:fillRect/>
          </a:stretch>
        </p:blipFill>
        <p:spPr>
          <a:xfrm>
            <a:off x="731520" y="3749039"/>
            <a:ext cx="10698480" cy="2468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ALGORITHMIC IMPROVEMENTS</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6. The Musical Coherence Engine</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92040" cy="1920240"/>
          </a:xfrm>
          <a:prstGeom prst="rect">
            <a:avLst/>
          </a:prstGeom>
          <a:noFill/>
        </p:spPr>
        <p:txBody>
          <a:bodyPr wrap="square">
            <a:spAutoFit/>
          </a:bodyPr>
          <a:lstStyle/>
          <a:p>
            <a:pPr>
              <a:spcAft>
                <a:spcPts val="400"/>
              </a:spcAft>
              <a:defRPr sz="1300" b="1">
                <a:solidFill>
                  <a:srgbClr val="1E40AF"/>
                </a:solidFill>
                <a:latin typeface="Calibri"/>
              </a:defRPr>
            </a:pPr>
            <a:r>
              <a:t>Top-K Candidate Filtering (k = 5)</a:t>
            </a:r>
          </a:p>
          <a:p>
            <a:pPr>
              <a:defRPr sz="1000">
                <a:solidFill>
                  <a:srgbClr val="334155"/>
                </a:solidFill>
                <a:latin typeface="Calibri"/>
              </a:defRPr>
            </a:pPr>
            <a:r>
              <a:t>Cuts off the long tail by setting all logits outside the top 5 to -∞ prior to softmax. Completely eliminates wild out-of-register pitch leaps while preserving expressive candidate choice.</a:t>
            </a:r>
          </a:p>
        </p:txBody>
      </p:sp>
      <p:sp>
        <p:nvSpPr>
          <p:cNvPr id="7" name="Rounded Rectangle 6"/>
          <p:cNvSpPr/>
          <p:nvPr/>
        </p:nvSpPr>
        <p:spPr>
          <a:xfrm>
            <a:off x="6172200" y="137160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54480"/>
            <a:ext cx="4892040" cy="1920240"/>
          </a:xfrm>
          <a:prstGeom prst="rect">
            <a:avLst/>
          </a:prstGeom>
          <a:noFill/>
        </p:spPr>
        <p:txBody>
          <a:bodyPr wrap="square">
            <a:spAutoFit/>
          </a:bodyPr>
          <a:lstStyle/>
          <a:p>
            <a:pPr>
              <a:spcAft>
                <a:spcPts val="400"/>
              </a:spcAft>
              <a:defRPr sz="1300" b="1">
                <a:solidFill>
                  <a:srgbClr val="047857"/>
                </a:solidFill>
                <a:latin typeface="Calibri"/>
              </a:defRPr>
            </a:pPr>
            <a:r>
              <a:t>Tuned Sampling Temperature (T = 0.60)</a:t>
            </a:r>
          </a:p>
          <a:p>
            <a:pPr>
              <a:defRPr sz="1000">
                <a:solidFill>
                  <a:srgbClr val="334155"/>
                </a:solidFill>
                <a:latin typeface="Calibri"/>
              </a:defRPr>
            </a:pPr>
            <a:r>
              <a:t>Lowered default temperature from 0.85 to 0.60. Sharpened probabilities ensure the model stays firmly within harmonically viable transitions without collapsing into repetitive single notes.</a:t>
            </a:r>
          </a:p>
        </p:txBody>
      </p:sp>
      <p:sp>
        <p:nvSpPr>
          <p:cNvPr id="9" name="Rounded Rectangle 8"/>
          <p:cNvSpPr/>
          <p:nvPr/>
        </p:nvSpPr>
        <p:spPr>
          <a:xfrm>
            <a:off x="731520" y="379476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4892040" cy="1920240"/>
          </a:xfrm>
          <a:prstGeom prst="rect">
            <a:avLst/>
          </a:prstGeom>
          <a:noFill/>
        </p:spPr>
        <p:txBody>
          <a:bodyPr wrap="square">
            <a:spAutoFit/>
          </a:bodyPr>
          <a:lstStyle/>
          <a:p>
            <a:pPr>
              <a:spcAft>
                <a:spcPts val="400"/>
              </a:spcAft>
              <a:defRPr sz="1300" b="1">
                <a:solidFill>
                  <a:srgbClr val="D97706"/>
                </a:solidFill>
                <a:latin typeface="Calibri"/>
              </a:defRPr>
            </a:pPr>
            <a:r>
              <a:t>Leap &amp; Repetition Regularization</a:t>
            </a:r>
          </a:p>
          <a:p>
            <a:pPr>
              <a:defRPr sz="1000">
                <a:solidFill>
                  <a:srgbClr val="334155"/>
                </a:solidFill>
                <a:latin typeface="Calibri"/>
              </a:defRPr>
            </a:pPr>
            <a:r>
              <a:t>Soft penalization reduces probabilities for octave leaps &gt; 16 semitones and introduces a 1.15x repetition penalty to prevent pitch stagnation on long sustained phrases.</a:t>
            </a:r>
          </a:p>
        </p:txBody>
      </p:sp>
      <p:sp>
        <p:nvSpPr>
          <p:cNvPr id="11" name="Rounded Rectangle 10"/>
          <p:cNvSpPr/>
          <p:nvPr/>
        </p:nvSpPr>
        <p:spPr>
          <a:xfrm>
            <a:off x="6172200" y="379476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977640"/>
            <a:ext cx="4892040" cy="1920240"/>
          </a:xfrm>
          <a:prstGeom prst="rect">
            <a:avLst/>
          </a:prstGeom>
          <a:noFill/>
        </p:spPr>
        <p:txBody>
          <a:bodyPr wrap="square">
            <a:spAutoFit/>
          </a:bodyPr>
          <a:lstStyle/>
          <a:p>
            <a:pPr>
              <a:spcAft>
                <a:spcPts val="400"/>
              </a:spcAft>
              <a:defRPr sz="1300" b="1">
                <a:solidFill>
                  <a:srgbClr val="0F172A"/>
                </a:solidFill>
                <a:latin typeface="Calibri"/>
              </a:defRPr>
            </a:pPr>
            <a:r>
              <a:t>Harmonic Cadence Primer</a:t>
            </a:r>
          </a:p>
          <a:p>
            <a:pPr>
              <a:defRPr sz="1000">
                <a:solidFill>
                  <a:srgbClr val="334155"/>
                </a:solidFill>
                <a:latin typeface="Calibri"/>
              </a:defRPr>
            </a:pPr>
            <a:r>
              <a:t>Primed free generation with a classical I → IV → V → I cadence instead of arbitrary arpeggios, immediately setting the recurrent cell state into an established tonal center.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SEEDED CONTINUATION</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7. Feature Highlight: 'Continue a Real Piano Phrase'</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023360" cy="4480560"/>
          </a:xfrm>
          <a:prstGeom prst="rect">
            <a:avLst/>
          </a:prstGeom>
          <a:noFill/>
        </p:spPr>
        <p:txBody>
          <a:bodyPr wrap="square">
            <a:spAutoFit/>
          </a:bodyPr>
          <a:lstStyle/>
          <a:p>
            <a:pPr>
              <a:spcAft>
                <a:spcPts val="600"/>
              </a:spcAft>
              <a:defRPr sz="1350" b="1">
                <a:solidFill>
                  <a:srgbClr val="1E40AF"/>
                </a:solidFill>
                <a:latin typeface="Calibri"/>
              </a:defRPr>
            </a:pPr>
            <a:r>
              <a:t>How Seeded Continuation Works</a:t>
            </a:r>
          </a:p>
          <a:p>
            <a:pPr>
              <a:spcAft>
                <a:spcPts val="400"/>
              </a:spcAft>
              <a:defRPr sz="1000">
                <a:latin typeface="Calibri"/>
              </a:defRPr>
            </a:pPr>
            <a:r>
              <a:rPr b="1">
                <a:solidFill>
                  <a:srgbClr val="0F172A"/>
                </a:solidFill>
              </a:rPr>
              <a:t>Human Musical Seed: </a:t>
            </a:r>
            <a:r>
              <a:rPr b="0">
                <a:solidFill>
                  <a:srgbClr val="334155"/>
                </a:solidFill>
              </a:rPr>
              <a:t>Extracts the opening 16–24 notes from any real MAESTRO performance (e.g., Schubert Sonata or Chopin Nocturne).</a:t>
            </a:r>
          </a:p>
          <a:p>
            <a:pPr>
              <a:spcAft>
                <a:spcPts val="400"/>
              </a:spcAft>
              <a:defRPr sz="1000">
                <a:latin typeface="Calibri"/>
              </a:defRPr>
            </a:pPr>
            <a:r>
              <a:rPr b="1">
                <a:solidFill>
                  <a:srgbClr val="0F172A"/>
                </a:solidFill>
              </a:rPr>
              <a:t>Warm-up Hidden State: </a:t>
            </a:r>
            <a:r>
              <a:rPr b="0">
                <a:solidFill>
                  <a:srgbClr val="334155"/>
                </a:solidFill>
              </a:rPr>
              <a:t>The seed is fed through the LSTM to prime the cell state c_t and hidden vector h_t with authentic harmonic memory.</a:t>
            </a:r>
          </a:p>
          <a:p>
            <a:pPr>
              <a:spcAft>
                <a:spcPts val="400"/>
              </a:spcAft>
              <a:defRPr sz="1000">
                <a:latin typeface="Calibri"/>
              </a:defRPr>
            </a:pPr>
            <a:r>
              <a:rPr b="1">
                <a:solidFill>
                  <a:srgbClr val="0F172A"/>
                </a:solidFill>
              </a:rPr>
              <a:t>Autoregressive Rollout: </a:t>
            </a:r>
            <a:r>
              <a:rPr b="0">
                <a:solidFill>
                  <a:srgbClr val="334155"/>
                </a:solidFill>
              </a:rPr>
              <a:t>From note 25 onward, the LSTM takes over, generating musical continuations in matching tempo and key.</a:t>
            </a:r>
          </a:p>
          <a:p>
            <a:pPr>
              <a:spcAft>
                <a:spcPts val="400"/>
              </a:spcAft>
              <a:defRPr sz="1000">
                <a:latin typeface="Calibri"/>
              </a:defRPr>
            </a:pPr>
            <a:r>
              <a:rPr b="1">
                <a:solidFill>
                  <a:srgbClr val="0F172A"/>
                </a:solidFill>
              </a:rPr>
              <a:t>Dual-Color UI Display: </a:t>
            </a:r>
            <a:r>
              <a:rPr b="0">
                <a:solidFill>
                  <a:srgbClr val="334155"/>
                </a:solidFill>
              </a:rPr>
              <a:t>Streamlit displays seed notes in amber and model-composed notes in blue for transparent verification.</a:t>
            </a:r>
          </a:p>
        </p:txBody>
      </p:sp>
      <p:pic>
        <p:nvPicPr>
          <p:cNvPr id="7" name="Picture 6" descr="piano_roll_sample.png"/>
          <p:cNvPicPr>
            <a:picLocks noChangeAspect="1"/>
          </p:cNvPicPr>
          <p:nvPr/>
        </p:nvPicPr>
        <p:blipFill>
          <a:blip r:embed="rId2"/>
          <a:stretch>
            <a:fillRect/>
          </a:stretch>
        </p:blipFill>
        <p:spPr>
          <a:xfrm>
            <a:off x="5303520" y="1371600"/>
            <a:ext cx="612648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QUANTITATIVE VALIDATION</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8. Experimental Results &amp; Loss Dynamics</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ss_curve.png"/>
          <p:cNvPicPr>
            <a:picLocks noChangeAspect="1"/>
          </p:cNvPicPr>
          <p:nvPr/>
        </p:nvPicPr>
        <p:blipFill>
          <a:blip r:embed="rId2"/>
          <a:stretch>
            <a:fillRect/>
          </a:stretch>
        </p:blipFill>
        <p:spPr>
          <a:xfrm>
            <a:off x="731520" y="1371600"/>
            <a:ext cx="5303520" cy="4846320"/>
          </a:xfrm>
          <a:prstGeom prst="rect">
            <a:avLst/>
          </a:prstGeom>
        </p:spPr>
      </p:pic>
      <p:sp>
        <p:nvSpPr>
          <p:cNvPr id="6" name="Rounded Rectangle 5"/>
          <p:cNvSpPr/>
          <p:nvPr/>
        </p:nvSpPr>
        <p:spPr>
          <a:xfrm>
            <a:off x="62179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480560"/>
          </a:xfrm>
          <a:prstGeom prst="rect">
            <a:avLst/>
          </a:prstGeom>
          <a:noFill/>
        </p:spPr>
        <p:txBody>
          <a:bodyPr wrap="square">
            <a:spAutoFit/>
          </a:bodyPr>
          <a:lstStyle/>
          <a:p>
            <a:pPr>
              <a:spcAft>
                <a:spcPts val="600"/>
              </a:spcAft>
              <a:defRPr sz="1300" b="1">
                <a:solidFill>
                  <a:srgbClr val="0F172A"/>
                </a:solidFill>
                <a:latin typeface="Calibri"/>
              </a:defRPr>
            </a:pPr>
            <a:r>
              <a:t>Before vs. After Optimization Benchmarks</a:t>
            </a:r>
          </a:p>
          <a:p>
            <a:pPr>
              <a:spcAft>
                <a:spcPts val="400"/>
              </a:spcAft>
              <a:defRPr sz="1000">
                <a:latin typeface="Calibri"/>
              </a:defRPr>
            </a:pPr>
            <a:r>
              <a:rPr b="1">
                <a:solidFill>
                  <a:srgbClr val="047857"/>
                </a:solidFill>
              </a:rPr>
              <a:t>Validation Loss: </a:t>
            </a:r>
            <a:r>
              <a:rPr b="0">
                <a:solidFill>
                  <a:srgbClr val="334155"/>
                </a:solidFill>
              </a:rPr>
              <a:t>Decreased from 6.2547 to 6.1791 (Epoch 4, early stopping triggered at Epoch 9 with patience 5).</a:t>
            </a:r>
          </a:p>
          <a:p>
            <a:pPr>
              <a:spcAft>
                <a:spcPts val="400"/>
              </a:spcAft>
              <a:defRPr sz="1000">
                <a:latin typeface="Calibri"/>
              </a:defRPr>
            </a:pPr>
            <a:r>
              <a:rPr b="1">
                <a:solidFill>
                  <a:srgbClr val="047857"/>
                </a:solidFill>
              </a:rPr>
              <a:t>Pitch Head Loss: </a:t>
            </a:r>
            <a:r>
              <a:rPr b="0">
                <a:solidFill>
                  <a:srgbClr val="334155"/>
                </a:solidFill>
              </a:rPr>
              <a:t>Dropped from ~3.910 to 3.756 — reflecting better probabilistic grasp of classical note transitions.</a:t>
            </a:r>
          </a:p>
          <a:p>
            <a:pPr>
              <a:spcAft>
                <a:spcPts val="400"/>
              </a:spcAft>
              <a:defRPr sz="1000">
                <a:latin typeface="Calibri"/>
              </a:defRPr>
            </a:pPr>
            <a:r>
              <a:rPr b="1">
                <a:solidFill>
                  <a:srgbClr val="1E40AF"/>
                </a:solidFill>
              </a:rPr>
              <a:t>Max Semitone Jump: </a:t>
            </a:r>
            <a:r>
              <a:rPr b="0">
                <a:solidFill>
                  <a:srgbClr val="334155"/>
                </a:solidFill>
              </a:rPr>
              <a:t>Reduced from 39–45 semitones down to 12–16 semitones, preserving natural voice-leading registers.</a:t>
            </a:r>
          </a:p>
          <a:p>
            <a:pPr>
              <a:spcAft>
                <a:spcPts val="400"/>
              </a:spcAft>
              <a:defRPr sz="1000">
                <a:latin typeface="Calibri"/>
              </a:defRPr>
            </a:pPr>
            <a:r>
              <a:rPr b="1">
                <a:solidFill>
                  <a:srgbClr val="1E40AF"/>
                </a:solidFill>
              </a:rPr>
              <a:t>Mean Semitone Jump: </a:t>
            </a:r>
            <a:r>
              <a:rPr b="0">
                <a:solidFill>
                  <a:srgbClr val="334155"/>
                </a:solidFill>
              </a:rPr>
              <a:t>Decreased from 7.7 to 5.4 semitones, matching natural scalar and arpeggiated piano literature.</a:t>
            </a:r>
          </a:p>
          <a:p>
            <a:pPr>
              <a:spcAft>
                <a:spcPts val="400"/>
              </a:spcAft>
              <a:defRPr sz="1000">
                <a:latin typeface="Calibri"/>
              </a:defRPr>
            </a:pPr>
            <a:r>
              <a:rPr b="1">
                <a:solidFill>
                  <a:srgbClr val="0F172A"/>
                </a:solidFill>
              </a:rPr>
              <a:t>Multi-Piece Diversity: </a:t>
            </a:r>
            <a:r>
              <a:rPr b="0">
                <a:solidFill>
                  <a:srgbClr val="334155"/>
                </a:solidFill>
              </a:rPr>
              <a:t>Training sequences balanced across 34 classical compositions rather than only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USER INTERFACE</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9. Interactive Streamlit Demonstration &amp; Audio Synthesis</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480560"/>
          </a:xfrm>
          <a:prstGeom prst="rect">
            <a:avLst/>
          </a:prstGeom>
          <a:noFill/>
        </p:spPr>
        <p:txBody>
          <a:bodyPr wrap="square">
            <a:spAutoFit/>
          </a:bodyPr>
          <a:lstStyle/>
          <a:p>
            <a:pPr>
              <a:spcAft>
                <a:spcPts val="600"/>
              </a:spcAft>
              <a:defRPr sz="1350" b="1">
                <a:solidFill>
                  <a:srgbClr val="1E40AF"/>
                </a:solidFill>
                <a:latin typeface="Calibri"/>
              </a:defRPr>
            </a:pPr>
            <a:r>
              <a:t>Tab 1: LSTM Melody Generator</a:t>
            </a:r>
          </a:p>
          <a:p>
            <a:pPr>
              <a:spcAft>
                <a:spcPts val="400"/>
              </a:spcAft>
              <a:defRPr sz="1000">
                <a:latin typeface="Calibri"/>
              </a:defRPr>
            </a:pPr>
            <a:r>
              <a:rPr b="1">
                <a:solidFill>
                  <a:srgbClr val="0F172A"/>
                </a:solidFill>
              </a:rPr>
              <a:t>Dual Generation Modes: </a:t>
            </a:r>
            <a:r>
              <a:rPr b="0">
                <a:solidFill>
                  <a:srgbClr val="334155"/>
                </a:solidFill>
              </a:rPr>
              <a:t>Switch between Free Generation and Continue a Real Piano Phrase with one click.</a:t>
            </a:r>
          </a:p>
          <a:p>
            <a:pPr>
              <a:spcAft>
                <a:spcPts val="400"/>
              </a:spcAft>
              <a:defRPr sz="1000">
                <a:latin typeface="Calibri"/>
              </a:defRPr>
            </a:pPr>
            <a:r>
              <a:rPr b="1">
                <a:solidFill>
                  <a:srgbClr val="0F172A"/>
                </a:solidFill>
              </a:rPr>
              <a:t>Interactive Sliders: </a:t>
            </a:r>
            <a:r>
              <a:rPr b="0">
                <a:solidFill>
                  <a:srgbClr val="334155"/>
                </a:solidFill>
              </a:rPr>
              <a:t>Adjust Melody Length (20–200 notes), Temperature (0.2–1.2), Top-K Filtering (1–20), and Random Seed.</a:t>
            </a:r>
          </a:p>
          <a:p>
            <a:pPr>
              <a:spcAft>
                <a:spcPts val="400"/>
              </a:spcAft>
              <a:defRPr sz="1000">
                <a:latin typeface="Calibri"/>
              </a:defRPr>
            </a:pPr>
            <a:r>
              <a:rPr b="1">
                <a:solidFill>
                  <a:srgbClr val="0F172A"/>
                </a:solidFill>
              </a:rPr>
              <a:t>Dynamic Piano Roll: </a:t>
            </a:r>
            <a:r>
              <a:rPr b="0">
                <a:solidFill>
                  <a:srgbClr val="334155"/>
                </a:solidFill>
              </a:rPr>
              <a:t>Matplotlib-rendered piano roll showing pitches against time with Middle C reference line.</a:t>
            </a:r>
          </a:p>
          <a:p>
            <a:pPr>
              <a:spcAft>
                <a:spcPts val="400"/>
              </a:spcAft>
              <a:defRPr sz="1000">
                <a:latin typeface="Calibri"/>
              </a:defRPr>
            </a:pPr>
            <a:r>
              <a:rPr b="1">
                <a:solidFill>
                  <a:srgbClr val="0F172A"/>
                </a:solidFill>
              </a:rPr>
              <a:t>Instant Downloads: </a:t>
            </a:r>
            <a:r>
              <a:rPr b="0">
                <a:solidFill>
                  <a:srgbClr val="334155"/>
                </a:solidFill>
              </a:rPr>
              <a:t>Export Standard MIDI (.mid) files and 44.1 kHz WAV audio directly to your local machine.</a:t>
            </a:r>
          </a:p>
        </p:txBody>
      </p:sp>
      <p:sp>
        <p:nvSpPr>
          <p:cNvPr id="7" name="Rounded Rectangle 6"/>
          <p:cNvSpPr/>
          <p:nvPr/>
        </p:nvSpPr>
        <p:spPr>
          <a:xfrm>
            <a:off x="6217920" y="137160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480560"/>
          </a:xfrm>
          <a:prstGeom prst="rect">
            <a:avLst/>
          </a:prstGeom>
          <a:noFill/>
        </p:spPr>
        <p:txBody>
          <a:bodyPr wrap="square">
            <a:spAutoFit/>
          </a:bodyPr>
          <a:lstStyle/>
          <a:p>
            <a:pPr>
              <a:spcAft>
                <a:spcPts val="600"/>
              </a:spcAft>
              <a:defRPr sz="1350" b="1">
                <a:solidFill>
                  <a:srgbClr val="0F172A"/>
                </a:solidFill>
                <a:latin typeface="Calibri"/>
              </a:defRPr>
            </a:pPr>
            <a:r>
              <a:t>Tab 2: Human vs. LSTM Comparison</a:t>
            </a:r>
          </a:p>
          <a:p>
            <a:pPr>
              <a:spcAft>
                <a:spcPts val="400"/>
              </a:spcAft>
              <a:defRPr sz="1000">
                <a:latin typeface="Calibri"/>
              </a:defRPr>
            </a:pPr>
            <a:r>
              <a:rPr b="1">
                <a:solidFill>
                  <a:srgbClr val="0F172A"/>
                </a:solidFill>
              </a:rPr>
              <a:t>Real Dataset Sampling: </a:t>
            </a:r>
            <a:r>
              <a:rPr b="0">
                <a:solidFill>
                  <a:srgbClr val="334155"/>
                </a:solidFill>
              </a:rPr>
              <a:t>Pulls random virtuoso pieces from MAESTRO by split (train, validation, test) with full metadata (Composer, Title, Year).</a:t>
            </a:r>
          </a:p>
          <a:p>
            <a:pPr>
              <a:spcAft>
                <a:spcPts val="400"/>
              </a:spcAft>
              <a:defRPr sz="1000">
                <a:latin typeface="Calibri"/>
              </a:defRPr>
            </a:pPr>
            <a:r>
              <a:rPr b="1">
                <a:solidFill>
                  <a:srgbClr val="0F172A"/>
                </a:solidFill>
              </a:rPr>
              <a:t>Harmonic Piano Synthesis: </a:t>
            </a:r>
            <a:r>
              <a:rPr b="0">
                <a:solidFill>
                  <a:srgbClr val="334155"/>
                </a:solidFill>
              </a:rPr>
              <a:t>Zero-dependency pure-Python additive synthesizer generates realistic piano harmonics with natural ADSR envelope decay.</a:t>
            </a:r>
          </a:p>
          <a:p>
            <a:pPr>
              <a:spcAft>
                <a:spcPts val="400"/>
              </a:spcAft>
              <a:defRPr sz="1000">
                <a:latin typeface="Calibri"/>
              </a:defRPr>
            </a:pPr>
            <a:r>
              <a:rPr b="1">
                <a:solidFill>
                  <a:srgbClr val="0F172A"/>
                </a:solidFill>
              </a:rPr>
              <a:t>Side-by-Side Playback: </a:t>
            </a:r>
            <a:r>
              <a:rPr b="0">
                <a:solidFill>
                  <a:srgbClr val="334155"/>
                </a:solidFill>
              </a:rPr>
              <a:t>Play human performance audio alongside LSTM compositions rendered through the exact same synthesis engine.</a:t>
            </a:r>
          </a:p>
          <a:p>
            <a:pPr>
              <a:spcAft>
                <a:spcPts val="400"/>
              </a:spcAft>
              <a:defRPr sz="1000">
                <a:latin typeface="Calibri"/>
              </a:defRPr>
            </a:pPr>
            <a:r>
              <a:rPr b="1">
                <a:solidFill>
                  <a:srgbClr val="0F172A"/>
                </a:solidFill>
              </a:rPr>
              <a:t>CLI Comparison Tool: </a:t>
            </a:r>
            <a:r>
              <a:rPr b="0">
                <a:solidFill>
                  <a:srgbClr val="334155"/>
                </a:solidFill>
              </a:rPr>
              <a:t>Terminal companion python play_sample.py --mode compare allows immediate audio inspection.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SYSTEM ARCHITECTURE</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10. Technology Stack &amp; Software Architecture</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2286000" cy="1828800"/>
          </a:xfrm>
          <a:prstGeom prst="rect">
            <a:avLst/>
          </a:prstGeom>
          <a:noFill/>
        </p:spPr>
        <p:txBody>
          <a:bodyPr wrap="square">
            <a:spAutoFit/>
          </a:bodyPr>
          <a:lstStyle/>
          <a:p>
            <a:pPr>
              <a:defRPr sz="1200" b="1">
                <a:solidFill>
                  <a:srgbClr val="1E40AF"/>
                </a:solidFill>
                <a:latin typeface="Calibri"/>
              </a:defRPr>
            </a:pPr>
            <a:r>
              <a:t>Core ML Framework</a:t>
            </a:r>
          </a:p>
          <a:p>
            <a:pPr>
              <a:spcAft>
                <a:spcPts val="400"/>
              </a:spcAft>
              <a:defRPr sz="950">
                <a:solidFill>
                  <a:srgbClr val="64748B"/>
                </a:solidFill>
                <a:latin typeface="Calibri"/>
              </a:defRPr>
            </a:pPr>
            <a:r>
              <a:t>PyTorch 2.6+</a:t>
            </a:r>
          </a:p>
          <a:p>
            <a:pPr>
              <a:defRPr sz="900">
                <a:solidFill>
                  <a:srgbClr val="334155"/>
                </a:solidFill>
                <a:latin typeface="Calibri"/>
              </a:defRPr>
            </a:pPr>
            <a:r>
              <a:t>MelodyLSTM, multi-task cross-entropy, Adam optimizer, ReduceLROnPlateau, CUDA GPU acceleration.</a:t>
            </a:r>
          </a:p>
        </p:txBody>
      </p:sp>
      <p:sp>
        <p:nvSpPr>
          <p:cNvPr id="7" name="Rounded Rectangle 6"/>
          <p:cNvSpPr/>
          <p:nvPr/>
        </p:nvSpPr>
        <p:spPr>
          <a:xfrm>
            <a:off x="3429000" y="137160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508760"/>
            <a:ext cx="2286000" cy="1828800"/>
          </a:xfrm>
          <a:prstGeom prst="rect">
            <a:avLst/>
          </a:prstGeom>
          <a:noFill/>
        </p:spPr>
        <p:txBody>
          <a:bodyPr wrap="square">
            <a:spAutoFit/>
          </a:bodyPr>
          <a:lstStyle/>
          <a:p>
            <a:pPr>
              <a:defRPr sz="1200" b="1">
                <a:solidFill>
                  <a:srgbClr val="0F172A"/>
                </a:solidFill>
                <a:latin typeface="Calibri"/>
              </a:defRPr>
            </a:pPr>
            <a:r>
              <a:t>MIDI Processing</a:t>
            </a:r>
          </a:p>
          <a:p>
            <a:pPr>
              <a:spcAft>
                <a:spcPts val="400"/>
              </a:spcAft>
              <a:defRPr sz="950">
                <a:solidFill>
                  <a:srgbClr val="64748B"/>
                </a:solidFill>
                <a:latin typeface="Calibri"/>
              </a:defRPr>
            </a:pPr>
            <a:r>
              <a:t>Mido &amp; Python-MIDI</a:t>
            </a:r>
          </a:p>
          <a:p>
            <a:pPr>
              <a:defRPr sz="900">
                <a:solidFill>
                  <a:srgbClr val="334155"/>
                </a:solidFill>
                <a:latin typeface="Calibri"/>
              </a:defRPr>
            </a:pPr>
            <a:r>
              <a:t>Parsing raw Standard MIDI files, extracting note_on/note_off events, and exporting generated sequences.</a:t>
            </a:r>
          </a:p>
        </p:txBody>
      </p:sp>
      <p:sp>
        <p:nvSpPr>
          <p:cNvPr id="9" name="Rounded Rectangle 8"/>
          <p:cNvSpPr/>
          <p:nvPr/>
        </p:nvSpPr>
        <p:spPr>
          <a:xfrm>
            <a:off x="6126480" y="137160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508760"/>
            <a:ext cx="2286000" cy="1828800"/>
          </a:xfrm>
          <a:prstGeom prst="rect">
            <a:avLst/>
          </a:prstGeom>
          <a:noFill/>
        </p:spPr>
        <p:txBody>
          <a:bodyPr wrap="square">
            <a:spAutoFit/>
          </a:bodyPr>
          <a:lstStyle/>
          <a:p>
            <a:pPr>
              <a:defRPr sz="1200" b="1">
                <a:solidFill>
                  <a:srgbClr val="D97706"/>
                </a:solidFill>
                <a:latin typeface="Calibri"/>
              </a:defRPr>
            </a:pPr>
            <a:r>
              <a:t>Web Application</a:t>
            </a:r>
          </a:p>
          <a:p>
            <a:pPr>
              <a:spcAft>
                <a:spcPts val="400"/>
              </a:spcAft>
              <a:defRPr sz="950">
                <a:solidFill>
                  <a:srgbClr val="64748B"/>
                </a:solidFill>
                <a:latin typeface="Calibri"/>
              </a:defRPr>
            </a:pPr>
            <a:r>
              <a:t>Streamlit 1.42+</a:t>
            </a:r>
          </a:p>
          <a:p>
            <a:pPr>
              <a:defRPr sz="900">
                <a:solidFill>
                  <a:srgbClr val="334155"/>
                </a:solidFill>
                <a:latin typeface="Calibri"/>
              </a:defRPr>
            </a:pPr>
            <a:r>
              <a:t>Reactive state management, parameter sliders, audio players, and interactive file download buttons.</a:t>
            </a:r>
          </a:p>
        </p:txBody>
      </p:sp>
      <p:sp>
        <p:nvSpPr>
          <p:cNvPr id="11" name="Rounded Rectangle 10"/>
          <p:cNvSpPr/>
          <p:nvPr/>
        </p:nvSpPr>
        <p:spPr>
          <a:xfrm>
            <a:off x="8823960" y="137160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508760"/>
            <a:ext cx="2286000" cy="1828800"/>
          </a:xfrm>
          <a:prstGeom prst="rect">
            <a:avLst/>
          </a:prstGeom>
          <a:noFill/>
        </p:spPr>
        <p:txBody>
          <a:bodyPr wrap="square">
            <a:spAutoFit/>
          </a:bodyPr>
          <a:lstStyle/>
          <a:p>
            <a:pPr>
              <a:defRPr sz="1200" b="1">
                <a:solidFill>
                  <a:srgbClr val="047857"/>
                </a:solidFill>
                <a:latin typeface="Calibri"/>
              </a:defRPr>
            </a:pPr>
            <a:r>
              <a:t>Audio &amp; Verification</a:t>
            </a:r>
          </a:p>
          <a:p>
            <a:pPr>
              <a:spcAft>
                <a:spcPts val="400"/>
              </a:spcAft>
              <a:defRPr sz="950">
                <a:solidFill>
                  <a:srgbClr val="64748B"/>
                </a:solidFill>
                <a:latin typeface="Calibri"/>
              </a:defRPr>
            </a:pPr>
            <a:r>
              <a:t>NumPy, SciPy &amp; Pytest</a:t>
            </a:r>
          </a:p>
          <a:p>
            <a:pPr>
              <a:defRPr sz="900">
                <a:solidFill>
                  <a:srgbClr val="334155"/>
                </a:solidFill>
                <a:latin typeface="Calibri"/>
              </a:defRPr>
            </a:pPr>
            <a:r>
              <a:t>Additive harmonic synthesis engine, 44.1 kHz WAV encoding, and 12/12 passing unit tests.</a:t>
            </a:r>
          </a:p>
        </p:txBody>
      </p:sp>
      <p:sp>
        <p:nvSpPr>
          <p:cNvPr id="13" name="Rounded Rectangle 12"/>
          <p:cNvSpPr/>
          <p:nvPr/>
        </p:nvSpPr>
        <p:spPr>
          <a:xfrm>
            <a:off x="731520" y="3657600"/>
            <a:ext cx="1069848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94760"/>
            <a:ext cx="10332720" cy="2286000"/>
          </a:xfrm>
          <a:prstGeom prst="rect">
            <a:avLst/>
          </a:prstGeom>
          <a:noFill/>
        </p:spPr>
        <p:txBody>
          <a:bodyPr wrap="square">
            <a:spAutoFit/>
          </a:bodyPr>
          <a:lstStyle/>
          <a:p>
            <a:pPr>
              <a:spcAft>
                <a:spcPts val="400"/>
              </a:spcAft>
              <a:defRPr sz="1300" b="1">
                <a:solidFill>
                  <a:srgbClr val="0F172A"/>
                </a:solidFill>
                <a:latin typeface="Calibri"/>
              </a:defRPr>
            </a:pPr>
            <a:r>
              <a:t>Modular Codebase Organization</a:t>
            </a:r>
          </a:p>
          <a:p>
            <a:pPr>
              <a:spcAft>
                <a:spcPts val="400"/>
              </a:spcAft>
              <a:defRPr sz="950">
                <a:latin typeface="Calibri"/>
              </a:defRPr>
            </a:pPr>
            <a:r>
              <a:rPr b="1">
                <a:solidFill>
                  <a:srgbClr val="0F172A"/>
                </a:solidFill>
              </a:rPr>
              <a:t>melodyloop/data.py: </a:t>
            </a:r>
            <a:r>
              <a:rPr b="0">
                <a:solidFill>
                  <a:srgbClr val="334155"/>
                </a:solidFill>
              </a:rPr>
              <a:t>MAESTRO dataset discovery, MIDI parsing, event quantization, and sequence PyTorch Dataset.</a:t>
            </a:r>
          </a:p>
          <a:p>
            <a:pPr>
              <a:spcAft>
                <a:spcPts val="400"/>
              </a:spcAft>
              <a:defRPr sz="950">
                <a:latin typeface="Calibri"/>
              </a:defRPr>
            </a:pPr>
            <a:r>
              <a:rPr b="1">
                <a:solidFill>
                  <a:srgbClr val="0F172A"/>
                </a:solidFill>
              </a:rPr>
              <a:t>melodyloop/model.py: </a:t>
            </a:r>
            <a:r>
              <a:rPr b="0">
                <a:solidFill>
                  <a:srgbClr val="334155"/>
                </a:solidFill>
              </a:rPr>
              <a:t>MelodyLSTM implementation, multi-task cross-entropy forward pass, and parameter counting.</a:t>
            </a:r>
          </a:p>
          <a:p>
            <a:pPr>
              <a:spcAft>
                <a:spcPts val="400"/>
              </a:spcAft>
              <a:defRPr sz="950">
                <a:latin typeface="Calibri"/>
              </a:defRPr>
            </a:pPr>
            <a:r>
              <a:rPr b="1">
                <a:solidFill>
                  <a:srgbClr val="0F172A"/>
                </a:solidFill>
              </a:rPr>
              <a:t>melodyloop/generation.py: </a:t>
            </a:r>
            <a:r>
              <a:rPr b="0">
                <a:solidFill>
                  <a:srgbClr val="334155"/>
                </a:solidFill>
              </a:rPr>
              <a:t>Autoregressive inference, top-k temperature sampling, seeded phrase continuation, and MIDI export.</a:t>
            </a:r>
          </a:p>
          <a:p>
            <a:pPr>
              <a:spcAft>
                <a:spcPts val="400"/>
              </a:spcAft>
              <a:defRPr sz="950">
                <a:latin typeface="Calibri"/>
              </a:defRPr>
            </a:pPr>
            <a:r>
              <a:rPr b="1">
                <a:solidFill>
                  <a:srgbClr val="0F172A"/>
                </a:solidFill>
              </a:rPr>
              <a:t>melodyloop/audio.py: </a:t>
            </a:r>
            <a:r>
              <a:rPr b="0">
                <a:solidFill>
                  <a:srgbClr val="334155"/>
                </a:solidFill>
              </a:rPr>
              <a:t>Pure-Python harmonic synthesis engine with ADSR envelope generator and WAV output.</a:t>
            </a:r>
          </a:p>
          <a:p>
            <a:pPr>
              <a:spcAft>
                <a:spcPts val="400"/>
              </a:spcAft>
              <a:defRPr sz="950">
                <a:latin typeface="Calibri"/>
              </a:defRPr>
            </a:pPr>
            <a:r>
              <a:rPr b="1">
                <a:solidFill>
                  <a:srgbClr val="0F172A"/>
                </a:solidFill>
              </a:rPr>
              <a:t>tests/: </a:t>
            </a:r>
            <a:r>
              <a:rPr b="0">
                <a:solidFill>
                  <a:srgbClr val="334155"/>
                </a:solidFill>
              </a:rPr>
              <a:t>Complete test suite (12 passed in 22s) validating data parsing, model tensors, generation, and synthesis.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REFLECTIONS &amp; EXTENSIONS</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11. Key Learnings, Limitations &amp; Future Roadmap</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480560"/>
          </a:xfrm>
          <a:prstGeom prst="rect">
            <a:avLst/>
          </a:prstGeom>
          <a:noFill/>
        </p:spPr>
        <p:txBody>
          <a:bodyPr wrap="square">
            <a:spAutoFit/>
          </a:bodyPr>
          <a:lstStyle/>
          <a:p>
            <a:pPr>
              <a:spcAft>
                <a:spcPts val="600"/>
              </a:spcAft>
              <a:defRPr sz="1350" b="1">
                <a:solidFill>
                  <a:srgbClr val="1E40AF"/>
                </a:solidFill>
                <a:latin typeface="Calibri"/>
              </a:defRPr>
            </a:pPr>
            <a:r>
              <a:t>Key Engineering &amp; Modeling Learnings</a:t>
            </a:r>
          </a:p>
          <a:p>
            <a:pPr>
              <a:spcAft>
                <a:spcPts val="400"/>
              </a:spcAft>
              <a:defRPr sz="1000">
                <a:latin typeface="Calibri"/>
              </a:defRPr>
            </a:pPr>
            <a:r>
              <a:rPr b="1">
                <a:solidFill>
                  <a:srgbClr val="0F172A"/>
                </a:solidFill>
              </a:rPr>
              <a:t>Decoding Strategy &gt; Raw Epochs: </a:t>
            </a:r>
            <a:r>
              <a:rPr b="0">
                <a:solidFill>
                  <a:srgbClr val="334155"/>
                </a:solidFill>
              </a:rPr>
              <a:t>Tuning decoding heuristics (Top-K=5, T=0.60) had far greater impact on musicality than running 50 more epochs.</a:t>
            </a:r>
          </a:p>
          <a:p>
            <a:pPr>
              <a:spcAft>
                <a:spcPts val="400"/>
              </a:spcAft>
              <a:defRPr sz="1000">
                <a:latin typeface="Calibri"/>
              </a:defRPr>
            </a:pPr>
            <a:r>
              <a:rPr b="1">
                <a:solidFill>
                  <a:srgbClr val="0F172A"/>
                </a:solidFill>
              </a:rPr>
              <a:t>Autoregressive Fragility: </a:t>
            </a:r>
            <a:r>
              <a:rPr b="0">
                <a:solidFill>
                  <a:srgbClr val="334155"/>
                </a:solidFill>
              </a:rPr>
              <a:t>In RNNs, error propagation is exponential. Restricting candidate choices keeps the hidden vector within the valid data distribution.</a:t>
            </a:r>
          </a:p>
          <a:p>
            <a:pPr>
              <a:spcAft>
                <a:spcPts val="400"/>
              </a:spcAft>
              <a:defRPr sz="1000">
                <a:latin typeface="Calibri"/>
              </a:defRPr>
            </a:pPr>
            <a:r>
              <a:rPr b="1">
                <a:solidFill>
                  <a:srgbClr val="0F172A"/>
                </a:solidFill>
              </a:rPr>
              <a:t>Balanced Multi-Task Learning: </a:t>
            </a:r>
            <a:r>
              <a:rPr b="0">
                <a:solidFill>
                  <a:srgbClr val="334155"/>
                </a:solidFill>
              </a:rPr>
              <a:t>Balancing loss contributions across pitch, duration, and step ensured the network learned realistic rhythm as well as pitch.</a:t>
            </a:r>
          </a:p>
          <a:p>
            <a:pPr>
              <a:spcAft>
                <a:spcPts val="400"/>
              </a:spcAft>
              <a:defRPr sz="1000">
                <a:latin typeface="Calibri"/>
              </a:defRPr>
            </a:pPr>
            <a:r>
              <a:rPr b="1">
                <a:solidFill>
                  <a:srgbClr val="0F172A"/>
                </a:solidFill>
              </a:rPr>
              <a:t>Explainability over Blackbox: </a:t>
            </a:r>
            <a:r>
              <a:rPr b="0">
                <a:solidFill>
                  <a:srgbClr val="334155"/>
                </a:solidFill>
              </a:rPr>
              <a:t>A 167k-parameter LSTM running locally on an RTX 3050 Laptop GPU provides clear insight into recurrent sequence learning.</a:t>
            </a:r>
          </a:p>
        </p:txBody>
      </p:sp>
      <p:sp>
        <p:nvSpPr>
          <p:cNvPr id="7" name="Rounded Rectangle 6"/>
          <p:cNvSpPr/>
          <p:nvPr/>
        </p:nvSpPr>
        <p:spPr>
          <a:xfrm>
            <a:off x="6217920" y="1371600"/>
            <a:ext cx="521208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480560"/>
          </a:xfrm>
          <a:prstGeom prst="rect">
            <a:avLst/>
          </a:prstGeom>
          <a:noFill/>
        </p:spPr>
        <p:txBody>
          <a:bodyPr wrap="square">
            <a:spAutoFit/>
          </a:bodyPr>
          <a:lstStyle/>
          <a:p>
            <a:pPr>
              <a:spcAft>
                <a:spcPts val="600"/>
              </a:spcAft>
              <a:defRPr sz="1350" b="1">
                <a:solidFill>
                  <a:srgbClr val="0F172A"/>
                </a:solidFill>
                <a:latin typeface="Calibri"/>
              </a:defRPr>
            </a:pPr>
            <a:r>
              <a:t>Current Limitations &amp; Future Roadmap</a:t>
            </a:r>
          </a:p>
          <a:p>
            <a:pPr>
              <a:spcAft>
                <a:spcPts val="400"/>
              </a:spcAft>
              <a:defRPr sz="1000">
                <a:latin typeface="Calibri"/>
              </a:defRPr>
            </a:pPr>
            <a:r>
              <a:rPr b="1">
                <a:solidFill>
                  <a:srgbClr val="0F172A"/>
                </a:solidFill>
              </a:rPr>
              <a:t>Monophonic Simplification: </a:t>
            </a:r>
            <a:r>
              <a:rPr b="0">
                <a:solidFill>
                  <a:srgbClr val="334155"/>
                </a:solidFill>
              </a:rPr>
              <a:t>Currently predicts single-note melodic lines. Future work: Multi-track polyphonic tokenization (Compound Word or REMI representation).</a:t>
            </a:r>
          </a:p>
          <a:p>
            <a:pPr>
              <a:spcAft>
                <a:spcPts val="400"/>
              </a:spcAft>
              <a:defRPr sz="1000">
                <a:latin typeface="Calibri"/>
              </a:defRPr>
            </a:pPr>
            <a:r>
              <a:rPr b="1">
                <a:solidFill>
                  <a:srgbClr val="0F172A"/>
                </a:solidFill>
              </a:rPr>
              <a:t>Context Horizon: </a:t>
            </a:r>
            <a:r>
              <a:rPr b="0">
                <a:solidFill>
                  <a:srgbClr val="334155"/>
                </a:solidFill>
              </a:rPr>
              <a:t>LSTMs suffer gradient attenuation over long horizons (&gt; 100 notes). Exploring Transformer self-attention (Music Transformer) for long-form structure.</a:t>
            </a:r>
          </a:p>
          <a:p>
            <a:pPr>
              <a:spcAft>
                <a:spcPts val="400"/>
              </a:spcAft>
              <a:defRPr sz="1000">
                <a:latin typeface="Calibri"/>
              </a:defRPr>
            </a:pPr>
            <a:r>
              <a:rPr b="1">
                <a:solidFill>
                  <a:srgbClr val="0F172A"/>
                </a:solidFill>
              </a:rPr>
              <a:t>Velocity &amp; Dynamics: </a:t>
            </a:r>
            <a:r>
              <a:rPr b="0">
                <a:solidFill>
                  <a:srgbClr val="334155"/>
                </a:solidFill>
              </a:rPr>
              <a:t>Adding a 4th prediction head for MIDI velocity (0–127) to capture expressive human piano touch.</a:t>
            </a:r>
          </a:p>
          <a:p>
            <a:pPr>
              <a:spcAft>
                <a:spcPts val="400"/>
              </a:spcAft>
              <a:defRPr sz="1000">
                <a:latin typeface="Calibri"/>
              </a:defRPr>
            </a:pPr>
            <a:r>
              <a:rPr b="1">
                <a:solidFill>
                  <a:srgbClr val="0F172A"/>
                </a:solidFill>
              </a:rPr>
              <a:t>Real-Time Interactive Jamming: </a:t>
            </a:r>
            <a:r>
              <a:rPr b="0">
                <a:solidFill>
                  <a:srgbClr val="334155"/>
                </a:solidFill>
              </a:rPr>
              <a:t>Streaming real-time MIDI input from a USB keyboard into the LSTM for live call-and-response accompaniment.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1E40AF"/>
                </a:solidFill>
                <a:latin typeface="Calibri"/>
              </a:defRPr>
            </a:pPr>
            <a:r>
              <a:t>SUMMARY &amp; DEFENSE</a:t>
            </a:r>
          </a:p>
        </p:txBody>
      </p:sp>
      <p:sp>
        <p:nvSpPr>
          <p:cNvPr id="3" name="TextBox 2"/>
          <p:cNvSpPr txBox="1"/>
          <p:nvPr/>
        </p:nvSpPr>
        <p:spPr>
          <a:xfrm>
            <a:off x="731520" y="621792"/>
            <a:ext cx="10515600" cy="502920"/>
          </a:xfrm>
          <a:prstGeom prst="rect">
            <a:avLst/>
          </a:prstGeom>
          <a:noFill/>
        </p:spPr>
        <p:txBody>
          <a:bodyPr wrap="square" lIns="0" tIns="0" rIns="0" bIns="0">
            <a:spAutoFit/>
          </a:bodyPr>
          <a:lstStyle/>
          <a:p>
            <a:pPr>
              <a:defRPr sz="2100" b="1">
                <a:solidFill>
                  <a:srgbClr val="0F172A"/>
                </a:solidFill>
                <a:latin typeface="Calibri"/>
              </a:defRPr>
            </a:pPr>
            <a:r>
              <a:t>12. Conclusion &amp; Live Demonstration</a:t>
            </a:r>
          </a:p>
        </p:txBody>
      </p:sp>
      <p:sp>
        <p:nvSpPr>
          <p:cNvPr id="4" name="Rectangle 3"/>
          <p:cNvSpPr/>
          <p:nvPr/>
        </p:nvSpPr>
        <p:spPr>
          <a:xfrm>
            <a:off x="731520" y="117043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371600"/>
            <a:ext cx="10362895" cy="48463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645920"/>
            <a:ext cx="9784080" cy="4297680"/>
          </a:xfrm>
          <a:prstGeom prst="rect">
            <a:avLst/>
          </a:prstGeom>
          <a:noFill/>
        </p:spPr>
        <p:txBody>
          <a:bodyPr wrap="square">
            <a:spAutoFit/>
          </a:bodyPr>
          <a:lstStyle/>
          <a:p>
            <a:pPr>
              <a:spcAft>
                <a:spcPts val="800"/>
              </a:spcAft>
              <a:defRPr sz="1600" b="1">
                <a:solidFill>
                  <a:srgbClr val="1E40AF"/>
                </a:solidFill>
                <a:latin typeface="Calibri"/>
              </a:defRPr>
            </a:pPr>
            <a:r>
              <a:t>MelodyLoop Project Summary</a:t>
            </a:r>
          </a:p>
          <a:p>
            <a:pPr>
              <a:spcAft>
                <a:spcPts val="400"/>
              </a:spcAft>
              <a:defRPr sz="1100">
                <a:latin typeface="Calibri"/>
              </a:defRPr>
            </a:pPr>
            <a:r>
              <a:rPr b="1">
                <a:solidFill>
                  <a:srgbClr val="0F172A"/>
                </a:solidFill>
              </a:rPr>
              <a:t>Complete Pipeline Realized: </a:t>
            </a:r>
            <a:r>
              <a:rPr b="0">
                <a:solidFill>
                  <a:srgbClr val="334155"/>
                </a:solidFill>
              </a:rPr>
              <a:t>From raw MAESTRO MIDI parsing to PyTorch multi-task training, Top-K coherence filtering, and Streamlit audio synthesis.</a:t>
            </a:r>
          </a:p>
          <a:p>
            <a:pPr>
              <a:spcAft>
                <a:spcPts val="400"/>
              </a:spcAft>
              <a:defRPr sz="1100">
                <a:latin typeface="Calibri"/>
              </a:defRPr>
            </a:pPr>
            <a:r>
              <a:rPr b="1">
                <a:solidFill>
                  <a:srgbClr val="0F172A"/>
                </a:solidFill>
              </a:rPr>
              <a:t>Measurable Coherence Gain: </a:t>
            </a:r>
            <a:r>
              <a:rPr b="0">
                <a:solidFill>
                  <a:srgbClr val="334155"/>
                </a:solidFill>
              </a:rPr>
              <a:t>Eliminated erratic 40-semitone pitch leaps; best validation loss improved to 6.1791; natural voice-leading verified by ear.</a:t>
            </a:r>
          </a:p>
          <a:p>
            <a:pPr>
              <a:spcAft>
                <a:spcPts val="400"/>
              </a:spcAft>
              <a:defRPr sz="1100">
                <a:latin typeface="Calibri"/>
              </a:defRPr>
            </a:pPr>
            <a:r>
              <a:rPr b="1">
                <a:solidFill>
                  <a:srgbClr val="0F172A"/>
                </a:solidFill>
              </a:rPr>
              <a:t>Seeded Continuation: </a:t>
            </a:r>
            <a:r>
              <a:rPr b="0">
                <a:solidFill>
                  <a:srgbClr val="334155"/>
                </a:solidFill>
              </a:rPr>
              <a:t>Demonstrated that prompting an LSTM cell state with 16–24 bars of classical piano yields harmonious melodic continuation.</a:t>
            </a:r>
          </a:p>
          <a:p>
            <a:pPr>
              <a:spcAft>
                <a:spcPts val="400"/>
              </a:spcAft>
              <a:defRPr sz="1100">
                <a:latin typeface="Calibri"/>
              </a:defRPr>
            </a:pPr>
            <a:r>
              <a:rPr b="1">
                <a:solidFill>
                  <a:srgbClr val="0F172A"/>
                </a:solidFill>
              </a:rPr>
              <a:t>Rigorous Engineering: </a:t>
            </a:r>
            <a:r>
              <a:rPr b="0">
                <a:solidFill>
                  <a:srgbClr val="334155"/>
                </a:solidFill>
              </a:rPr>
              <a:t>12/12 unit tests passing, clean modular packaging, and 100% reproducible on local hardware.</a:t>
            </a:r>
          </a:p>
        </p:txBody>
      </p:sp>
      <p:sp>
        <p:nvSpPr>
          <p:cNvPr id="7" name="Rounded Rectangle 6"/>
          <p:cNvSpPr/>
          <p:nvPr/>
        </p:nvSpPr>
        <p:spPr>
          <a:xfrm>
            <a:off x="1371600" y="4023360"/>
            <a:ext cx="9418320" cy="1645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047857"/>
                </a:solidFill>
                <a:latin typeface="Calibri"/>
              </a:defRPr>
            </a:pPr>
            <a:r>
              <a:t>READY FOR LIVE DEMONSTRATION &amp; PROFESSOR Q&amp;A</a:t>
            </a:r>
          </a:p>
          <a:p>
            <a:pPr algn="ctr">
              <a:defRPr sz="1000">
                <a:solidFill>
                  <a:srgbClr val="0F172A"/>
                </a:solidFill>
                <a:latin typeface="Consolas"/>
              </a:defRPr>
            </a:pPr>
            <a:r>
              <a:t>Run Streamlit App:    streamlit run app.py</a:t>
            </a:r>
            <a:br/>
            <a:r>
              <a:t>Generate via CLI:     python generate.py --length 80 --temperature 0.60 --top-k 5 --seed 42</a:t>
            </a:r>
            <a:br/>
            <a:r>
              <a:t>Compare Datasets:     python play_sample.py --mode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