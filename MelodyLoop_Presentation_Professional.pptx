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TALK:</a:t>
            </a:r>
          </a:p>
          <a:p>
            <a:r>
              <a:t>Good morning, Professor and members of the evaluation committee. Today, I am presenting MelodyLoop, an end-to-end deep learning engineering project focused on symbolic piano music generation using a custom Long Short-Term Memory network.</a:t>
            </a:r>
          </a:p>
          <a:p/>
          <a:p>
            <a:r>
              <a:t>CORE IDEA:</a:t>
            </a:r>
          </a:p>
          <a:p>
            <a:r>
              <a:t>Rather than treating music as unstructured raw audio waveforms or static images, MelodyLoop formulates music as a discrete temporal sequence of structured musical events. The system trains an LSTM neural network from scratch on over 5.6 million note events extracted from 962 professional piano performances from Google Magenta's MAESTRO dataset.</a:t>
            </a:r>
          </a:p>
          <a:p/>
          <a:p>
            <a:r>
              <a:t>KEY ENGINEERING MILESTONES:</a:t>
            </a:r>
          </a:p>
          <a:p>
            <a:r>
              <a:t>- Scaled training across the entire official MAESTRO training split (962 performances, 100,000 sequences).</a:t>
            </a:r>
          </a:p>
          <a:p>
            <a:r>
              <a:t>- Designed a compact uint8 tensor representation reducing RAM overhead by 8x on consumer hardware.</a:t>
            </a:r>
          </a:p>
          <a:p>
            <a:r>
              <a:t>- Implemented multi-task prediction heads for pitch, duration, and time step, achieving a best validation loss of 5.9151 at epoch 7.</a:t>
            </a:r>
          </a:p>
          <a:p>
            <a:r>
              <a:t>- Built an interactive Streamlit web dashboard with local additive harmonic synthesis for immediate audio evaluation.</a:t>
            </a:r>
          </a:p>
          <a:p/>
          <a:p>
            <a:r>
              <a:t>TRANSITION:</a:t>
            </a:r>
          </a:p>
          <a:p>
            <a:r>
              <a:t>Let us begin with the formal problem statement and our engineering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Here we define why symbolic music generation is an ideal sequence-modeling task and specify the exact engineering goals of MelodyLoop.</a:t>
            </a:r>
          </a:p>
          <a:p/>
          <a:p>
            <a:r>
              <a:t>TECHNICAL EXPLANATION:</a:t>
            </a:r>
          </a:p>
          <a:p>
            <a:r>
              <a:t>Music is inherently temporal and hierarchical. Unlike natural language processing where tokens are words or subwords, musical events have simultaneous attributes: which key is pressed (pitch), how long it is sustained (duration), and the temporal gap until the next event begins (step time).</a:t>
            </a:r>
          </a:p>
          <a:p>
            <a:r>
              <a:t>If you predict only pitch, you lose rhythm and tempo completely. If you model raw waveform audio directly, 10 seconds of CD audio equals 441,000 samples, which creates prohibitive computational demands for educational sequence models. Symbolic event modeling provides the optimal balance of structured expressiveness and computational tractability.</a:t>
            </a:r>
          </a:p>
          <a:p/>
          <a:p>
            <a:r>
              <a:t>TRANSITION:</a:t>
            </a:r>
          </a:p>
          <a:p>
            <a:r>
              <a:t>Now let us examine the complete end-to-end system architecture that implements this pipeline.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This slide presents the entire MelodyLoop architecture from raw dataset to final playable audio.</a:t>
            </a:r>
          </a:p>
          <a:p/>
          <a:p>
            <a:r>
              <a:t>TECHNICAL BREAKDOWN:</a:t>
            </a:r>
          </a:p>
          <a:p>
            <a:r>
              <a:t>The system operates in three decoupled, production-grade phases:</a:t>
            </a:r>
          </a:p>
          <a:p>
            <a:r>
              <a:t>1. Ingestion Phase: Handled by melodyloop/data.py. Reads MAESTRO MIDI files, extracts Note On/Off chronological events, quantizes durations and steps, and prepares bounded uint8 PyTorch Datasets.</a:t>
            </a:r>
          </a:p>
          <a:p>
            <a:r>
              <a:t>2. Training Phase: Handled by train.py and melodyloop/model.py. Trains the 167k-parameter LSTM across 100,000 sequence batches, monitoring validation loss after every epoch and saving the best checkpoint.</a:t>
            </a:r>
          </a:p>
          <a:p>
            <a:r>
              <a:t>3. Inference &amp; Synthesis Phase: Handled by melodyloop/generation.py and audio.py. The model takes a seed buffer, iteratively samples successive notes, exports a standard MIDI file, and synthesizes a WAV preview using NumPy/SciPy.</a:t>
            </a:r>
          </a:p>
          <a:p/>
          <a:p>
            <a:r>
              <a:t>TRANSITION:</a:t>
            </a:r>
          </a:p>
          <a:p>
            <a:r>
              <a:t>Let us examine how acoustic piano notes are translated into numerical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Explaining how a physical acoustic piano translates mathematically into discrete MIDI integers.</a:t>
            </a:r>
          </a:p>
          <a:p/>
          <a:p>
            <a:r>
              <a:t>KEY POINTS TO EMPHASIZE:</a:t>
            </a:r>
          </a:p>
          <a:p>
            <a:r>
              <a:t>- A physical piano has 88 keys, spanning from A0 (MIDI 21) at 27.5 Hz to C8 (MIDI 108) at 4186 Hz.</a:t>
            </a:r>
          </a:p>
          <a:p>
            <a:r>
              <a:t>- The MIDI protocol provides 128 discrete integer pitch values (0 through 127). Pitches 0–20 and 109–127 are beyond the physical acoustic keyboard but represent valid MIDI note numbers.</a:t>
            </a:r>
          </a:p>
          <a:p>
            <a:r>
              <a:t>- In Western 12-tone equal temperament, an octave represents a doubling of frequency (12 semitones). The pitch formula is f = 440 * 2^((p-69)/12).</a:t>
            </a:r>
          </a:p>
          <a:p>
            <a:r>
              <a:t>- In MelodyLoop, Middle C (C4) has integer index 60, and Concert A (A4) has index 69.</a:t>
            </a:r>
          </a:p>
          <a:p/>
          <a:p>
            <a:r>
              <a:t>TRANSITION:</a:t>
            </a:r>
          </a:p>
          <a:p>
            <a:r>
              <a:t>Now let us clarify why symbolic MIDI instructions differ fundamentally from audio waveforms.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Clarifying the fundamental technical distinction between symbolic musical tokens and continuous acoustic sound.</a:t>
            </a:r>
          </a:p>
          <a:p/>
          <a:p>
            <a:r>
              <a:t>TECHNICAL ARGUMENT:</a:t>
            </a:r>
          </a:p>
          <a:p>
            <a:r>
              <a:t>A common misconception among beginner evaluators is asking: 'Does your neural network generate MP3 or WAV directly?'</a:t>
            </a:r>
          </a:p>
          <a:p>
            <a:r>
              <a:t>The answer is NO. The neural network predicts discrete symbolic tokens (which key, what duration, what gap). A MIDI file contains only musical instructions, similar to sheet music for a computer player.</a:t>
            </a:r>
          </a:p>
          <a:p>
            <a:r>
              <a:t>Sound only exists when those instructions pass into an audio synthesizer. In MelodyLoop, audio is rendered by our additive synthesizer in melodyloop/audio.py, converting tokens into 44.1 kHz PCM waveforms.</a:t>
            </a:r>
          </a:p>
          <a:p/>
          <a:p>
            <a:r>
              <a:t>TRANSITION:</a:t>
            </a:r>
          </a:p>
          <a:p>
            <a:r>
              <a:t>Let us examine the MAESTRO dataset used to train this network.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Presenting the official MAESTRO v3.0.0 dataset and proving zero data leakage across training, validation, and test splits.</a:t>
            </a:r>
          </a:p>
          <a:p/>
          <a:p>
            <a:r>
              <a:t>TECHNICAL DETAILS:</a:t>
            </a:r>
          </a:p>
          <a:p>
            <a:r>
              <a:t>- MAESTRO (MIDI and Audio Edited for Synchronous TRacks and Organization) was created by Google Magenta.</a:t>
            </a:r>
          </a:p>
          <a:p>
            <a:r>
              <a:t>- Crucially, these are live performances captured by optical sensors on Yamaha Disklavier pianos, capturing real expressive human dynamics.</a:t>
            </a:r>
          </a:p>
          <a:p>
            <a:r>
              <a:t>- We verified every single file against maestro-v3.0.0.csv: exactly 962 train, 137 validation, and 177 test performances.</a:t>
            </a:r>
          </a:p>
          <a:p>
            <a:r>
              <a:t>- Training sequences are extracted exclusively from the training split. Validation sequences are never leaked into training, and test sequences are strictly held out for final evaluation.</a:t>
            </a:r>
          </a:p>
          <a:p/>
          <a:p>
            <a:r>
              <a:t>TRANSITION:</a:t>
            </a:r>
          </a:p>
          <a:p>
            <a:r>
              <a:t>Let us examine the empirical scaling experiment: how we expanded from the baseline 13 files to all 962 performances.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Explaining why the baseline model only trained on 13 files and detailing the architectural fix that scaled training across all 962 performances.</a:t>
            </a:r>
          </a:p>
          <a:p/>
          <a:p>
            <a:r>
              <a:t>VIVA QUESTION READINESS:</a:t>
            </a:r>
          </a:p>
          <a:p>
            <a:r>
              <a:t>Professor: 'Why did your baseline only train on 13 files?'</a:t>
            </a:r>
          </a:p>
          <a:p>
            <a:r>
              <a:t>Answer:</a:t>
            </a:r>
          </a:p>
          <a:p>
            <a:r>
              <a:t>In the original data.py, there was a break statement: 'if total_sequences &gt;= 15000: break'. Because long virtuosic classical performances yield over 1,500 sequences per file, the threshold was triggered after just 13 performances. The model memorized a tiny subset of composers.</a:t>
            </a:r>
          </a:p>
          <a:p>
            <a:r>
              <a:t>We completely restructured data.py to proportionally extract sequences from all 962 performances, scaling note events from 64k to 5.66 million while keeping RAM footprint compact via uint8 tensors.</a:t>
            </a:r>
          </a:p>
          <a:p/>
          <a:p>
            <a:r>
              <a:t>TRANSITION:</a:t>
            </a:r>
          </a:p>
          <a:p>
            <a:r>
              <a:t>Now let us examine the data preprocessing pipeline from raw MIDI to training tensors.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Explaining the 4-step preprocessing pipeline and the quantization mathematics that map continuous physical timings into discrete neural tokens.</a:t>
            </a:r>
          </a:p>
          <a:p/>
          <a:p>
            <a:r>
              <a:t>TECHNICAL DETAILS:</a:t>
            </a:r>
          </a:p>
          <a:p>
            <a:r>
              <a:t>Why 32 bins?</a:t>
            </a:r>
          </a:p>
          <a:p>
            <a:r>
              <a:t>If you use continuous floating-point numbers directly in an RNN, the network struggles with regression loss landscape instability and error compounding.</a:t>
            </a:r>
          </a:p>
          <a:p>
            <a:r>
              <a:t>By quantizing continuous time into 32 discrete bins, we convert regression into classification. Softmax over 32 bins allows the model to capture multi-modal timing patterns (e.g., either an eighth note or a quarter note, never an arbitrary irrational duration).</a:t>
            </a:r>
          </a:p>
          <a:p/>
          <a:p>
            <a:r>
              <a:t>TRANSITION:</a:t>
            </a:r>
          </a:p>
          <a:p>
            <a:r>
              <a:t>Now let us see how these token tuples are assembled into sliding sequence windows.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Explaining how chronologically ordered note events are sliced into input windows and multi-task prediction targets.</a:t>
            </a:r>
          </a:p>
          <a:p/>
          <a:p>
            <a:r>
              <a:t>KEY ARCHITECTURAL DECISIONS:</a:t>
            </a:r>
          </a:p>
          <a:p>
            <a:r>
              <a:t>- Sequence Length = 32 notes: This corresponds to approximately 8 to 12 seconds of musical performance, giving sufficient melodic context to establish key, chord progression, and rhythmic meter.</a:t>
            </a:r>
          </a:p>
          <a:p>
            <a:r>
              <a:t>- Stride = 4 notes: We slide the window by 4 notes rather than 1 to prevent severe correlation between adjacent training samples and keep dataset size bounded.</a:t>
            </a:r>
          </a:p>
          <a:p>
            <a:r>
              <a:t>- Multi-task target: Target Y contains pitch, duration, and step. The model must learn not only which note to strike next, but how long to hold it and when the subsequent note will begin.</a:t>
            </a:r>
          </a:p>
          <a:p/>
          <a:p>
            <a:r>
              <a:t>TRANSITION:</a:t>
            </a:r>
          </a:p>
          <a:p>
            <a:r>
              <a:t>Now let us examine why an LSTM architecture is specifically chosen to model these sequential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A rigorous theoretical comparison showing why an LSTM is required for musical sequence modeling over feedforward or vanilla RNN networks.</a:t>
            </a:r>
          </a:p>
          <a:p/>
          <a:p>
            <a:r>
              <a:t>VIVA QUESTION READINESS:</a:t>
            </a:r>
          </a:p>
          <a:p>
            <a:r>
              <a:t>If the professor asks: 'Why not use a standard RNN or a Transformer?'</a:t>
            </a:r>
          </a:p>
          <a:p>
            <a:r>
              <a:t>Answer:</a:t>
            </a:r>
          </a:p>
          <a:p>
            <a:r>
              <a:t>1. Compared to Vanilla RNN: Standard RNNs suffer from vanishing gradients. In backpropagation through time (BPTT), the derivative of h_t with respect to h_0 involves repeated matrix multiplications by W. Since the derivative of tanh is bounded by 1, the gradient exponentially shrinks to zero after 5 to 8 time steps. The RNN forgets the key and rhythm.</a:t>
            </a:r>
          </a:p>
          <a:p>
            <a:r>
              <a:t>2. The LSTM solution: The cell state C_t is updated additively (C_t = f_t * C_(t-1) + i_t * C~_t). The gradient can flow unimpeded backward through time without exponential decay—the 'constant error carousel'.</a:t>
            </a:r>
          </a:p>
          <a:p>
            <a:r>
              <a:t>3. Compared to Transformer: Transformers are state-of-the-art for massive billion-parameter models, but an educational LSTM (167k parameters) trains from scratch in minutes on a laptop GPU without requiring multi-gigabyte pretrained weights.</a:t>
            </a:r>
          </a:p>
          <a:p/>
          <a:p>
            <a:r>
              <a:t>TRANSITION:</a:t>
            </a:r>
          </a:p>
          <a:p>
            <a:r>
              <a:t>Now let us examine the internal anatomy of an LSTM cell and its mathematical gates.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Walking through the mathematical mechanics of the four internal operations in an LSTM cell.</a:t>
            </a:r>
          </a:p>
          <a:p/>
          <a:p>
            <a:r>
              <a:t>WALKTHROUGH OF THE DIAGRAM:</a:t>
            </a:r>
          </a:p>
          <a:p>
            <a:r>
              <a:t>1. Forget Gate f_t: Uses sigmoid activation. If f_t is close to 0, it tells the cell to forget previous information (such as when a musical phrase ends or modulation occurs). If f_t is close to 1, it preserves the information.</a:t>
            </a:r>
          </a:p>
          <a:p>
            <a:r>
              <a:t>2. Input Gate i_t &amp; Candidate C~_t: The input gate decides whether new information is important, while the tanh candidate generates new potential values.</a:t>
            </a:r>
          </a:p>
          <a:p>
            <a:r>
              <a:t>3. Cell State Update C_t: C_t = f_t * C_(t-1) + i_t * C~_t. Notice this is an element-wise addition! This linear additive update is the exact mathematical reason gradients do not vanish during BPTT.</a:t>
            </a:r>
          </a:p>
          <a:p>
            <a:r>
              <a:t>4. Output Gate o_t: Decides which parts of the cell state C_t to expose in the hidden state h_t, which is then fed into our three prediction heads.</a:t>
            </a:r>
          </a:p>
          <a:p/>
          <a:p>
            <a:r>
              <a:t>TRANSITION:</a:t>
            </a:r>
          </a:p>
          <a:p>
            <a:r>
              <a:t>Now let us examine how this LSTM cell is integrated into the actual MelodyLoop network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Presenting the verified PyTorch architecture implemented in melodyloop/model.py.</a:t>
            </a:r>
          </a:p>
          <a:p/>
          <a:p>
            <a:r>
              <a:t>PARAMETER BREAKDOWN PROOF:</a:t>
            </a:r>
          </a:p>
          <a:p>
            <a:r>
              <a:t>Let us verify the exact 167,104 parameter count:</a:t>
            </a:r>
          </a:p>
          <a:p>
            <a:r>
              <a:t>1. Embeddings: 128*64 (pitch) + 32*32 (duration) + 32*32 (step) = 8,192 + 1,024 + 1,024 = 10,240 parameters.</a:t>
            </a:r>
          </a:p>
          <a:p>
            <a:r>
              <a:t>2. LSTM Layer: An LSTM has 4 gates (forget, input, candidate, output). Each gate has weight matrices for input x (128*128), hidden h (128*128), and 2 bias vectors (128 each). 4 * (16384 + 16384 + 256) = 132,096 parameters.</a:t>
            </a:r>
          </a:p>
          <a:p>
            <a:r>
              <a:t>3. Prediction Heads: Pitch head is Linear(128-&gt;128): 128*128 + 128 = 16,512. Duration head is Linear(128-&gt;32): 128*32 + 32 = 4,128. Step head is Linear(128-&gt;32): 128*32 + 32 = 4,128. Sum of heads = 24,768 parameters.</a:t>
            </a:r>
          </a:p>
          <a:p>
            <a:r>
              <a:t>Total Parameters = 10,240 + 132,096 + 24,768 = 167,104 trainable parameters.</a:t>
            </a:r>
          </a:p>
          <a:p>
            <a:r>
              <a:t>Verified by test_model_parameter_count.</a:t>
            </a:r>
          </a:p>
          <a:p/>
          <a:p>
            <a:r>
              <a:t>TRANSITION:</a:t>
            </a:r>
          </a:p>
          <a:p>
            <a:r>
              <a:t>Now let us examine how the network optimizes these 167k parameters during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Detailing the optimization cycle, gradient clipping, loss formulation, and hardware execution parameters.</a:t>
            </a:r>
          </a:p>
          <a:p/>
          <a:p>
            <a:r>
              <a:t>KEY CONCEPTS:</a:t>
            </a:r>
          </a:p>
          <a:p>
            <a:r>
              <a:t>- Joint Multi-Task Loss: Pitch, duration, and step time each have distinct classification distributions. Cross-entropy measures the negative log-likelihood of the ground-truth token. We sum all three equally.</a:t>
            </a:r>
          </a:p>
          <a:p>
            <a:r>
              <a:t>- Gradient Clipping: Because recurrent networks involve repeated matrix products, sudden large gradients can destabilize training. We enforce a hard norm clip of 1.0 using clip_grad_norm_.</a:t>
            </a:r>
          </a:p>
          <a:p>
            <a:r>
              <a:t>- Hardware Efficiency: On our laptop RTX 3050 GPU, the model achieves 91 batches per second, running an entire 100,000-sequence epoch in only 17.2 seconds.</a:t>
            </a:r>
          </a:p>
          <a:p/>
          <a:p>
            <a:r>
              <a:t>TRANSITION:</a:t>
            </a:r>
          </a:p>
          <a:p>
            <a:r>
              <a:t>Let us examine the empirical training loss curves and why early stopping selected epoch 7 as our best checkpoint.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Analyzing the actual epoch-by-epoch training history recorded in artifacts/logs/training_expanded.log.</a:t>
            </a:r>
          </a:p>
          <a:p/>
          <a:p>
            <a:r>
              <a:t>SCIENTIFIC OBSERVATION:</a:t>
            </a:r>
          </a:p>
          <a:p>
            <a:r>
              <a:t>Notice the classic divergence between training loss and validation loss:</a:t>
            </a:r>
          </a:p>
          <a:p>
            <a:r>
              <a:t>- From Epoch 1 to Epoch 7, both training loss and validation loss drop rapidly (train loss from 6.328 to 5.276, validation loss from 6.239 to 5.915).</a:t>
            </a:r>
          </a:p>
          <a:p>
            <a:r>
              <a:t>- After Epoch 7, training loss continues to fall steadily down to 4.912 at Epoch 15. However, validation loss ceases improving and begins a slight upward drift (5.918 -&gt; 5.957 -&gt; 6.038).</a:t>
            </a:r>
          </a:p>
          <a:p>
            <a:r>
              <a:t>- This divergence demonstrates classic over-parameterization and memorization of training sequences. Because our trainer implemented early stopping with a patience of 8 epochs, training halted automatically at epoch 15.</a:t>
            </a:r>
          </a:p>
          <a:p>
            <a:r>
              <a:t>- The best model saved on disk is strictly the epoch 7 checkpoint (val loss 5.9151), completely preventing overfitted weights from being deployed.</a:t>
            </a:r>
          </a:p>
          <a:p/>
          <a:p>
            <a:r>
              <a:t>TRANSITION:</a:t>
            </a:r>
          </a:p>
          <a:p>
            <a:r>
              <a:t>Let us examine how checkpoints are serialized and preserved on disk.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Explaining how model weights, optimizer states, and configuration metadata are serialized into PyTorch .pt binaries.</a:t>
            </a:r>
          </a:p>
          <a:p/>
          <a:p>
            <a:r>
              <a:t>KEY ENGINEERING PRACTICES:</a:t>
            </a:r>
          </a:p>
          <a:p>
            <a:r>
              <a:t>- Never overwrite working baselines: We explicitly backed up the original baseline checkpoint to best_model_v1_baseline.pt so we can run direct side-by-side musical comparisons.</a:t>
            </a:r>
          </a:p>
          <a:p>
            <a:r>
              <a:t>- Self-contained configuration: The checkpoint dictionary stores the exact hyperparameters used during training. When app.py or generate.py loads the checkpoint, it reads hidden_dim directly from the file, preventing architectural mismatch exceptions.</a:t>
            </a:r>
          </a:p>
          <a:p>
            <a:r>
              <a:t>- State restoration: The script train.py --resume automatically restores both model weights and the Adam optimizer's internal momentum states, enabling training to pick up exactly where it was interrupted.</a:t>
            </a:r>
          </a:p>
          <a:p/>
          <a:p>
            <a:r>
              <a:t>TRANSITION:</a:t>
            </a:r>
          </a:p>
          <a:p>
            <a:r>
              <a:t>Now let us examine how the trained model autoregressively generates new musical compositions.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Explaining the mathematical mechanics of autoregressive generation and stochastic sampling controls.</a:t>
            </a:r>
          </a:p>
          <a:p/>
          <a:p>
            <a:r>
              <a:t>TECHNICAL BREAKDOWN:</a:t>
            </a:r>
          </a:p>
          <a:p>
            <a:r>
              <a:t>How Autoregression Works:</a:t>
            </a:r>
          </a:p>
          <a:p>
            <a:r>
              <a:t>1. The model receives a rolling context window of 32 note events.</a:t>
            </a:r>
          </a:p>
          <a:p>
            <a:r>
              <a:t>2. The model outputs unnormalized logits for pitch, duration, and step.</a:t>
            </a:r>
          </a:p>
          <a:p>
            <a:r>
              <a:t>3. Sampling with Temperature: Instead of greedily picking the argmax (which causes the network to loop the exact same note repeatedly), we divide logits by temperature T and apply Softmax.</a:t>
            </a:r>
          </a:p>
          <a:p>
            <a:r>
              <a:t>4. Top-K Filtering: Greedily sampling from the full 128 pitch vocabulary risks picking extreme low-probability notes (e.g. jumping from pitch 60 to pitch 120). By filtering for only the Top-K=5 candidates, we guarantee that every sampled note is among the model's top 5 most confident musical hypotheses.</a:t>
            </a:r>
          </a:p>
          <a:p>
            <a:r>
              <a:t>5. Rolling Update: The sampled note is appended to the buffer, the oldest note is evicted, and the loop repeats for N notes.</a:t>
            </a:r>
          </a:p>
          <a:p/>
          <a:p>
            <a:r>
              <a:t>TRANSITION:</a:t>
            </a:r>
          </a:p>
          <a:p>
            <a:r>
              <a:t>Now let us see how these discrete tokens are rendered into playable sound.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CONCEPT:</a:t>
            </a:r>
          </a:p>
          <a:p>
            <a:r>
              <a:t>Explaining the physics and DSP mathematics behind converting discrete tokens into 44.1 kHz WAV audio.</a:t>
            </a:r>
          </a:p>
          <a:p/>
          <a:p>
            <a:r>
              <a:t>TECHNICAL DETAILS:</a:t>
            </a:r>
          </a:p>
          <a:p>
            <a:r>
              <a:t>- Pure sine waves sound like synthetic telephone test tones, not piano notes.</a:t>
            </a:r>
          </a:p>
          <a:p>
            <a:r>
              <a:t>- An acoustic piano string vibrates in multiple modes: the fundamental frequency f0, plus integer harmonics 2*f0, 3*f0, etc. In melodyloop/audio.py, we implement additive synthesis: 60% energy in the fundamental, 25% in the second harmonic (octave), and 15% in the third harmonic (fifth).</a:t>
            </a:r>
          </a:p>
          <a:p>
            <a:r>
              <a:t>- Amplitude Envelope: In an acoustic piano, when the hammer strikes the string, amplitude peaks instantly and decays exponentially. We multiply the composite wave by exp(-3.0 * t / duration), with a 5 millisecond attack and 10 millisecond release to eliminate boundary clicking.</a:t>
            </a:r>
          </a:p>
          <a:p>
            <a:r>
              <a:t>- This entire DSP pipeline is self-contained in pure NumPy and SciPy—requiring zero external soundfonts or third-party audio drivers.</a:t>
            </a:r>
          </a:p>
          <a:p/>
          <a:p>
            <a:r>
              <a:t>CLOSING SUMMARY:</a:t>
            </a:r>
          </a:p>
          <a:p>
            <a:r>
              <a:t>MelodyLoop demonstrates how an LSTM trained on symbolic performance data learns rhythmic and melodic patterns, serialized into verifiable checkpoints, and synthesized into playable music in real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109728" cy="3840480"/>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10058400" cy="2377440"/>
          </a:xfrm>
          <a:prstGeom prst="rect">
            <a:avLst/>
          </a:prstGeom>
          <a:noFill/>
        </p:spPr>
        <p:txBody>
          <a:bodyPr wrap="square">
            <a:spAutoFit/>
          </a:bodyPr>
          <a:lstStyle/>
          <a:p>
            <a:pPr>
              <a:defRPr sz="5000" b="1">
                <a:solidFill>
                  <a:srgbClr val="FFFFFF"/>
                </a:solidFill>
                <a:latin typeface="Segoe UI"/>
              </a:defRPr>
            </a:pPr>
            <a:r>
              <a:t>MelodyLoop</a:t>
            </a:r>
          </a:p>
          <a:p>
            <a:pPr>
              <a:spcBef>
                <a:spcPts val="800"/>
              </a:spcBef>
              <a:defRPr sz="2600" b="1">
                <a:solidFill>
                  <a:srgbClr val="26D9F1"/>
                </a:solidFill>
                <a:latin typeface="Segoe UI"/>
              </a:defRPr>
            </a:pPr>
            <a:r>
              <a:t>LSTM-Based Sequential Piano Music Generation</a:t>
            </a:r>
          </a:p>
          <a:p>
            <a:pPr>
              <a:spcBef>
                <a:spcPts val="1200"/>
              </a:spcBef>
              <a:defRPr sz="1500">
                <a:solidFill>
                  <a:srgbClr val="E2E8F0"/>
                </a:solidFill>
                <a:latin typeface="Segoe UI"/>
              </a:defRPr>
            </a:pPr>
            <a:r>
              <a:t>A Deep-Learning Framework for Discrete Symbolic Event Modeling, Multi-Task Next-Note Prediction, and Controllable Audio Synthesis</a:t>
            </a:r>
          </a:p>
        </p:txBody>
      </p:sp>
      <p:sp>
        <p:nvSpPr>
          <p:cNvPr id="5" name="Rounded Rectangle 4"/>
          <p:cNvSpPr/>
          <p:nvPr/>
        </p:nvSpPr>
        <p:spPr>
          <a:xfrm>
            <a:off x="1097280" y="3931920"/>
            <a:ext cx="2377440" cy="11887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4023359"/>
            <a:ext cx="2194560" cy="1005840"/>
          </a:xfrm>
          <a:prstGeom prst="rect">
            <a:avLst/>
          </a:prstGeom>
          <a:noFill/>
        </p:spPr>
        <p:txBody>
          <a:bodyPr wrap="square" lIns="0" rIns="0" tIns="0" bIns="0">
            <a:spAutoFit/>
          </a:bodyPr>
          <a:lstStyle/>
          <a:p>
            <a:pPr>
              <a:defRPr sz="2400" b="1">
                <a:solidFill>
                  <a:srgbClr val="26D9F1"/>
                </a:solidFill>
                <a:latin typeface="Segoe UI"/>
              </a:defRPr>
            </a:pPr>
            <a:r>
              <a:t>962 Pieces</a:t>
            </a:r>
          </a:p>
          <a:p>
            <a:pPr>
              <a:spcBef>
                <a:spcPts val="400"/>
              </a:spcBef>
              <a:defRPr sz="1200">
                <a:solidFill>
                  <a:srgbClr val="E2E8F0"/>
                </a:solidFill>
                <a:latin typeface="Segoe UI"/>
              </a:defRPr>
            </a:pPr>
            <a:r>
              <a:t>MAESTRO v3.0 Corpus</a:t>
            </a:r>
          </a:p>
        </p:txBody>
      </p:sp>
      <p:sp>
        <p:nvSpPr>
          <p:cNvPr id="7" name="Rounded Rectangle 6"/>
          <p:cNvSpPr/>
          <p:nvPr/>
        </p:nvSpPr>
        <p:spPr>
          <a:xfrm>
            <a:off x="3657600" y="3931920"/>
            <a:ext cx="2377440" cy="11887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39" y="4023359"/>
            <a:ext cx="2194560" cy="1005840"/>
          </a:xfrm>
          <a:prstGeom prst="rect">
            <a:avLst/>
          </a:prstGeom>
          <a:noFill/>
        </p:spPr>
        <p:txBody>
          <a:bodyPr wrap="square" lIns="0" rIns="0" tIns="0" bIns="0">
            <a:spAutoFit/>
          </a:bodyPr>
          <a:lstStyle/>
          <a:p>
            <a:pPr>
              <a:defRPr sz="2400" b="1">
                <a:solidFill>
                  <a:srgbClr val="FFC857"/>
                </a:solidFill>
                <a:latin typeface="Segoe UI"/>
              </a:defRPr>
            </a:pPr>
            <a:r>
              <a:t>5.66M Notes</a:t>
            </a:r>
          </a:p>
          <a:p>
            <a:pPr>
              <a:spcBef>
                <a:spcPts val="400"/>
              </a:spcBef>
              <a:defRPr sz="1200">
                <a:solidFill>
                  <a:srgbClr val="E2E8F0"/>
                </a:solidFill>
                <a:latin typeface="Segoe UI"/>
              </a:defRPr>
            </a:pPr>
            <a:r>
              <a:t>Chronological Events</a:t>
            </a:r>
          </a:p>
        </p:txBody>
      </p:sp>
      <p:sp>
        <p:nvSpPr>
          <p:cNvPr id="9" name="Rounded Rectangle 8"/>
          <p:cNvSpPr/>
          <p:nvPr/>
        </p:nvSpPr>
        <p:spPr>
          <a:xfrm>
            <a:off x="6217920" y="3931920"/>
            <a:ext cx="2377440" cy="11887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023359"/>
            <a:ext cx="2194560" cy="1005840"/>
          </a:xfrm>
          <a:prstGeom prst="rect">
            <a:avLst/>
          </a:prstGeom>
          <a:noFill/>
        </p:spPr>
        <p:txBody>
          <a:bodyPr wrap="square" lIns="0" rIns="0" tIns="0" bIns="0">
            <a:spAutoFit/>
          </a:bodyPr>
          <a:lstStyle/>
          <a:p>
            <a:pPr>
              <a:defRPr sz="2400" b="1">
                <a:solidFill>
                  <a:srgbClr val="FFFFFF"/>
                </a:solidFill>
                <a:latin typeface="Segoe UI"/>
              </a:defRPr>
            </a:pPr>
            <a:r>
              <a:t>167k Params</a:t>
            </a:r>
          </a:p>
          <a:p>
            <a:pPr>
              <a:spcBef>
                <a:spcPts val="400"/>
              </a:spcBef>
              <a:defRPr sz="1200">
                <a:solidFill>
                  <a:srgbClr val="E2E8F0"/>
                </a:solidFill>
                <a:latin typeface="Segoe UI"/>
              </a:defRPr>
            </a:pPr>
            <a:r>
              <a:t>Multi-Head LSTM</a:t>
            </a:r>
          </a:p>
        </p:txBody>
      </p:sp>
      <p:sp>
        <p:nvSpPr>
          <p:cNvPr id="11" name="Rounded Rectangle 10"/>
          <p:cNvSpPr/>
          <p:nvPr/>
        </p:nvSpPr>
        <p:spPr>
          <a:xfrm>
            <a:off x="8778239" y="3931920"/>
            <a:ext cx="2377440" cy="11887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79" y="4023359"/>
            <a:ext cx="2194560" cy="1005840"/>
          </a:xfrm>
          <a:prstGeom prst="rect">
            <a:avLst/>
          </a:prstGeom>
          <a:noFill/>
        </p:spPr>
        <p:txBody>
          <a:bodyPr wrap="square" lIns="0" rIns="0" tIns="0" bIns="0">
            <a:spAutoFit/>
          </a:bodyPr>
          <a:lstStyle/>
          <a:p>
            <a:pPr>
              <a:defRPr sz="2400" b="1">
                <a:solidFill>
                  <a:srgbClr val="22C55E"/>
                </a:solidFill>
                <a:latin typeface="Segoe UI"/>
              </a:defRPr>
            </a:pPr>
            <a:r>
              <a:t>Val: 5.9151</a:t>
            </a:r>
          </a:p>
          <a:p>
            <a:pPr>
              <a:spcBef>
                <a:spcPts val="400"/>
              </a:spcBef>
              <a:defRPr sz="1200">
                <a:solidFill>
                  <a:srgbClr val="E2E8F0"/>
                </a:solidFill>
                <a:latin typeface="Segoe UI"/>
              </a:defRPr>
            </a:pPr>
            <a:r>
              <a:t>Epoch 7 Best Checkpoint</a:t>
            </a:r>
          </a:p>
        </p:txBody>
      </p:sp>
      <p:sp>
        <p:nvSpPr>
          <p:cNvPr id="13" name="TextBox 12"/>
          <p:cNvSpPr txBox="1"/>
          <p:nvPr/>
        </p:nvSpPr>
        <p:spPr>
          <a:xfrm>
            <a:off x="1097280" y="5486400"/>
            <a:ext cx="10058400" cy="822960"/>
          </a:xfrm>
          <a:prstGeom prst="rect">
            <a:avLst/>
          </a:prstGeom>
          <a:noFill/>
        </p:spPr>
        <p:txBody>
          <a:bodyPr wrap="none">
            <a:spAutoFit/>
          </a:bodyPr>
          <a:lstStyle/>
          <a:p>
            <a:pPr>
              <a:defRPr sz="1250">
                <a:solidFill>
                  <a:srgbClr val="FFFFFF"/>
                </a:solidFill>
                <a:latin typeface="Segoe UI"/>
              </a:defRPr>
            </a:pPr>
            <a:r>
              <a:t>Academic Project Defense | NLP &amp; Deep Sequence Modeling | PyTorch Implementation</a:t>
            </a:r>
          </a:p>
          <a:p>
            <a:pPr>
              <a:spcBef>
                <a:spcPts val="400"/>
              </a:spcBef>
              <a:defRPr sz="1150">
                <a:solidFill>
                  <a:srgbClr val="E2E8F0"/>
                </a:solidFill>
                <a:latin typeface="Segoe UI"/>
              </a:defRPr>
            </a:pPr>
            <a:r>
              <a:t>Repository: https://github.com/Pankaj-Jhajhria/Music-Generation-using-LSTM-MelodyLoop-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Problem Formulation &amp; Engineering Objectives</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sp>
        <p:nvSpPr>
          <p:cNvPr id="6" name="Rounded Rectangle 5"/>
          <p:cNvSpPr/>
          <p:nvPr/>
        </p:nvSpPr>
        <p:spPr>
          <a:xfrm>
            <a:off x="731520" y="1371600"/>
            <a:ext cx="5212080" cy="48463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754880" cy="4480560"/>
          </a:xfrm>
          <a:prstGeom prst="rect">
            <a:avLst/>
          </a:prstGeom>
          <a:noFill/>
        </p:spPr>
        <p:txBody>
          <a:bodyPr wrap="square">
            <a:spAutoFit/>
          </a:bodyPr>
          <a:lstStyle/>
          <a:p>
            <a:pPr>
              <a:defRPr sz="1600" b="1">
                <a:solidFill>
                  <a:srgbClr val="26D9F1"/>
                </a:solidFill>
              </a:defRPr>
            </a:pPr>
            <a:r>
              <a:t>THE SEQUENCE MODELING PROBLEM</a:t>
            </a:r>
          </a:p>
          <a:p>
            <a:pPr>
              <a:spcBef>
                <a:spcPts val="1200"/>
              </a:spcBef>
            </a:pPr>
            <a:r>
              <a:rPr b="1" sz="1350">
                <a:solidFill>
                  <a:srgbClr val="FFFFFF"/>
                </a:solidFill>
              </a:rPr>
              <a:t>• Temporal Musical Dependencies:</a:t>
            </a:r>
            <a:r>
              <a:rPr sz="1300">
                <a:solidFill>
                  <a:srgbClr val="E2E8F0"/>
                </a:solidFill>
              </a:rPr>
              <a:t> Piano music consists of chronologically ordered note onsets. A note's harmonic and rhythmic meaning depends strictly on prior musical context.</a:t>
            </a:r>
          </a:p>
          <a:p>
            <a:pPr>
              <a:spcBef>
                <a:spcPts val="1200"/>
              </a:spcBef>
            </a:pPr>
            <a:r>
              <a:rPr b="1" sz="1350">
                <a:solidFill>
                  <a:srgbClr val="FFFFFF"/>
                </a:solidFill>
              </a:rPr>
              <a:t>• Multi-Dimensional Event Complexity:</a:t>
            </a:r>
            <a:r>
              <a:rPr sz="1300">
                <a:solidFill>
                  <a:srgbClr val="E2E8F0"/>
                </a:solidFill>
              </a:rPr>
              <a:t> Music cannot be modeled by pitch alone. Each note requires pitch (0–127), duration (how long it rings), and step time (interval until next note onset).</a:t>
            </a:r>
          </a:p>
          <a:p>
            <a:pPr>
              <a:spcBef>
                <a:spcPts val="1200"/>
              </a:spcBef>
            </a:pPr>
            <a:r>
              <a:rPr b="1" sz="1350">
                <a:solidFill>
                  <a:srgbClr val="FFFFFF"/>
                </a:solidFill>
              </a:rPr>
              <a:t>• Discrete Symbolic vs. Waveform Audio:</a:t>
            </a:r>
            <a:r>
              <a:rPr sz="1300">
                <a:solidFill>
                  <a:srgbClr val="E2E8F0"/>
                </a:solidFill>
              </a:rPr>
              <a:t> Modeling raw 44.1 kHz waveforms requires 44,100 samples/sec, creating intractable context windows. Symbolic modeling captures structure efficiently.</a:t>
            </a:r>
          </a:p>
          <a:p>
            <a:pPr>
              <a:spcBef>
                <a:spcPts val="1200"/>
              </a:spcBef>
            </a:pPr>
            <a:r>
              <a:rPr b="1" sz="1350">
                <a:solidFill>
                  <a:srgbClr val="FFFFFF"/>
                </a:solidFill>
              </a:rPr>
              <a:t>• Autoregressive Generation:</a:t>
            </a:r>
            <a:r>
              <a:rPr sz="1300">
                <a:solidFill>
                  <a:srgbClr val="E2E8F0"/>
                </a:solidFill>
              </a:rPr>
              <a:t> Generating continuous coherent music requires iteratively feeding predicted outputs back as inputs without compounding catastrophic drift.</a:t>
            </a:r>
          </a:p>
        </p:txBody>
      </p:sp>
      <p:sp>
        <p:nvSpPr>
          <p:cNvPr id="8" name="Rounded Rectangle 7"/>
          <p:cNvSpPr/>
          <p:nvPr/>
        </p:nvSpPr>
        <p:spPr>
          <a:xfrm>
            <a:off x="6217920" y="1371600"/>
            <a:ext cx="5212080" cy="48463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54480"/>
            <a:ext cx="4754880" cy="4480560"/>
          </a:xfrm>
          <a:prstGeom prst="rect">
            <a:avLst/>
          </a:prstGeom>
          <a:noFill/>
        </p:spPr>
        <p:txBody>
          <a:bodyPr wrap="square">
            <a:spAutoFit/>
          </a:bodyPr>
          <a:lstStyle/>
          <a:p>
            <a:pPr>
              <a:defRPr sz="1600" b="1">
                <a:solidFill>
                  <a:srgbClr val="FFC857"/>
                </a:solidFill>
              </a:defRPr>
            </a:pPr>
            <a:r>
              <a:t>CORE ENGINEERING OBJECTIVES</a:t>
            </a:r>
          </a:p>
          <a:p>
            <a:pPr>
              <a:spcBef>
                <a:spcPts val="1200"/>
              </a:spcBef>
            </a:pPr>
            <a:r>
              <a:rPr b="1" sz="1350">
                <a:solidFill>
                  <a:srgbClr val="FFFFFF"/>
                </a:solidFill>
              </a:rPr>
              <a:t>✓ Full MAESTRO Ingestion:</a:t>
            </a:r>
            <a:r>
              <a:rPr sz="1300">
                <a:solidFill>
                  <a:srgbClr val="E2E8F0"/>
                </a:solidFill>
              </a:rPr>
              <a:t> Build a robust parser in melodyloop/data.py extracting chronological events from Yamaha Disklavier competition performances.</a:t>
            </a:r>
          </a:p>
          <a:p>
            <a:pPr>
              <a:spcBef>
                <a:spcPts val="1200"/>
              </a:spcBef>
            </a:pPr>
            <a:r>
              <a:rPr b="1" sz="1350">
                <a:solidFill>
                  <a:srgbClr val="FFFFFF"/>
                </a:solidFill>
              </a:rPr>
              <a:t>✓ End-to-End PyTorch Network:</a:t>
            </a:r>
            <a:r>
              <a:rPr sz="1300">
                <a:solidFill>
                  <a:srgbClr val="E2E8F0"/>
                </a:solidFill>
              </a:rPr>
              <a:t> Implement MelodyLSTM with parallel token embeddings (pitch, duration, step) and decoupled multi-task prediction heads (167k params).</a:t>
            </a:r>
          </a:p>
          <a:p>
            <a:pPr>
              <a:spcBef>
                <a:spcPts val="1200"/>
              </a:spcBef>
            </a:pPr>
            <a:r>
              <a:rPr b="1" sz="1350">
                <a:solidFill>
                  <a:srgbClr val="FFFFFF"/>
                </a:solidFill>
              </a:rPr>
              <a:t>✓ Overfitting &amp; Checkpoint Control:</a:t>
            </a:r>
            <a:r>
              <a:rPr sz="1300">
                <a:solidFill>
                  <a:srgbClr val="E2E8F0"/>
                </a:solidFill>
              </a:rPr>
              <a:t> Train from scratch with Adam and gradient clipping, selecting the epoch 7 validation minimum (5.9151) via automated early stopping.</a:t>
            </a:r>
          </a:p>
          <a:p>
            <a:pPr>
              <a:spcBef>
                <a:spcPts val="1200"/>
              </a:spcBef>
            </a:pPr>
            <a:r>
              <a:rPr b="1" sz="1350">
                <a:solidFill>
                  <a:srgbClr val="FFFFFF"/>
                </a:solidFill>
              </a:rPr>
              <a:t>✓ Interactive Local Synthesis:</a:t>
            </a:r>
            <a:r>
              <a:rPr sz="1300">
                <a:solidFill>
                  <a:srgbClr val="E2E8F0"/>
                </a:solidFill>
              </a:rPr>
              <a:t> Provide temperature &amp; Top-K sampling with instant DSP additive audio synthesis and MIDI export in a Streamlit web app.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Complete MelodyLoop Architectural Workflow</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end_to_end_flowchart.png"/>
          <p:cNvPicPr>
            <a:picLocks noChangeAspect="1"/>
          </p:cNvPicPr>
          <p:nvPr/>
        </p:nvPicPr>
        <p:blipFill>
          <a:blip r:embed="rId2"/>
          <a:stretch>
            <a:fillRect/>
          </a:stretch>
        </p:blipFill>
        <p:spPr>
          <a:xfrm>
            <a:off x="731520" y="1325880"/>
            <a:ext cx="10728655" cy="3291840"/>
          </a:xfrm>
          <a:prstGeom prst="rect">
            <a:avLst/>
          </a:prstGeom>
        </p:spPr>
      </p:pic>
      <p:sp>
        <p:nvSpPr>
          <p:cNvPr id="7" name="Rounded Rectangle 6"/>
          <p:cNvSpPr/>
          <p:nvPr/>
        </p:nvSpPr>
        <p:spPr>
          <a:xfrm>
            <a:off x="731520" y="4800600"/>
            <a:ext cx="3413455" cy="15544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92040"/>
            <a:ext cx="3139135" cy="1371600"/>
          </a:xfrm>
          <a:prstGeom prst="rect">
            <a:avLst/>
          </a:prstGeom>
          <a:noFill/>
        </p:spPr>
        <p:txBody>
          <a:bodyPr wrap="square" tIns="0" bIns="0" lIns="0" rIns="0">
            <a:spAutoFit/>
          </a:bodyPr>
          <a:lstStyle/>
          <a:p>
            <a:pPr>
              <a:defRPr sz="1400" b="1">
                <a:solidFill>
                  <a:srgbClr val="26D9F1"/>
                </a:solidFill>
              </a:defRPr>
            </a:pPr>
            <a:r>
              <a:t>Phase 1: Ingestion &amp; Quantization</a:t>
            </a:r>
          </a:p>
          <a:p>
            <a:pPr>
              <a:spcBef>
                <a:spcPts val="300"/>
              </a:spcBef>
              <a:defRPr sz="1200" b="1">
                <a:solidFill>
                  <a:srgbClr val="FFFFFF"/>
                </a:solidFill>
              </a:defRPr>
            </a:pPr>
            <a:r>
              <a:t>Module: melodyloop/data.py</a:t>
            </a:r>
          </a:p>
          <a:p>
            <a:pPr>
              <a:spcBef>
                <a:spcPts val="400"/>
              </a:spcBef>
              <a:defRPr sz="1150">
                <a:solidFill>
                  <a:srgbClr val="E2E8F0"/>
                </a:solidFill>
              </a:defRPr>
            </a:pPr>
            <a:r>
              <a:t>Parses raw MIDI via mido, enforces official train/val/test splits, quantizes continuous timing into 32 bins, builds sliding windows, and caches compact uint8 tensors.</a:t>
            </a:r>
          </a:p>
        </p:txBody>
      </p:sp>
      <p:sp>
        <p:nvSpPr>
          <p:cNvPr id="9" name="Rounded Rectangle 8"/>
          <p:cNvSpPr/>
          <p:nvPr/>
        </p:nvSpPr>
        <p:spPr>
          <a:xfrm>
            <a:off x="4389120" y="4800600"/>
            <a:ext cx="3413455" cy="15544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892040"/>
            <a:ext cx="3139135" cy="1371600"/>
          </a:xfrm>
          <a:prstGeom prst="rect">
            <a:avLst/>
          </a:prstGeom>
          <a:noFill/>
        </p:spPr>
        <p:txBody>
          <a:bodyPr wrap="square" tIns="0" bIns="0" lIns="0" rIns="0">
            <a:spAutoFit/>
          </a:bodyPr>
          <a:lstStyle/>
          <a:p>
            <a:pPr>
              <a:defRPr sz="1400" b="1">
                <a:solidFill>
                  <a:srgbClr val="FFFFFF"/>
                </a:solidFill>
              </a:defRPr>
            </a:pPr>
            <a:r>
              <a:t>Phase 2: Recurrent Training</a:t>
            </a:r>
          </a:p>
          <a:p>
            <a:pPr>
              <a:spcBef>
                <a:spcPts val="300"/>
              </a:spcBef>
              <a:defRPr sz="1200" b="1">
                <a:solidFill>
                  <a:srgbClr val="FFFFFF"/>
                </a:solidFill>
              </a:defRPr>
            </a:pPr>
            <a:r>
              <a:t>Module: melodyloop/model.py &amp; train.py</a:t>
            </a:r>
          </a:p>
          <a:p>
            <a:pPr>
              <a:spcBef>
                <a:spcPts val="400"/>
              </a:spcBef>
              <a:defRPr sz="1150">
                <a:solidFill>
                  <a:srgbClr val="E2E8F0"/>
                </a:solidFill>
              </a:defRPr>
            </a:pPr>
            <a:r>
              <a:t>Passes sequence (B, 32, 3) through parallel embeddings, a 128-d LSTM, and 3 linear heads. Optimizes joint cross-entropy loss with Adam (lr=1e-3).</a:t>
            </a:r>
          </a:p>
        </p:txBody>
      </p:sp>
      <p:sp>
        <p:nvSpPr>
          <p:cNvPr id="11" name="Rounded Rectangle 10"/>
          <p:cNvSpPr/>
          <p:nvPr/>
        </p:nvSpPr>
        <p:spPr>
          <a:xfrm>
            <a:off x="8046720" y="4800600"/>
            <a:ext cx="3413455" cy="15544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4892040"/>
            <a:ext cx="3139135" cy="1371600"/>
          </a:xfrm>
          <a:prstGeom prst="rect">
            <a:avLst/>
          </a:prstGeom>
          <a:noFill/>
        </p:spPr>
        <p:txBody>
          <a:bodyPr wrap="square" tIns="0" bIns="0" lIns="0" rIns="0">
            <a:spAutoFit/>
          </a:bodyPr>
          <a:lstStyle/>
          <a:p>
            <a:pPr>
              <a:defRPr sz="1400" b="1">
                <a:solidFill>
                  <a:srgbClr val="FFC857"/>
                </a:solidFill>
              </a:defRPr>
            </a:pPr>
            <a:r>
              <a:t>Phase 3: Generation &amp; Synthesis</a:t>
            </a:r>
          </a:p>
          <a:p>
            <a:pPr>
              <a:spcBef>
                <a:spcPts val="300"/>
              </a:spcBef>
              <a:defRPr sz="1200" b="1">
                <a:solidFill>
                  <a:srgbClr val="FFFFFF"/>
                </a:solidFill>
              </a:defRPr>
            </a:pPr>
            <a:r>
              <a:t>Module: melodyloop/generation.py &amp; audio.py</a:t>
            </a:r>
          </a:p>
          <a:p>
            <a:pPr>
              <a:spcBef>
                <a:spcPts val="400"/>
              </a:spcBef>
              <a:defRPr sz="1150">
                <a:solidFill>
                  <a:srgbClr val="E2E8F0"/>
                </a:solidFill>
              </a:defRPr>
            </a:pPr>
            <a:r>
              <a:t>Autoregressively rolls out sequences using temperature &amp; Top-K sampling. Decodes tokens into MIDI and renders audio via additive harmonic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Symbolic Musical Representation: Keyboard to MIDI</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piano_keyboard.png"/>
          <p:cNvPicPr>
            <a:picLocks noChangeAspect="1"/>
          </p:cNvPicPr>
          <p:nvPr/>
        </p:nvPicPr>
        <p:blipFill>
          <a:blip r:embed="rId2"/>
          <a:stretch>
            <a:fillRect/>
          </a:stretch>
        </p:blipFill>
        <p:spPr>
          <a:xfrm>
            <a:off x="731520" y="1325880"/>
            <a:ext cx="10728655" cy="2926080"/>
          </a:xfrm>
          <a:prstGeom prst="rect">
            <a:avLst/>
          </a:prstGeom>
        </p:spPr>
      </p:pic>
      <p:sp>
        <p:nvSpPr>
          <p:cNvPr id="7" name="Rounded Rectangle 6"/>
          <p:cNvSpPr/>
          <p:nvPr/>
        </p:nvSpPr>
        <p:spPr>
          <a:xfrm>
            <a:off x="731520" y="4434840"/>
            <a:ext cx="3413455" cy="192024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526280"/>
            <a:ext cx="3139135" cy="1737360"/>
          </a:xfrm>
          <a:prstGeom prst="rect">
            <a:avLst/>
          </a:prstGeom>
          <a:noFill/>
        </p:spPr>
        <p:txBody>
          <a:bodyPr wrap="square" tIns="0" bIns="0" lIns="0" rIns="0">
            <a:spAutoFit/>
          </a:bodyPr>
          <a:lstStyle/>
          <a:p>
            <a:pPr>
              <a:defRPr sz="1500" b="1">
                <a:solidFill>
                  <a:srgbClr val="26D9F1"/>
                </a:solidFill>
              </a:defRPr>
            </a:pPr>
            <a:r>
              <a:t>The 128 MIDI Pitch Standard</a:t>
            </a:r>
          </a:p>
          <a:p>
            <a:pPr>
              <a:spcBef>
                <a:spcPts val="600"/>
              </a:spcBef>
              <a:defRPr sz="1250">
                <a:solidFill>
                  <a:srgbClr val="E2E8F0"/>
                </a:solidFill>
              </a:defRPr>
            </a:pPr>
            <a:r>
              <a:t>MIDI note numbers span integers [0, 127].</a:t>
            </a:r>
            <a:br/>
            <a:r>
              <a:t>Standard 88-key acoustic pianos cover A0 (MIDI 21, 27.5 Hz) to C8 (MIDI 108, 4186 Hz). Middle C is defined as MIDI 60 (C4, 261.63 Hz). Concert A is MIDI 69 (A4, 440.0 Hz).</a:t>
            </a:r>
          </a:p>
        </p:txBody>
      </p:sp>
      <p:sp>
        <p:nvSpPr>
          <p:cNvPr id="9" name="Rounded Rectangle 8"/>
          <p:cNvSpPr/>
          <p:nvPr/>
        </p:nvSpPr>
        <p:spPr>
          <a:xfrm>
            <a:off x="4389120" y="4434840"/>
            <a:ext cx="3413455" cy="192024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526280"/>
            <a:ext cx="3139135" cy="1737360"/>
          </a:xfrm>
          <a:prstGeom prst="rect">
            <a:avLst/>
          </a:prstGeom>
          <a:noFill/>
        </p:spPr>
        <p:txBody>
          <a:bodyPr wrap="square" tIns="0" bIns="0" lIns="0" rIns="0">
            <a:spAutoFit/>
          </a:bodyPr>
          <a:lstStyle/>
          <a:p>
            <a:pPr>
              <a:defRPr sz="1500" b="1">
                <a:solidFill>
                  <a:srgbClr val="FFC857"/>
                </a:solidFill>
              </a:defRPr>
            </a:pPr>
            <a:r>
              <a:t>The 3-Tuple Event Structure</a:t>
            </a:r>
          </a:p>
          <a:p>
            <a:pPr>
              <a:spcBef>
                <a:spcPts val="600"/>
              </a:spcBef>
              <a:defRPr sz="1250">
                <a:solidFill>
                  <a:srgbClr val="E2E8F0"/>
                </a:solidFill>
              </a:defRPr>
            </a:pPr>
            <a:r>
              <a:t>Every note event in MelodyLoop is represented by:</a:t>
            </a:r>
            <a:br/>
            <a:r>
              <a:t>• Pitch p ∈ [0, 127] (Discrete MIDI pitch)</a:t>
            </a:r>
            <a:br/>
            <a:r>
              <a:t>• Duration d ∈ [0, 31] (Sustained ring time)</a:t>
            </a:r>
            <a:br/>
            <a:r>
              <a:t>• Step s ∈ [0, 31] (Interval to next note onset)</a:t>
            </a:r>
            <a:br/>
            <a:r>
              <a:t>Enables polyphonic overlap and natural pacing.</a:t>
            </a:r>
          </a:p>
        </p:txBody>
      </p:sp>
      <p:sp>
        <p:nvSpPr>
          <p:cNvPr id="11" name="Rounded Rectangle 10"/>
          <p:cNvSpPr/>
          <p:nvPr/>
        </p:nvSpPr>
        <p:spPr>
          <a:xfrm>
            <a:off x="8046720" y="4434840"/>
            <a:ext cx="3413455" cy="192024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4526280"/>
            <a:ext cx="3139135" cy="1737360"/>
          </a:xfrm>
          <a:prstGeom prst="rect">
            <a:avLst/>
          </a:prstGeom>
          <a:noFill/>
        </p:spPr>
        <p:txBody>
          <a:bodyPr wrap="square" tIns="0" bIns="0" lIns="0" rIns="0">
            <a:spAutoFit/>
          </a:bodyPr>
          <a:lstStyle/>
          <a:p>
            <a:pPr>
              <a:defRPr sz="1500" b="1">
                <a:solidFill>
                  <a:srgbClr val="FFFFFF"/>
                </a:solidFill>
              </a:defRPr>
            </a:pPr>
            <a:r>
              <a:t>Mathematical Frequency Formula</a:t>
            </a:r>
          </a:p>
          <a:p>
            <a:pPr>
              <a:spcBef>
                <a:spcPts val="600"/>
              </a:spcBef>
              <a:defRPr sz="1250">
                <a:solidFill>
                  <a:srgbClr val="E2E8F0"/>
                </a:solidFill>
              </a:defRPr>
            </a:pPr>
            <a:r>
              <a:t>Continuous frequency in Hertz is calculated by:</a:t>
            </a:r>
            <a:br/>
            <a:r>
              <a:t>    f = 440.0 × 2^((p - 69) / 12)</a:t>
            </a:r>
            <a:br/>
            <a:r>
              <a:t>Equal temperament divides each octave into 12 logarithmic semitones. A semitone increase multiplies frequency by 2^(1/12) ≈ 1.05946.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Representation Hierarchy: Symbolic MIDI vs. Continuous Audio</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midi_vs_audio.png"/>
          <p:cNvPicPr>
            <a:picLocks noChangeAspect="1"/>
          </p:cNvPicPr>
          <p:nvPr/>
        </p:nvPicPr>
        <p:blipFill>
          <a:blip r:embed="rId2"/>
          <a:stretch>
            <a:fillRect/>
          </a:stretch>
        </p:blipFill>
        <p:spPr>
          <a:xfrm>
            <a:off x="731520" y="1325880"/>
            <a:ext cx="10728655" cy="3017520"/>
          </a:xfrm>
          <a:prstGeom prst="rect">
            <a:avLst/>
          </a:prstGeom>
        </p:spPr>
      </p:pic>
      <p:sp>
        <p:nvSpPr>
          <p:cNvPr id="7" name="Rounded Rectangle 6"/>
          <p:cNvSpPr/>
          <p:nvPr/>
        </p:nvSpPr>
        <p:spPr>
          <a:xfrm>
            <a:off x="731520" y="4526280"/>
            <a:ext cx="3413455" cy="182880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617720"/>
            <a:ext cx="3139135" cy="1645920"/>
          </a:xfrm>
          <a:prstGeom prst="rect">
            <a:avLst/>
          </a:prstGeom>
          <a:noFill/>
        </p:spPr>
        <p:txBody>
          <a:bodyPr wrap="square" tIns="0" bIns="0" lIns="0" rIns="0">
            <a:spAutoFit/>
          </a:bodyPr>
          <a:lstStyle/>
          <a:p>
            <a:pPr>
              <a:defRPr sz="1500" b="1">
                <a:solidFill>
                  <a:srgbClr val="26D9F1"/>
                </a:solidFill>
              </a:defRPr>
            </a:pPr>
            <a:r>
              <a:t>1. Symbolic MIDI (.mid)</a:t>
            </a:r>
          </a:p>
          <a:p>
            <a:pPr>
              <a:spcBef>
                <a:spcPts val="600"/>
              </a:spcBef>
              <a:defRPr sz="1200">
                <a:solidFill>
                  <a:srgbClr val="E2E8F0"/>
                </a:solidFill>
              </a:defRPr>
            </a:pPr>
            <a:r>
              <a:t>• Representation: Event metadata (pitch, time, velocity)</a:t>
            </a:r>
            <a:br/>
            <a:r>
              <a:t>• Data Volume: Compact (~1–5 KB per minute)</a:t>
            </a:r>
            <a:br/>
            <a:r>
              <a:t>• Content: Musical intent / sheet performance score</a:t>
            </a:r>
            <a:br/>
            <a:r>
              <a:t>• Network Role: High-efficiency target for discrete sequence modeling and token embeddings.</a:t>
            </a:r>
          </a:p>
        </p:txBody>
      </p:sp>
      <p:sp>
        <p:nvSpPr>
          <p:cNvPr id="9" name="Rounded Rectangle 8"/>
          <p:cNvSpPr/>
          <p:nvPr/>
        </p:nvSpPr>
        <p:spPr>
          <a:xfrm>
            <a:off x="4389120" y="4526280"/>
            <a:ext cx="3413455" cy="182880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617720"/>
            <a:ext cx="3139135" cy="1645920"/>
          </a:xfrm>
          <a:prstGeom prst="rect">
            <a:avLst/>
          </a:prstGeom>
          <a:noFill/>
        </p:spPr>
        <p:txBody>
          <a:bodyPr wrap="square" tIns="0" bIns="0" lIns="0" rIns="0">
            <a:spAutoFit/>
          </a:bodyPr>
          <a:lstStyle/>
          <a:p>
            <a:pPr>
              <a:defRPr sz="1500" b="1">
                <a:solidFill>
                  <a:srgbClr val="FFC857"/>
                </a:solidFill>
              </a:defRPr>
            </a:pPr>
            <a:r>
              <a:t>2. Synthesized Waveform (.wav)</a:t>
            </a:r>
          </a:p>
          <a:p>
            <a:pPr>
              <a:spcBef>
                <a:spcPts val="600"/>
              </a:spcBef>
              <a:defRPr sz="1200">
                <a:solidFill>
                  <a:srgbClr val="E2E8F0"/>
                </a:solidFill>
              </a:defRPr>
            </a:pPr>
            <a:r>
              <a:t>• Representation: 44,100 continuous 16-bit PCM samples/s</a:t>
            </a:r>
            <a:br/>
            <a:r>
              <a:t>• Data Volume: Heavy (~10.5 MB per minute uncompressed)</a:t>
            </a:r>
            <a:br/>
            <a:r>
              <a:t>• Content: Acoustic pressure waves in air</a:t>
            </a:r>
            <a:br/>
            <a:r>
              <a:t>• Network Role: Rendered downstream via additive synthesis (melodyloop/audio.py).</a:t>
            </a:r>
          </a:p>
        </p:txBody>
      </p:sp>
      <p:sp>
        <p:nvSpPr>
          <p:cNvPr id="11" name="Rounded Rectangle 10"/>
          <p:cNvSpPr/>
          <p:nvPr/>
        </p:nvSpPr>
        <p:spPr>
          <a:xfrm>
            <a:off x="8046720" y="4526280"/>
            <a:ext cx="3413455" cy="182880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4617720"/>
            <a:ext cx="3139135" cy="1645920"/>
          </a:xfrm>
          <a:prstGeom prst="rect">
            <a:avLst/>
          </a:prstGeom>
          <a:noFill/>
        </p:spPr>
        <p:txBody>
          <a:bodyPr wrap="square" tIns="0" bIns="0" lIns="0" rIns="0">
            <a:spAutoFit/>
          </a:bodyPr>
          <a:lstStyle/>
          <a:p>
            <a:pPr>
              <a:defRPr sz="1500" b="1">
                <a:solidFill>
                  <a:srgbClr val="FF6B6B"/>
                </a:solidFill>
              </a:defRPr>
            </a:pPr>
            <a:r>
              <a:t>3. Compressed Audio (.mp3)</a:t>
            </a:r>
          </a:p>
          <a:p>
            <a:pPr>
              <a:spcBef>
                <a:spcPts val="600"/>
              </a:spcBef>
              <a:defRPr sz="1200">
                <a:solidFill>
                  <a:srgbClr val="E2E8F0"/>
                </a:solidFill>
              </a:defRPr>
            </a:pPr>
            <a:r>
              <a:t>• Representation: Psychoacoustic MDCT frequency lossy bins</a:t>
            </a:r>
            <a:br/>
            <a:r>
              <a:t>• Data Volume: Compact stream (~1 MB per minute at 128 kbps)</a:t>
            </a:r>
            <a:br/>
            <a:r>
              <a:t>• Content: Perceptually masked audio stream</a:t>
            </a:r>
            <a:br/>
            <a:r>
              <a:t>• Network Role: Consumer delivery format; unsuitable for token-level neural sequence modeling.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The MAESTRO Dataset: Scope, Splits &amp; Diversity</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maestro_splits.png"/>
          <p:cNvPicPr>
            <a:picLocks noChangeAspect="1"/>
          </p:cNvPicPr>
          <p:nvPr/>
        </p:nvPicPr>
        <p:blipFill>
          <a:blip r:embed="rId2"/>
          <a:stretch>
            <a:fillRect/>
          </a:stretch>
        </p:blipFill>
        <p:spPr>
          <a:xfrm>
            <a:off x="731520" y="1325880"/>
            <a:ext cx="10728655" cy="3017520"/>
          </a:xfrm>
          <a:prstGeom prst="rect">
            <a:avLst/>
          </a:prstGeom>
        </p:spPr>
      </p:pic>
      <p:sp>
        <p:nvSpPr>
          <p:cNvPr id="7" name="Rounded Rectangle 6"/>
          <p:cNvSpPr/>
          <p:nvPr/>
        </p:nvSpPr>
        <p:spPr>
          <a:xfrm>
            <a:off x="731520" y="4526280"/>
            <a:ext cx="3413455" cy="182880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617720"/>
            <a:ext cx="3139135" cy="1645920"/>
          </a:xfrm>
          <a:prstGeom prst="rect">
            <a:avLst/>
          </a:prstGeom>
          <a:noFill/>
        </p:spPr>
        <p:txBody>
          <a:bodyPr wrap="square" tIns="0" bIns="0" lIns="0" rIns="0">
            <a:spAutoFit/>
          </a:bodyPr>
          <a:lstStyle/>
          <a:p>
            <a:pPr>
              <a:defRPr sz="1500" b="1">
                <a:solidFill>
                  <a:srgbClr val="26D9F1"/>
                </a:solidFill>
              </a:defRPr>
            </a:pPr>
            <a:r>
              <a:t>Yamaha Disklavier Performances</a:t>
            </a:r>
          </a:p>
          <a:p>
            <a:pPr>
              <a:spcBef>
                <a:spcPts val="600"/>
              </a:spcBef>
              <a:defRPr sz="1200">
                <a:solidFill>
                  <a:srgbClr val="E2E8F0"/>
                </a:solidFill>
              </a:defRPr>
            </a:pPr>
            <a:r>
              <a:t>MAESTRO v3.0.0 contains 1,276 performances (200 hours) captured live from the International Piano-e-Competition.</a:t>
            </a:r>
            <a:br/>
            <a:r>
              <a:t>Yamaha Disklavier concert grand pianos recorded note onsets and releases with millisecond accuracy, capturing virtuosic human expressive nuance.</a:t>
            </a:r>
          </a:p>
        </p:txBody>
      </p:sp>
      <p:sp>
        <p:nvSpPr>
          <p:cNvPr id="9" name="Rounded Rectangle 8"/>
          <p:cNvSpPr/>
          <p:nvPr/>
        </p:nvSpPr>
        <p:spPr>
          <a:xfrm>
            <a:off x="4389120" y="4526280"/>
            <a:ext cx="3413455" cy="182880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617720"/>
            <a:ext cx="3139135" cy="1645920"/>
          </a:xfrm>
          <a:prstGeom prst="rect">
            <a:avLst/>
          </a:prstGeom>
          <a:noFill/>
        </p:spPr>
        <p:txBody>
          <a:bodyPr wrap="square" tIns="0" bIns="0" lIns="0" rIns="0">
            <a:spAutoFit/>
          </a:bodyPr>
          <a:lstStyle/>
          <a:p>
            <a:pPr>
              <a:defRPr sz="1500" b="1">
                <a:solidFill>
                  <a:srgbClr val="FFC857"/>
                </a:solidFill>
              </a:defRPr>
            </a:pPr>
            <a:r>
              <a:t>Discovered Metadata Distribution</a:t>
            </a:r>
          </a:p>
          <a:p>
            <a:pPr>
              <a:spcBef>
                <a:spcPts val="600"/>
              </a:spcBef>
              <a:defRPr sz="1200">
                <a:solidFill>
                  <a:srgbClr val="E2E8F0"/>
                </a:solidFill>
              </a:defRPr>
            </a:pPr>
            <a:r>
              <a:t>Catalogued across 10 years of international competition:</a:t>
            </a:r>
            <a:br/>
            <a:r>
              <a:t>• 962 Training Performances (75.4%)</a:t>
            </a:r>
            <a:br/>
            <a:r>
              <a:t>• 137 Validation Performances (10.7%)</a:t>
            </a:r>
            <a:br/>
            <a:r>
              <a:t>• 177 Held-out Test Performances (13.9%)</a:t>
            </a:r>
            <a:br/>
            <a:r>
              <a:t>Includes Chopin, Beethoven, Liszt, Bach, and Scriabin.</a:t>
            </a:r>
          </a:p>
        </p:txBody>
      </p:sp>
      <p:sp>
        <p:nvSpPr>
          <p:cNvPr id="11" name="Rounded Rectangle 10"/>
          <p:cNvSpPr/>
          <p:nvPr/>
        </p:nvSpPr>
        <p:spPr>
          <a:xfrm>
            <a:off x="8046720" y="4526280"/>
            <a:ext cx="3413455" cy="182880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4617720"/>
            <a:ext cx="3139135" cy="1645920"/>
          </a:xfrm>
          <a:prstGeom prst="rect">
            <a:avLst/>
          </a:prstGeom>
          <a:noFill/>
        </p:spPr>
        <p:txBody>
          <a:bodyPr wrap="square" tIns="0" bIns="0" lIns="0" rIns="0">
            <a:spAutoFit/>
          </a:bodyPr>
          <a:lstStyle/>
          <a:p>
            <a:pPr>
              <a:defRPr sz="1500" b="1">
                <a:solidFill>
                  <a:srgbClr val="FFFFFF"/>
                </a:solidFill>
              </a:defRPr>
            </a:pPr>
            <a:r>
              <a:t>Zero Data Leakage Protocol</a:t>
            </a:r>
          </a:p>
          <a:p>
            <a:pPr>
              <a:spcBef>
                <a:spcPts val="600"/>
              </a:spcBef>
              <a:defRPr sz="1200">
                <a:solidFill>
                  <a:srgbClr val="E2E8F0"/>
                </a:solidFill>
              </a:defRPr>
            </a:pPr>
            <a:r>
              <a:t>Rigorous split isolation is strictly maintained in config.py:</a:t>
            </a:r>
            <a:br/>
            <a:r>
              <a:t>• Parameter updates: Computed exclusively on 962 train files.</a:t>
            </a:r>
            <a:br/>
            <a:r>
              <a:t>• Early stopping: Monitored on 137 validation files (no gradients).</a:t>
            </a:r>
            <a:br/>
            <a:r>
              <a:t>• Final benchmark: Conducted on held-out test split (e.g. Scriabin Op. 63).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Dataset Scaling: Baseline Bottleneck vs. Expanded Corpus</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dataset_scaling.png"/>
          <p:cNvPicPr>
            <a:picLocks noChangeAspect="1"/>
          </p:cNvPicPr>
          <p:nvPr/>
        </p:nvPicPr>
        <p:blipFill>
          <a:blip r:embed="rId2"/>
          <a:stretch>
            <a:fillRect/>
          </a:stretch>
        </p:blipFill>
        <p:spPr>
          <a:xfrm>
            <a:off x="731520" y="1325880"/>
            <a:ext cx="5943600" cy="3017520"/>
          </a:xfrm>
          <a:prstGeom prst="rect">
            <a:avLst/>
          </a:prstGeom>
        </p:spPr>
      </p:pic>
      <p:sp>
        <p:nvSpPr>
          <p:cNvPr id="7" name="Rounded Rectangle 6"/>
          <p:cNvSpPr/>
          <p:nvPr/>
        </p:nvSpPr>
        <p:spPr>
          <a:xfrm>
            <a:off x="6858000" y="1325880"/>
            <a:ext cx="4602175" cy="30175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463040"/>
            <a:ext cx="4236415" cy="2743200"/>
          </a:xfrm>
          <a:prstGeom prst="rect">
            <a:avLst/>
          </a:prstGeom>
          <a:noFill/>
        </p:spPr>
        <p:txBody>
          <a:bodyPr wrap="square">
            <a:spAutoFit/>
          </a:bodyPr>
          <a:lstStyle/>
          <a:p>
            <a:pPr>
              <a:defRPr sz="1500" b="1">
                <a:solidFill>
                  <a:srgbClr val="FFC857"/>
                </a:solidFill>
              </a:defRPr>
            </a:pPr>
            <a:r>
              <a:t>CORPUS EXPANSION COMPARISON</a:t>
            </a:r>
          </a:p>
          <a:p>
            <a:pPr>
              <a:spcBef>
                <a:spcPts val="500"/>
              </a:spcBef>
            </a:pPr>
            <a:r>
              <a:rPr b="1" sz="1200">
                <a:solidFill>
                  <a:srgbClr val="FFFFFF"/>
                </a:solidFill>
              </a:rPr>
              <a:t>Training Files Processed: </a:t>
            </a:r>
            <a:r>
              <a:rPr sz="1250" b="1">
                <a:solidFill>
                  <a:srgbClr val="26D9F1"/>
                </a:solidFill>
              </a:rPr>
              <a:t>13 → 962 (74× Increase)</a:t>
            </a:r>
          </a:p>
          <a:p>
            <a:pPr>
              <a:spcBef>
                <a:spcPts val="500"/>
              </a:spcBef>
            </a:pPr>
            <a:r>
              <a:rPr b="1" sz="1200">
                <a:solidFill>
                  <a:srgbClr val="FFFFFF"/>
                </a:solidFill>
              </a:rPr>
              <a:t>Extracted Note Events: </a:t>
            </a:r>
            <a:r>
              <a:rPr sz="1250" b="1">
                <a:solidFill>
                  <a:srgbClr val="26D9F1"/>
                </a:solidFill>
              </a:rPr>
              <a:t>64,261 → 5,659,329 (88× Increase)</a:t>
            </a:r>
          </a:p>
          <a:p>
            <a:pPr>
              <a:spcBef>
                <a:spcPts val="500"/>
              </a:spcBef>
            </a:pPr>
            <a:r>
              <a:rPr b="1" sz="1200">
                <a:solidFill>
                  <a:srgbClr val="FFFFFF"/>
                </a:solidFill>
              </a:rPr>
              <a:t>Training Sequences: </a:t>
            </a:r>
            <a:r>
              <a:rPr sz="1250" b="1">
                <a:solidFill>
                  <a:srgbClr val="26D9F1"/>
                </a:solidFill>
              </a:rPr>
              <a:t>15,000 → 100,000 (6.7× Increase)</a:t>
            </a:r>
          </a:p>
          <a:p>
            <a:pPr>
              <a:spcBef>
                <a:spcPts val="500"/>
              </a:spcBef>
            </a:pPr>
            <a:r>
              <a:rPr b="1" sz="1200">
                <a:solidFill>
                  <a:srgbClr val="FFFFFF"/>
                </a:solidFill>
              </a:rPr>
              <a:t>Validation Performances: </a:t>
            </a:r>
            <a:r>
              <a:rPr sz="1250" b="1">
                <a:solidFill>
                  <a:srgbClr val="26D9F1"/>
                </a:solidFill>
              </a:rPr>
              <a:t>1 → 137 (137× Increase)</a:t>
            </a:r>
          </a:p>
          <a:p>
            <a:pPr>
              <a:spcBef>
                <a:spcPts val="500"/>
              </a:spcBef>
            </a:pPr>
            <a:r>
              <a:rPr b="1" sz="1200">
                <a:solidFill>
                  <a:srgbClr val="FFFFFF"/>
                </a:solidFill>
              </a:rPr>
              <a:t>Validation Sequences: </a:t>
            </a:r>
            <a:r>
              <a:rPr sz="1250" b="1">
                <a:solidFill>
                  <a:srgbClr val="26D9F1"/>
                </a:solidFill>
              </a:rPr>
              <a:t>3,924 → 10,000 (2.5× Increase)</a:t>
            </a:r>
          </a:p>
          <a:p>
            <a:pPr>
              <a:spcBef>
                <a:spcPts val="500"/>
              </a:spcBef>
            </a:pPr>
            <a:r>
              <a:rPr b="1" sz="1200">
                <a:solidFill>
                  <a:srgbClr val="FFFFFF"/>
                </a:solidFill>
              </a:rPr>
              <a:t>RAM Representation: </a:t>
            </a:r>
            <a:r>
              <a:rPr sz="1250" b="1">
                <a:solidFill>
                  <a:srgbClr val="26D9F1"/>
                </a:solidFill>
              </a:rPr>
              <a:t>int64 (77 MB) → uint8 (9.6 MB)</a:t>
            </a:r>
          </a:p>
          <a:p>
            <a:pPr>
              <a:spcBef>
                <a:spcPts val="500"/>
              </a:spcBef>
            </a:pPr>
            <a:r>
              <a:rPr b="1" sz="1200">
                <a:solidFill>
                  <a:srgbClr val="FFFFFF"/>
                </a:solidFill>
              </a:rPr>
              <a:t>Cached Load Time: </a:t>
            </a:r>
            <a:r>
              <a:rPr sz="1250" b="1">
                <a:solidFill>
                  <a:srgbClr val="26D9F1"/>
                </a:solidFill>
              </a:rPr>
              <a:t>10s → 1.88s (Train) / 0.26s (Val)</a:t>
            </a:r>
          </a:p>
        </p:txBody>
      </p:sp>
      <p:sp>
        <p:nvSpPr>
          <p:cNvPr id="9" name="Rounded Rectangle 8"/>
          <p:cNvSpPr/>
          <p:nvPr/>
        </p:nvSpPr>
        <p:spPr>
          <a:xfrm>
            <a:off x="731520" y="4526280"/>
            <a:ext cx="10728655" cy="182880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617720"/>
            <a:ext cx="10271455" cy="1645920"/>
          </a:xfrm>
          <a:prstGeom prst="rect">
            <a:avLst/>
          </a:prstGeom>
          <a:noFill/>
        </p:spPr>
        <p:txBody>
          <a:bodyPr wrap="square">
            <a:spAutoFit/>
          </a:bodyPr>
          <a:lstStyle/>
          <a:p>
            <a:pPr>
              <a:defRPr sz="1500" b="1">
                <a:solidFill>
                  <a:srgbClr val="26D9F1"/>
                </a:solidFill>
              </a:defRPr>
            </a:pPr>
            <a:r>
              <a:t>DIAGNOSIS &amp; RESOLUTION OF THE ORIGINAL 13-PERFORMANCE BOTTLENECK</a:t>
            </a:r>
          </a:p>
          <a:p>
            <a:pPr>
              <a:spcBef>
                <a:spcPts val="600"/>
              </a:spcBef>
              <a:defRPr sz="1200">
                <a:solidFill>
                  <a:srgbClr val="E2E8F0"/>
                </a:solidFill>
              </a:defRPr>
            </a:pPr>
            <a:r>
              <a:t>• Root Cause in data.py: The original pipeline hit a hard-coded break statement (if current_total &gt;= 15000: break) on file #13, terminating loop execution and discarding the remaining 949 training performances.</a:t>
            </a:r>
          </a:p>
          <a:p>
            <a:pPr>
              <a:spcBef>
                <a:spcPts val="600"/>
              </a:spcBef>
              <a:defRPr sz="1200">
                <a:solidFill>
                  <a:srgbClr val="E2E8F0"/>
                </a:solidFill>
              </a:defRPr>
            </a:pPr>
            <a:r>
              <a:t>• Proportional Sequence Balancing: Replaced premature loop termination with proportional piece sampling (max 16–100 sequences per piece), drawing diverse sequences evenly across all 962 performances.</a:t>
            </a:r>
          </a:p>
          <a:p>
            <a:pPr>
              <a:spcBef>
                <a:spcPts val="600"/>
              </a:spcBef>
              <a:defRPr sz="1200">
                <a:solidFill>
                  <a:srgbClr val="E2E8F0"/>
                </a:solidFill>
              </a:defRPr>
            </a:pPr>
            <a:r>
              <a:t>• Bounded uint8 Tensor Memory: Storing sequences as compact uint8 tensors in RAM prevented Python memory bloat, enabling 100k sequences to load in 1.88 seconds from persistent .npz caches.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Data Preprocessing Pipeline &amp; 3-Tuple Quantization</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sp>
        <p:nvSpPr>
          <p:cNvPr id="6" name="Rounded Rectangle 5"/>
          <p:cNvSpPr/>
          <p:nvPr/>
        </p:nvSpPr>
        <p:spPr>
          <a:xfrm>
            <a:off x="731520" y="1325880"/>
            <a:ext cx="2542032" cy="24688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63040"/>
            <a:ext cx="2267712" cy="2194560"/>
          </a:xfrm>
          <a:prstGeom prst="rect">
            <a:avLst/>
          </a:prstGeom>
          <a:noFill/>
        </p:spPr>
        <p:txBody>
          <a:bodyPr wrap="square" tIns="0" bIns="0" lIns="0" rIns="0">
            <a:spAutoFit/>
          </a:bodyPr>
          <a:lstStyle/>
          <a:p>
            <a:pPr>
              <a:defRPr sz="1500" b="1">
                <a:solidFill>
                  <a:srgbClr val="26D9F1"/>
                </a:solidFill>
              </a:defRPr>
            </a:pPr>
            <a:r>
              <a:t>Step 1: mido Parsing</a:t>
            </a:r>
          </a:p>
          <a:p>
            <a:pPr>
              <a:spcBef>
                <a:spcPts val="300"/>
              </a:spcBef>
              <a:defRPr sz="1250" b="1">
                <a:solidFill>
                  <a:srgbClr val="FFFFFF"/>
                </a:solidFill>
              </a:defRPr>
            </a:pPr>
            <a:r>
              <a:t>Raw MIDI Bytes</a:t>
            </a:r>
          </a:p>
          <a:p>
            <a:pPr>
              <a:spcBef>
                <a:spcPts val="600"/>
              </a:spcBef>
              <a:defRPr sz="1200">
                <a:solidFill>
                  <a:srgbClr val="E2E8F0"/>
                </a:solidFill>
              </a:defRPr>
            </a:pPr>
            <a:r>
              <a:t>Reads binary MIDI via mido, parses note_on / note_off channel events, tracks cumulative delta times, and filters non-piano tracks.</a:t>
            </a:r>
          </a:p>
        </p:txBody>
      </p:sp>
      <p:sp>
        <p:nvSpPr>
          <p:cNvPr id="8" name="Rounded Rectangle 7"/>
          <p:cNvSpPr/>
          <p:nvPr/>
        </p:nvSpPr>
        <p:spPr>
          <a:xfrm>
            <a:off x="3474720" y="1325880"/>
            <a:ext cx="2542032" cy="24688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463040"/>
            <a:ext cx="2267712" cy="2194560"/>
          </a:xfrm>
          <a:prstGeom prst="rect">
            <a:avLst/>
          </a:prstGeom>
          <a:noFill/>
        </p:spPr>
        <p:txBody>
          <a:bodyPr wrap="square" tIns="0" bIns="0" lIns="0" rIns="0">
            <a:spAutoFit/>
          </a:bodyPr>
          <a:lstStyle/>
          <a:p>
            <a:pPr>
              <a:defRPr sz="1500" b="1">
                <a:solidFill>
                  <a:srgbClr val="FFFFFF"/>
                </a:solidFill>
              </a:defRPr>
            </a:pPr>
            <a:r>
              <a:t>Step 2: Event Pairing</a:t>
            </a:r>
          </a:p>
          <a:p>
            <a:pPr>
              <a:spcBef>
                <a:spcPts val="300"/>
              </a:spcBef>
              <a:defRPr sz="1250" b="1">
                <a:solidFill>
                  <a:srgbClr val="FFFFFF"/>
                </a:solidFill>
              </a:defRPr>
            </a:pPr>
            <a:r>
              <a:t>Note Lifecycles</a:t>
            </a:r>
          </a:p>
          <a:p>
            <a:pPr>
              <a:spcBef>
                <a:spcPts val="600"/>
              </a:spcBef>
              <a:defRPr sz="1200">
                <a:solidFill>
                  <a:srgbClr val="E2E8F0"/>
                </a:solidFill>
              </a:defRPr>
            </a:pPr>
            <a:r>
              <a:t>Matches each note_on with its corresponding note_off to compute exact continuous start time (t_start) and duration (t_dur = t_off - t_on).</a:t>
            </a:r>
          </a:p>
        </p:txBody>
      </p:sp>
      <p:sp>
        <p:nvSpPr>
          <p:cNvPr id="10" name="Rounded Rectangle 9"/>
          <p:cNvSpPr/>
          <p:nvPr/>
        </p:nvSpPr>
        <p:spPr>
          <a:xfrm>
            <a:off x="6217920" y="1325880"/>
            <a:ext cx="2542032" cy="24688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463040"/>
            <a:ext cx="2267712" cy="2194560"/>
          </a:xfrm>
          <a:prstGeom prst="rect">
            <a:avLst/>
          </a:prstGeom>
          <a:noFill/>
        </p:spPr>
        <p:txBody>
          <a:bodyPr wrap="square" tIns="0" bIns="0" lIns="0" rIns="0">
            <a:spAutoFit/>
          </a:bodyPr>
          <a:lstStyle/>
          <a:p>
            <a:pPr>
              <a:defRPr sz="1500" b="1">
                <a:solidFill>
                  <a:srgbClr val="FFC857"/>
                </a:solidFill>
              </a:defRPr>
            </a:pPr>
            <a:r>
              <a:t>Step 3: Step Interval</a:t>
            </a:r>
          </a:p>
          <a:p>
            <a:pPr>
              <a:spcBef>
                <a:spcPts val="300"/>
              </a:spcBef>
              <a:defRPr sz="1250" b="1">
                <a:solidFill>
                  <a:srgbClr val="FFFFFF"/>
                </a:solidFill>
              </a:defRPr>
            </a:pPr>
            <a:r>
              <a:t>Temporal Dynamics</a:t>
            </a:r>
          </a:p>
          <a:p>
            <a:pPr>
              <a:spcBef>
                <a:spcPts val="600"/>
              </a:spcBef>
              <a:defRPr sz="1200">
                <a:solidFill>
                  <a:srgbClr val="E2E8F0"/>
                </a:solidFill>
              </a:defRPr>
            </a:pPr>
            <a:r>
              <a:t>Sorts all notes chronologically and computes step time: s_i = max(0.0, start_(i+1) - start_i). Chords produce step = 0.0s.</a:t>
            </a:r>
          </a:p>
        </p:txBody>
      </p:sp>
      <p:sp>
        <p:nvSpPr>
          <p:cNvPr id="12" name="Rounded Rectangle 11"/>
          <p:cNvSpPr/>
          <p:nvPr/>
        </p:nvSpPr>
        <p:spPr>
          <a:xfrm>
            <a:off x="8961120" y="1325880"/>
            <a:ext cx="2542032" cy="24688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463040"/>
            <a:ext cx="2267712" cy="2194560"/>
          </a:xfrm>
          <a:prstGeom prst="rect">
            <a:avLst/>
          </a:prstGeom>
          <a:noFill/>
        </p:spPr>
        <p:txBody>
          <a:bodyPr wrap="square" tIns="0" bIns="0" lIns="0" rIns="0">
            <a:spAutoFit/>
          </a:bodyPr>
          <a:lstStyle/>
          <a:p>
            <a:pPr>
              <a:defRPr sz="1500" b="1">
                <a:solidFill>
                  <a:srgbClr val="22C55E"/>
                </a:solidFill>
              </a:defRPr>
            </a:pPr>
            <a:r>
              <a:t>Step 4: Bin Quantization</a:t>
            </a:r>
          </a:p>
          <a:p>
            <a:pPr>
              <a:spcBef>
                <a:spcPts val="300"/>
              </a:spcBef>
              <a:defRPr sz="1250" b="1">
                <a:solidFill>
                  <a:srgbClr val="FFFFFF"/>
                </a:solidFill>
              </a:defRPr>
            </a:pPr>
            <a:r>
              <a:t>Discrete Tokens</a:t>
            </a:r>
          </a:p>
          <a:p>
            <a:pPr>
              <a:spcBef>
                <a:spcPts val="600"/>
              </a:spcBef>
              <a:defRPr sz="1200">
                <a:solidFill>
                  <a:srgbClr val="E2E8F0"/>
                </a:solidFill>
              </a:defRPr>
            </a:pPr>
            <a:r>
              <a:t>Maps continuous duration into 32 logarithmic/linear bins [0.05s, 4.0s] and step into 32 bins [0.0s, 2.0s]. Pitch is 0–127.</a:t>
            </a:r>
          </a:p>
        </p:txBody>
      </p:sp>
      <p:sp>
        <p:nvSpPr>
          <p:cNvPr id="14" name="Rounded Rectangle 13"/>
          <p:cNvSpPr/>
          <p:nvPr/>
        </p:nvSpPr>
        <p:spPr>
          <a:xfrm>
            <a:off x="731520" y="3977639"/>
            <a:ext cx="10728655" cy="237744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14800"/>
            <a:ext cx="10271455" cy="2103120"/>
          </a:xfrm>
          <a:prstGeom prst="rect">
            <a:avLst/>
          </a:prstGeom>
          <a:noFill/>
        </p:spPr>
        <p:txBody>
          <a:bodyPr wrap="square">
            <a:spAutoFit/>
          </a:bodyPr>
          <a:lstStyle/>
          <a:p>
            <a:pPr>
              <a:defRPr sz="1500" b="1">
                <a:solidFill>
                  <a:srgbClr val="26D9F1"/>
                </a:solidFill>
              </a:defRPr>
            </a:pPr>
            <a:r>
              <a:t>MATHEMATICAL QUANTIZATION FORMULATION &amp; CONCRETE WORKED EXAMPLE</a:t>
            </a:r>
          </a:p>
          <a:p>
            <a:pPr>
              <a:spcBef>
                <a:spcPts val="800"/>
              </a:spcBef>
              <a:defRPr sz="1250">
                <a:solidFill>
                  <a:srgbClr val="E2E8F0"/>
                </a:solidFill>
              </a:defRPr>
            </a:pPr>
            <a:r>
              <a:t>Quantization Formula: bin = min(max(int(((clip(v, min_v, max_v) - min_v) / (max_v - min_v)) × (N - 1) + 0.5), 0), N - 1)</a:t>
            </a:r>
            <a:br/>
            <a:r>
              <a:t>• Duration Bounds: min = 0.05s, max = 4.00s, N = 32 bins (Bin width: ~0.127s)</a:t>
            </a:r>
            <a:br/>
            <a:r>
              <a:t>• Step Interval Bounds: min = 0.00s (chords/dyads), max = 2.00s (pauses), N = 32 bins (Bin width: ~0.0645s)</a:t>
            </a:r>
            <a:br/>
            <a:br/>
            <a:r>
              <a:t>Concrete Note Example: Middle C (C4, 261.63 Hz), ringing for 0.45 seconds, followed by another note 0.25 seconds later:</a:t>
            </a:r>
            <a:br/>
            <a:r>
              <a:t>    Raw Musical Event: [Pitch = 60, Duration = 0.45s, Step = 0.25s]  →  Discrete Token Tuple: (p = 60, d = 3, s = 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Sequence Formulation: Sliding Windows &amp; Next-Token Targets</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sp>
        <p:nvSpPr>
          <p:cNvPr id="6" name="Rounded Rectangle 5"/>
          <p:cNvSpPr/>
          <p:nvPr/>
        </p:nvSpPr>
        <p:spPr>
          <a:xfrm>
            <a:off x="731520" y="1325880"/>
            <a:ext cx="10728655" cy="24688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63040"/>
            <a:ext cx="10271455" cy="2194560"/>
          </a:xfrm>
          <a:prstGeom prst="rect">
            <a:avLst/>
          </a:prstGeom>
          <a:noFill/>
        </p:spPr>
        <p:txBody>
          <a:bodyPr wrap="square">
            <a:spAutoFit/>
          </a:bodyPr>
          <a:lstStyle/>
          <a:p>
            <a:pPr>
              <a:defRPr sz="1500" b="1">
                <a:solidFill>
                  <a:srgbClr val="26D9F1"/>
                </a:solidFill>
              </a:defRPr>
            </a:pPr>
            <a:r>
              <a:t>SLIDING-WINDOW SUPERVISED LEARNING FORMULATION</a:t>
            </a:r>
          </a:p>
          <a:p>
            <a:pPr>
              <a:spcBef>
                <a:spcPts val="800"/>
              </a:spcBef>
              <a:defRPr sz="1300">
                <a:solidFill>
                  <a:srgbClr val="E2E8F0"/>
                </a:solidFill>
              </a:defRPr>
            </a:pPr>
            <a:r>
              <a:t>Given a chronologically ordered piece of N quantized note events E = (e_1, e_2, ..., e_N) where e_t = (p_t, d_t, s_t):</a:t>
            </a:r>
            <a:br/>
            <a:r>
              <a:t>• Sequence Length L = 32 note events per training window | Stride S = 4 notes</a:t>
            </a:r>
            <a:br/>
            <a:r>
              <a:t>• Input Tensor X: [e_t, e_(t+1), ..., e_(t+31)] with tensor shape (Batch, 32, 3)</a:t>
            </a:r>
            <a:br/>
            <a:r>
              <a:t>• Target Next Event Y: e_(t+32) = (p_(t+32), d_(t+32), s_(t+32)) with target indices (Batch, 3)</a:t>
            </a:r>
            <a:br/>
            <a:r>
              <a:t>The model is trained strictly in a teacher-forcing framework: predicting the 33rd event given the ground-truth previous 32 events.</a:t>
            </a:r>
          </a:p>
          <a:p>
            <a:pPr>
              <a:spcBef>
                <a:spcPts val="800"/>
              </a:spcBef>
              <a:defRPr sz="1200" b="1">
                <a:solidFill>
                  <a:srgbClr val="FFC857"/>
                </a:solidFill>
                <a:latin typeface="Consolas"/>
              </a:defRPr>
            </a:pPr>
            <a:r>
              <a:t>Sequence Window i:   [Note 1, Note 2, Note 3, ..., Note 32]  ──▶ Predict Next: Note 33</a:t>
            </a:r>
            <a:br/>
            <a:r>
              <a:t>Sequence Window i+1: [Note 5, Note 6, Note 7, ..., Note 36]  ──▶ Predict Next: Note 37 (Stride = 4)</a:t>
            </a:r>
          </a:p>
        </p:txBody>
      </p:sp>
      <p:sp>
        <p:nvSpPr>
          <p:cNvPr id="8" name="Rounded Rectangle 7"/>
          <p:cNvSpPr/>
          <p:nvPr/>
        </p:nvSpPr>
        <p:spPr>
          <a:xfrm>
            <a:off x="731520" y="3977639"/>
            <a:ext cx="5212080" cy="237744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114800"/>
            <a:ext cx="4754880" cy="2103120"/>
          </a:xfrm>
          <a:prstGeom prst="rect">
            <a:avLst/>
          </a:prstGeom>
          <a:noFill/>
        </p:spPr>
        <p:txBody>
          <a:bodyPr wrap="square">
            <a:spAutoFit/>
          </a:bodyPr>
          <a:lstStyle/>
          <a:p>
            <a:pPr>
              <a:defRPr sz="1500" b="1">
                <a:solidFill>
                  <a:srgbClr val="FFC857"/>
                </a:solidFill>
              </a:defRPr>
            </a:pPr>
            <a:r>
              <a:t>MULTI-TASK TARGET DECOUPLING</a:t>
            </a:r>
          </a:p>
          <a:p>
            <a:pPr>
              <a:spcBef>
                <a:spcPts val="600"/>
              </a:spcBef>
            </a:pPr>
            <a:r>
              <a:rPr b="1" sz="1250">
                <a:solidFill>
                  <a:srgbClr val="FFFFFF"/>
                </a:solidFill>
              </a:rPr>
              <a:t>• Pitch Target (y_p): </a:t>
            </a:r>
            <a:r>
              <a:rPr sz="1200">
                <a:solidFill>
                  <a:srgbClr val="E2E8F0"/>
                </a:solidFill>
              </a:rPr>
              <a:t> Discrete classification over 128 MIDI pitch classes [0, 127].</a:t>
            </a:r>
          </a:p>
          <a:p>
            <a:pPr>
              <a:spcBef>
                <a:spcPts val="600"/>
              </a:spcBef>
            </a:pPr>
            <a:r>
              <a:rPr b="1" sz="1250">
                <a:solidFill>
                  <a:srgbClr val="FFFFFF"/>
                </a:solidFill>
              </a:rPr>
              <a:t>• Duration Target (y_d): </a:t>
            </a:r>
            <a:r>
              <a:rPr sz="1200">
                <a:solidFill>
                  <a:srgbClr val="E2E8F0"/>
                </a:solidFill>
              </a:rPr>
              <a:t> Discrete classification over 32 quantized duration bins [0, 31].</a:t>
            </a:r>
          </a:p>
          <a:p>
            <a:pPr>
              <a:spcBef>
                <a:spcPts val="600"/>
              </a:spcBef>
            </a:pPr>
            <a:r>
              <a:rPr b="1" sz="1250">
                <a:solidFill>
                  <a:srgbClr val="FFFFFF"/>
                </a:solidFill>
              </a:rPr>
              <a:t>• Step Interval Target (y_s): </a:t>
            </a:r>
            <a:r>
              <a:rPr sz="1200">
                <a:solidFill>
                  <a:srgbClr val="E2E8F0"/>
                </a:solidFill>
              </a:rPr>
              <a:t> Discrete classification over 32 quantized step bins [0, 31].</a:t>
            </a:r>
          </a:p>
          <a:p>
            <a:pPr>
              <a:spcBef>
                <a:spcPts val="600"/>
              </a:spcBef>
            </a:pPr>
            <a:r>
              <a:rPr b="1" sz="1250">
                <a:solidFill>
                  <a:srgbClr val="FFFFFF"/>
                </a:solidFill>
              </a:rPr>
              <a:t>• Synchronous Backprop: </a:t>
            </a:r>
            <a:r>
              <a:rPr sz="1200">
                <a:solidFill>
                  <a:srgbClr val="E2E8F0"/>
                </a:solidFill>
              </a:rPr>
              <a:t> All three targets are predicted simultaneously from the final LSTM hidden state h_32.</a:t>
            </a:r>
          </a:p>
        </p:txBody>
      </p:sp>
      <p:sp>
        <p:nvSpPr>
          <p:cNvPr id="10" name="Rounded Rectangle 9"/>
          <p:cNvSpPr/>
          <p:nvPr/>
        </p:nvSpPr>
        <p:spPr>
          <a:xfrm>
            <a:off x="6217920" y="3977639"/>
            <a:ext cx="5212080" cy="237744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4114800"/>
            <a:ext cx="4754880" cy="2103120"/>
          </a:xfrm>
          <a:prstGeom prst="rect">
            <a:avLst/>
          </a:prstGeom>
          <a:noFill/>
        </p:spPr>
        <p:txBody>
          <a:bodyPr wrap="square">
            <a:spAutoFit/>
          </a:bodyPr>
          <a:lstStyle/>
          <a:p>
            <a:pPr>
              <a:defRPr sz="1500" b="1">
                <a:solidFill>
                  <a:srgbClr val="FFFFFF"/>
                </a:solidFill>
              </a:defRPr>
            </a:pPr>
            <a:r>
              <a:t>TEMPORAL ALIGNMENT &amp; DATA INTEGRITY</a:t>
            </a:r>
          </a:p>
          <a:p>
            <a:pPr>
              <a:spcBef>
                <a:spcPts val="600"/>
              </a:spcBef>
            </a:pPr>
            <a:r>
              <a:rPr b="1" sz="1250">
                <a:solidFill>
                  <a:srgbClr val="FFFFFF"/>
                </a:solidFill>
              </a:rPr>
              <a:t>✓ Strict Chronological Order: </a:t>
            </a:r>
            <a:r>
              <a:rPr sz="1200">
                <a:solidFill>
                  <a:srgbClr val="E2E8F0"/>
                </a:solidFill>
              </a:rPr>
              <a:t> Notes are sorted by start time prior to sliding; future events never precede past events.</a:t>
            </a:r>
          </a:p>
          <a:p>
            <a:pPr>
              <a:spcBef>
                <a:spcPts val="600"/>
              </a:spcBef>
            </a:pPr>
            <a:r>
              <a:rPr b="1" sz="1250">
                <a:solidFill>
                  <a:srgbClr val="FFFFFF"/>
                </a:solidFill>
              </a:rPr>
              <a:t>✓ No Lookahead Leakage: </a:t>
            </a:r>
            <a:r>
              <a:rPr sz="1200">
                <a:solidFill>
                  <a:srgbClr val="E2E8F0"/>
                </a:solidFill>
              </a:rPr>
              <a:t> Window i only contains notes 1..32; target is note 33. The recurrent state only sees past history.</a:t>
            </a:r>
          </a:p>
          <a:p>
            <a:pPr>
              <a:spcBef>
                <a:spcPts val="600"/>
              </a:spcBef>
            </a:pPr>
            <a:r>
              <a:rPr b="1" sz="1250">
                <a:solidFill>
                  <a:srgbClr val="FFFFFF"/>
                </a:solidFill>
              </a:rPr>
              <a:t>✓ Piece Boundary Isolation: </a:t>
            </a:r>
            <a:r>
              <a:rPr sz="1200">
                <a:solidFill>
                  <a:srgbClr val="E2E8F0"/>
                </a:solidFill>
              </a:rPr>
              <a:t> Sequences are strictly constructed within individual performances; windows never span across different MIDI files.</a:t>
            </a:r>
          </a:p>
          <a:p>
            <a:pPr>
              <a:spcBef>
                <a:spcPts val="600"/>
              </a:spcBef>
            </a:pPr>
            <a:r>
              <a:rPr b="1" sz="1250">
                <a:solidFill>
                  <a:srgbClr val="FFFFFF"/>
                </a:solidFill>
              </a:rPr>
              <a:t>✓ Unit Tests Verified: </a:t>
            </a:r>
            <a:r>
              <a:rPr sz="1200">
                <a:solidFill>
                  <a:srgbClr val="E2E8F0"/>
                </a:solidFill>
              </a:rPr>
              <a:t> test_sequence_generation_and_dataset and test_proportional_event_sequence_generation both pass.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Sequence Modeling: Why LSTM Over Vanilla RNN &amp; Feedforward?</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sp>
        <p:nvSpPr>
          <p:cNvPr id="6" name="Rounded Rectangle 5"/>
          <p:cNvSpPr/>
          <p:nvPr/>
        </p:nvSpPr>
        <p:spPr>
          <a:xfrm>
            <a:off x="731520" y="1325880"/>
            <a:ext cx="3413455" cy="493776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08760"/>
            <a:ext cx="3139135" cy="4572000"/>
          </a:xfrm>
          <a:prstGeom prst="rect">
            <a:avLst/>
          </a:prstGeom>
          <a:noFill/>
        </p:spPr>
        <p:txBody>
          <a:bodyPr wrap="square" tIns="0" bIns="0" lIns="0" rIns="0">
            <a:spAutoFit/>
          </a:bodyPr>
          <a:lstStyle/>
          <a:p>
            <a:pPr>
              <a:defRPr sz="1500" b="1">
                <a:solidFill>
                  <a:srgbClr val="E2E8F0"/>
                </a:solidFill>
              </a:defRPr>
            </a:pPr>
            <a:r>
              <a:t>1. Standard Feedforward (MLP)</a:t>
            </a:r>
          </a:p>
          <a:p>
            <a:pPr>
              <a:spcBef>
                <a:spcPts val="400"/>
              </a:spcBef>
              <a:defRPr sz="1300" b="1">
                <a:solidFill>
                  <a:srgbClr val="FFFFFF"/>
                </a:solidFill>
              </a:defRPr>
            </a:pPr>
            <a:r>
              <a:t>No Recurrent State</a:t>
            </a:r>
          </a:p>
          <a:p>
            <a:pPr>
              <a:spcBef>
                <a:spcPts val="1200"/>
              </a:spcBef>
              <a:defRPr sz="1250">
                <a:solidFill>
                  <a:srgbClr val="E2E8F0"/>
                </a:solidFill>
              </a:defRPr>
            </a:pPr>
            <a:r>
              <a:t>• Structure: y = f(W x + b)</a:t>
            </a:r>
            <a:br/>
            <a:r>
              <a:t>• Flaw: Assumes all inputs are statistically independent.</a:t>
            </a:r>
            <a:br/>
            <a:r>
              <a:t>• Musical Failure: Cannot remember musical motifs, key signatures, or rhythmic cadence across time.</a:t>
            </a:r>
            <a:br/>
            <a:r>
              <a:t>• Verdict: Inapplicable for temporal music modeling.</a:t>
            </a:r>
          </a:p>
        </p:txBody>
      </p:sp>
      <p:sp>
        <p:nvSpPr>
          <p:cNvPr id="8" name="Rounded Rectangle 7"/>
          <p:cNvSpPr/>
          <p:nvPr/>
        </p:nvSpPr>
        <p:spPr>
          <a:xfrm>
            <a:off x="4389120" y="1325880"/>
            <a:ext cx="3413455" cy="493776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508760"/>
            <a:ext cx="3139135" cy="4572000"/>
          </a:xfrm>
          <a:prstGeom prst="rect">
            <a:avLst/>
          </a:prstGeom>
          <a:noFill/>
        </p:spPr>
        <p:txBody>
          <a:bodyPr wrap="square" tIns="0" bIns="0" lIns="0" rIns="0">
            <a:spAutoFit/>
          </a:bodyPr>
          <a:lstStyle/>
          <a:p>
            <a:pPr>
              <a:defRPr sz="1500" b="1">
                <a:solidFill>
                  <a:srgbClr val="FF6B6B"/>
                </a:solidFill>
              </a:defRPr>
            </a:pPr>
            <a:r>
              <a:t>2. Vanilla Recurrent Network (RNN)</a:t>
            </a:r>
          </a:p>
          <a:p>
            <a:pPr>
              <a:spcBef>
                <a:spcPts val="400"/>
              </a:spcBef>
              <a:defRPr sz="1300" b="1">
                <a:solidFill>
                  <a:srgbClr val="FFFFFF"/>
                </a:solidFill>
              </a:defRPr>
            </a:pPr>
            <a:r>
              <a:t>Simple Hidden Recurrence</a:t>
            </a:r>
          </a:p>
          <a:p>
            <a:pPr>
              <a:spcBef>
                <a:spcPts val="1200"/>
              </a:spcBef>
              <a:defRPr sz="1250">
                <a:solidFill>
                  <a:srgbClr val="E2E8F0"/>
                </a:solidFill>
              </a:defRPr>
            </a:pPr>
            <a:r>
              <a:t>• Structure: h_t = tanh(W_h h_(t-1) + W_x x_t)</a:t>
            </a:r>
            <a:br/>
            <a:r>
              <a:t>• Flaw: Severe vanishing &amp; exploding gradients through time.</a:t>
            </a:r>
            <a:br/>
            <a:r>
              <a:t>• Mathematical Breakdown: Repeated matrix multiplication causes gradient norm to vanish as γ^T (γ &lt; 1).</a:t>
            </a:r>
            <a:br/>
            <a:r>
              <a:t>• Musical Failure: Forgets notes played &gt; 5 steps ago.</a:t>
            </a:r>
          </a:p>
        </p:txBody>
      </p:sp>
      <p:sp>
        <p:nvSpPr>
          <p:cNvPr id="10" name="Rounded Rectangle 9"/>
          <p:cNvSpPr/>
          <p:nvPr/>
        </p:nvSpPr>
        <p:spPr>
          <a:xfrm>
            <a:off x="8046720" y="1325880"/>
            <a:ext cx="3413455" cy="4937760"/>
          </a:xfrm>
          <a:prstGeom prst="roundRect">
            <a:avLst/>
          </a:prstGeom>
          <a:solidFill>
            <a:srgbClr val="151D36"/>
          </a:solidFill>
          <a:ln w="15240">
            <a:solidFill>
              <a:srgbClr val="26D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508760"/>
            <a:ext cx="3139135" cy="4572000"/>
          </a:xfrm>
          <a:prstGeom prst="rect">
            <a:avLst/>
          </a:prstGeom>
          <a:noFill/>
        </p:spPr>
        <p:txBody>
          <a:bodyPr wrap="square" tIns="0" bIns="0" lIns="0" rIns="0">
            <a:spAutoFit/>
          </a:bodyPr>
          <a:lstStyle/>
          <a:p>
            <a:pPr>
              <a:defRPr sz="1500" b="1">
                <a:solidFill>
                  <a:srgbClr val="26D9F1"/>
                </a:solidFill>
              </a:defRPr>
            </a:pPr>
            <a:r>
              <a:t>3. Long Short-Term Memory (LSTM)</a:t>
            </a:r>
          </a:p>
          <a:p>
            <a:pPr>
              <a:spcBef>
                <a:spcPts val="400"/>
              </a:spcBef>
              <a:defRPr sz="1300" b="1">
                <a:solidFill>
                  <a:srgbClr val="FFFFFF"/>
                </a:solidFill>
              </a:defRPr>
            </a:pPr>
            <a:r>
              <a:t>Gated Constant Error Carousel</a:t>
            </a:r>
          </a:p>
          <a:p>
            <a:pPr>
              <a:spcBef>
                <a:spcPts val="1200"/>
              </a:spcBef>
              <a:defRPr sz="1250">
                <a:solidFill>
                  <a:srgbClr val="E2E8F0"/>
                </a:solidFill>
              </a:defRPr>
            </a:pPr>
            <a:r>
              <a:t>• Structure: Dedicated Cell State C_t + 3 Gates (f, i, o)</a:t>
            </a:r>
            <a:br/>
            <a:r>
              <a:t>• Solution: Additive gradient highway (C_t = f_t C_(t-1) + i_t C~_t) allows gradients to flow across 32+ time steps.</a:t>
            </a:r>
            <a:br/>
            <a:r>
              <a:t>• Musical Success: Maintains long-term tonality while capturing local ornaments.</a:t>
            </a:r>
            <a:br/>
            <a:r>
              <a:t>• Verdict: Selected core architecture for MelodyLoop.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Inside the LSTM Cell: Gated Memory Dynamics</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lstm_cell.png"/>
          <p:cNvPicPr>
            <a:picLocks noChangeAspect="1"/>
          </p:cNvPicPr>
          <p:nvPr/>
        </p:nvPicPr>
        <p:blipFill>
          <a:blip r:embed="rId2"/>
          <a:stretch>
            <a:fillRect/>
          </a:stretch>
        </p:blipFill>
        <p:spPr>
          <a:xfrm>
            <a:off x="731520" y="1325880"/>
            <a:ext cx="10728655" cy="3291840"/>
          </a:xfrm>
          <a:prstGeom prst="rect">
            <a:avLst/>
          </a:prstGeom>
        </p:spPr>
      </p:pic>
      <p:sp>
        <p:nvSpPr>
          <p:cNvPr id="7" name="Rounded Rectangle 6"/>
          <p:cNvSpPr/>
          <p:nvPr/>
        </p:nvSpPr>
        <p:spPr>
          <a:xfrm>
            <a:off x="731520" y="4800600"/>
            <a:ext cx="2542032" cy="15544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92040"/>
            <a:ext cx="2359152" cy="1371600"/>
          </a:xfrm>
          <a:prstGeom prst="rect">
            <a:avLst/>
          </a:prstGeom>
          <a:noFill/>
        </p:spPr>
        <p:txBody>
          <a:bodyPr wrap="square" tIns="0" bIns="0" lIns="0" rIns="0">
            <a:spAutoFit/>
          </a:bodyPr>
          <a:lstStyle/>
          <a:p>
            <a:pPr>
              <a:defRPr sz="1400" b="1">
                <a:solidFill>
                  <a:srgbClr val="FF6B6B"/>
                </a:solidFill>
              </a:defRPr>
            </a:pPr>
            <a:r>
              <a:t>Forget Gate (f_t)</a:t>
            </a:r>
          </a:p>
          <a:p>
            <a:pPr>
              <a:spcBef>
                <a:spcPts val="400"/>
              </a:spcBef>
              <a:defRPr sz="1150">
                <a:solidFill>
                  <a:srgbClr val="E2E8F0"/>
                </a:solidFill>
              </a:defRPr>
            </a:pPr>
            <a:r>
              <a:t>f_t = σ(W_f [h_(t-1), x_t] + b_f)</a:t>
            </a:r>
            <a:br/>
            <a:r>
              <a:t>Outputs values in [0, 1]. Decides what fraction of prior cell memory C_(t-1) to discard (e.g. key modulation).</a:t>
            </a:r>
          </a:p>
        </p:txBody>
      </p:sp>
      <p:sp>
        <p:nvSpPr>
          <p:cNvPr id="9" name="Rounded Rectangle 8"/>
          <p:cNvSpPr/>
          <p:nvPr/>
        </p:nvSpPr>
        <p:spPr>
          <a:xfrm>
            <a:off x="3474720" y="4800600"/>
            <a:ext cx="2542032" cy="15544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4892040"/>
            <a:ext cx="2359152" cy="1371600"/>
          </a:xfrm>
          <a:prstGeom prst="rect">
            <a:avLst/>
          </a:prstGeom>
          <a:noFill/>
        </p:spPr>
        <p:txBody>
          <a:bodyPr wrap="square" tIns="0" bIns="0" lIns="0" rIns="0">
            <a:spAutoFit/>
          </a:bodyPr>
          <a:lstStyle/>
          <a:p>
            <a:pPr>
              <a:defRPr sz="1400" b="1">
                <a:solidFill>
                  <a:srgbClr val="26D9F1"/>
                </a:solidFill>
              </a:defRPr>
            </a:pPr>
            <a:r>
              <a:t>Input Gate (i_t)</a:t>
            </a:r>
          </a:p>
          <a:p>
            <a:pPr>
              <a:spcBef>
                <a:spcPts val="400"/>
              </a:spcBef>
              <a:defRPr sz="1150">
                <a:solidFill>
                  <a:srgbClr val="E2E8F0"/>
                </a:solidFill>
              </a:defRPr>
            </a:pPr>
            <a:r>
              <a:t>i_t = σ(W_i [h_(t-1), x_t] + b_i)</a:t>
            </a:r>
            <a:br/>
            <a:r>
              <a:t>Outputs values in [0, 1]. Decides which incoming musical features from candidate C~_t are worth adding to memory.</a:t>
            </a:r>
          </a:p>
        </p:txBody>
      </p:sp>
      <p:sp>
        <p:nvSpPr>
          <p:cNvPr id="11" name="Rounded Rectangle 10"/>
          <p:cNvSpPr/>
          <p:nvPr/>
        </p:nvSpPr>
        <p:spPr>
          <a:xfrm>
            <a:off x="6217920" y="4800600"/>
            <a:ext cx="2542032" cy="15544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892040"/>
            <a:ext cx="2359152" cy="1371600"/>
          </a:xfrm>
          <a:prstGeom prst="rect">
            <a:avLst/>
          </a:prstGeom>
          <a:noFill/>
        </p:spPr>
        <p:txBody>
          <a:bodyPr wrap="square" tIns="0" bIns="0" lIns="0" rIns="0">
            <a:spAutoFit/>
          </a:bodyPr>
          <a:lstStyle/>
          <a:p>
            <a:pPr>
              <a:defRPr sz="1400" b="1">
                <a:solidFill>
                  <a:srgbClr val="22C55E"/>
                </a:solidFill>
              </a:defRPr>
            </a:pPr>
            <a:r>
              <a:t>Candidate State (C~_t)</a:t>
            </a:r>
          </a:p>
          <a:p>
            <a:pPr>
              <a:spcBef>
                <a:spcPts val="400"/>
              </a:spcBef>
              <a:defRPr sz="1150">
                <a:solidFill>
                  <a:srgbClr val="E2E8F0"/>
                </a:solidFill>
              </a:defRPr>
            </a:pPr>
            <a:r>
              <a:t>C~_t = tanh(W_c [h_(t-1), x_t] + b_c)</a:t>
            </a:r>
            <a:br/>
            <a:r>
              <a:t>Generates candidate new memory vector in [-1, 1], scaled by input gate i_t before addition into cell state.</a:t>
            </a:r>
          </a:p>
        </p:txBody>
      </p:sp>
      <p:sp>
        <p:nvSpPr>
          <p:cNvPr id="13" name="Rounded Rectangle 12"/>
          <p:cNvSpPr/>
          <p:nvPr/>
        </p:nvSpPr>
        <p:spPr>
          <a:xfrm>
            <a:off x="8961120" y="4800600"/>
            <a:ext cx="2542032" cy="155448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4892040"/>
            <a:ext cx="2359152" cy="1371600"/>
          </a:xfrm>
          <a:prstGeom prst="rect">
            <a:avLst/>
          </a:prstGeom>
          <a:noFill/>
        </p:spPr>
        <p:txBody>
          <a:bodyPr wrap="square" tIns="0" bIns="0" lIns="0" rIns="0">
            <a:spAutoFit/>
          </a:bodyPr>
          <a:lstStyle/>
          <a:p>
            <a:pPr>
              <a:defRPr sz="1400" b="1">
                <a:solidFill>
                  <a:srgbClr val="FFC857"/>
                </a:solidFill>
              </a:defRPr>
            </a:pPr>
            <a:r>
              <a:t>Output Gate (o_t)</a:t>
            </a:r>
          </a:p>
          <a:p>
            <a:pPr>
              <a:spcBef>
                <a:spcPts val="400"/>
              </a:spcBef>
              <a:defRPr sz="1150">
                <a:solidFill>
                  <a:srgbClr val="E2E8F0"/>
                </a:solidFill>
              </a:defRPr>
            </a:pPr>
            <a:r>
              <a:t>o_t = σ(W_o [h_(t-1), x_t] + b_o)</a:t>
            </a:r>
            <a:br/>
            <a:r>
              <a:t>h_t = o_t ⊙ tanh(C_t)</a:t>
            </a:r>
            <a:br/>
            <a:r>
              <a:t>Filters cell state into the exposed hidden vector h_t passed to prediction heads.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MelodyLoop Neural Architecture &amp; Tensor Flow</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model_architecture.png"/>
          <p:cNvPicPr>
            <a:picLocks noChangeAspect="1"/>
          </p:cNvPicPr>
          <p:nvPr/>
        </p:nvPicPr>
        <p:blipFill>
          <a:blip r:embed="rId2"/>
          <a:stretch>
            <a:fillRect/>
          </a:stretch>
        </p:blipFill>
        <p:spPr>
          <a:xfrm>
            <a:off x="731520" y="1325880"/>
            <a:ext cx="10728655" cy="3200400"/>
          </a:xfrm>
          <a:prstGeom prst="rect">
            <a:avLst/>
          </a:prstGeom>
        </p:spPr>
      </p:pic>
      <p:sp>
        <p:nvSpPr>
          <p:cNvPr id="7" name="Rounded Rectangle 6"/>
          <p:cNvSpPr/>
          <p:nvPr/>
        </p:nvSpPr>
        <p:spPr>
          <a:xfrm>
            <a:off x="7315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00600"/>
            <a:ext cx="3139135" cy="1463040"/>
          </a:xfrm>
          <a:prstGeom prst="rect">
            <a:avLst/>
          </a:prstGeom>
          <a:noFill/>
        </p:spPr>
        <p:txBody>
          <a:bodyPr wrap="square" tIns="0" bIns="0" lIns="0" rIns="0">
            <a:spAutoFit/>
          </a:bodyPr>
          <a:lstStyle/>
          <a:p>
            <a:pPr>
              <a:defRPr sz="1500" b="1">
                <a:solidFill>
                  <a:srgbClr val="26D9F1"/>
                </a:solidFill>
              </a:defRPr>
            </a:pPr>
            <a:r>
              <a:t>Parallel Embedding Layer</a:t>
            </a:r>
          </a:p>
          <a:p>
            <a:pPr>
              <a:spcBef>
                <a:spcPts val="500"/>
              </a:spcBef>
              <a:defRPr sz="1200">
                <a:solidFill>
                  <a:srgbClr val="E2E8F0"/>
                </a:solidFill>
              </a:defRPr>
            </a:pPr>
            <a:r>
              <a:t>• nn.Embedding(128, 64) -&gt; 8,192 params</a:t>
            </a:r>
            <a:br/>
            <a:r>
              <a:t>• nn.Embedding(32, 32) -&gt; 1,024 params</a:t>
            </a:r>
            <a:br/>
            <a:r>
              <a:t>• nn.Embedding(32, 32) -&gt; 1,024 params</a:t>
            </a:r>
            <a:br/>
            <a:r>
              <a:t>Concatenated into 128-d input vector with Dropout(0.1).</a:t>
            </a:r>
          </a:p>
        </p:txBody>
      </p:sp>
      <p:sp>
        <p:nvSpPr>
          <p:cNvPr id="9" name="Rounded Rectangle 8"/>
          <p:cNvSpPr/>
          <p:nvPr/>
        </p:nvSpPr>
        <p:spPr>
          <a:xfrm>
            <a:off x="43891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800600"/>
            <a:ext cx="3139135" cy="1463040"/>
          </a:xfrm>
          <a:prstGeom prst="rect">
            <a:avLst/>
          </a:prstGeom>
          <a:noFill/>
        </p:spPr>
        <p:txBody>
          <a:bodyPr wrap="square" tIns="0" bIns="0" lIns="0" rIns="0">
            <a:spAutoFit/>
          </a:bodyPr>
          <a:lstStyle/>
          <a:p>
            <a:pPr>
              <a:defRPr sz="1500" b="1">
                <a:solidFill>
                  <a:srgbClr val="FFFFFF"/>
                </a:solidFill>
              </a:defRPr>
            </a:pPr>
            <a:r>
              <a:t>LSTM Core Layer</a:t>
            </a:r>
          </a:p>
          <a:p>
            <a:pPr>
              <a:spcBef>
                <a:spcPts val="500"/>
              </a:spcBef>
              <a:defRPr sz="1200">
                <a:solidFill>
                  <a:srgbClr val="E2E8F0"/>
                </a:solidFill>
              </a:defRPr>
            </a:pPr>
            <a:r>
              <a:t>• nn.LSTM(input_size=128, hidden_size=128, num_layers=1, batch_first=True)</a:t>
            </a:r>
            <a:br/>
            <a:r>
              <a:t>Weight matrices: 4 × (128×128 + 128×128 + 2×128) = 132,096 parameters.</a:t>
            </a:r>
          </a:p>
        </p:txBody>
      </p:sp>
      <p:sp>
        <p:nvSpPr>
          <p:cNvPr id="11" name="Rounded Rectangle 10"/>
          <p:cNvSpPr/>
          <p:nvPr/>
        </p:nvSpPr>
        <p:spPr>
          <a:xfrm>
            <a:off x="80467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4800600"/>
            <a:ext cx="3139135" cy="1463040"/>
          </a:xfrm>
          <a:prstGeom prst="rect">
            <a:avLst/>
          </a:prstGeom>
          <a:noFill/>
        </p:spPr>
        <p:txBody>
          <a:bodyPr wrap="square" tIns="0" bIns="0" lIns="0" rIns="0">
            <a:spAutoFit/>
          </a:bodyPr>
          <a:lstStyle/>
          <a:p>
            <a:pPr>
              <a:defRPr sz="1500" b="1">
                <a:solidFill>
                  <a:srgbClr val="FFC857"/>
                </a:solidFill>
              </a:defRPr>
            </a:pPr>
            <a:r>
              <a:t>Multi-Task Prediction Heads</a:t>
            </a:r>
          </a:p>
          <a:p>
            <a:pPr>
              <a:spcBef>
                <a:spcPts val="500"/>
              </a:spcBef>
              <a:defRPr sz="1200">
                <a:solidFill>
                  <a:srgbClr val="E2E8F0"/>
                </a:solidFill>
              </a:defRPr>
            </a:pPr>
            <a:r>
              <a:t>• Pitch Head: Linear(128, 128) -&gt; 16,512 params</a:t>
            </a:r>
            <a:br/>
            <a:r>
              <a:t>• Duration Head: Linear(128, 32) -&gt; 4,128 params</a:t>
            </a:r>
            <a:br/>
            <a:r>
              <a:t>• Step Head: Linear(128, 32) -&gt; 4,128 params</a:t>
            </a:r>
            <a:br/>
            <a:r>
              <a:t>Total Trainable Parameters: 167,104.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Multi-Task Optimization &amp; Training Dynamics</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sp>
        <p:nvSpPr>
          <p:cNvPr id="6" name="Rounded Rectangle 5"/>
          <p:cNvSpPr/>
          <p:nvPr/>
        </p:nvSpPr>
        <p:spPr>
          <a:xfrm>
            <a:off x="731520" y="1325880"/>
            <a:ext cx="5212080" cy="493776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754880" cy="4572000"/>
          </a:xfrm>
          <a:prstGeom prst="rect">
            <a:avLst/>
          </a:prstGeom>
          <a:noFill/>
        </p:spPr>
        <p:txBody>
          <a:bodyPr wrap="square">
            <a:spAutoFit/>
          </a:bodyPr>
          <a:lstStyle/>
          <a:p>
            <a:pPr>
              <a:defRPr sz="1500" b="1">
                <a:solidFill>
                  <a:srgbClr val="26D9F1"/>
                </a:solidFill>
              </a:defRPr>
            </a:pPr>
            <a:r>
              <a:t>THE RECURRENT TRAINING CYCLE (train.py)</a:t>
            </a:r>
          </a:p>
          <a:p>
            <a:pPr>
              <a:spcBef>
                <a:spcPts val="800"/>
              </a:spcBef>
            </a:pPr>
            <a:r>
              <a:rPr b="1" sz="1250">
                <a:solidFill>
                  <a:srgbClr val="FFFFFF"/>
                </a:solidFill>
              </a:rPr>
              <a:t>1. Batch Ingestion: </a:t>
            </a:r>
            <a:r>
              <a:rPr sz="1200">
                <a:solidFill>
                  <a:srgbClr val="E2E8F0"/>
                </a:solidFill>
              </a:rPr>
              <a:t>Mini-batch of 64 sequences (shape: [64, 32, 3]) transferred to GPU with non_blocking=True and pinned memory.</a:t>
            </a:r>
          </a:p>
          <a:p>
            <a:pPr>
              <a:spcBef>
                <a:spcPts val="800"/>
              </a:spcBef>
            </a:pPr>
            <a:r>
              <a:rPr b="1" sz="1250">
                <a:solidFill>
                  <a:srgbClr val="FFFFFF"/>
                </a:solidFill>
              </a:rPr>
              <a:t>2. Forward Propagation: </a:t>
            </a:r>
            <a:r>
              <a:rPr sz="1200">
                <a:solidFill>
                  <a:srgbClr val="E2E8F0"/>
                </a:solidFill>
              </a:rPr>
              <a:t>Inputs pass through embeddings, LSTM, and heads to produce unnormalized logits: L_p [64, 128], L_d [64, 32], L_s [64, 32].</a:t>
            </a:r>
          </a:p>
          <a:p>
            <a:pPr>
              <a:spcBef>
                <a:spcPts val="800"/>
              </a:spcBef>
            </a:pPr>
            <a:r>
              <a:rPr b="1" sz="1250">
                <a:solidFill>
                  <a:srgbClr val="FFFFFF"/>
                </a:solidFill>
              </a:rPr>
              <a:t>3. Multi-Task Loss Calculation: </a:t>
            </a:r>
            <a:r>
              <a:rPr sz="1200">
                <a:solidFill>
                  <a:srgbClr val="E2E8F0"/>
                </a:solidFill>
              </a:rPr>
              <a:t>Three separate cross-entropy losses are computed against target indices and summed equally: L_total = L_p + L_d + L_s.</a:t>
            </a:r>
          </a:p>
          <a:p>
            <a:pPr>
              <a:spcBef>
                <a:spcPts val="800"/>
              </a:spcBef>
            </a:pPr>
            <a:r>
              <a:rPr b="1" sz="1250">
                <a:solidFill>
                  <a:srgbClr val="FFFFFF"/>
                </a:solidFill>
              </a:rPr>
              <a:t>4. Backpropagation Through Time (BPTT): </a:t>
            </a:r>
            <a:r>
              <a:rPr sz="1200">
                <a:solidFill>
                  <a:srgbClr val="E2E8F0"/>
                </a:solidFill>
              </a:rPr>
              <a:t>loss.backward() unrolls gradients backward across all 32 time steps.</a:t>
            </a:r>
          </a:p>
          <a:p>
            <a:pPr>
              <a:spcBef>
                <a:spcPts val="800"/>
              </a:spcBef>
            </a:pPr>
            <a:r>
              <a:rPr b="1" sz="1250">
                <a:solidFill>
                  <a:srgbClr val="FFFFFF"/>
                </a:solidFill>
              </a:rPr>
              <a:t>5. Gradient Clipping: </a:t>
            </a:r>
            <a:r>
              <a:rPr sz="1200">
                <a:solidFill>
                  <a:srgbClr val="E2E8F0"/>
                </a:solidFill>
              </a:rPr>
              <a:t>torch.nn.utils.clip_grad_norm_(max_norm=1.0) prevents exploding gradients during sudden transitions.</a:t>
            </a:r>
          </a:p>
          <a:p>
            <a:pPr>
              <a:spcBef>
                <a:spcPts val="800"/>
              </a:spcBef>
            </a:pPr>
            <a:r>
              <a:rPr b="1" sz="1250">
                <a:solidFill>
                  <a:srgbClr val="FFFFFF"/>
                </a:solidFill>
              </a:rPr>
              <a:t>6. Parameter Update: </a:t>
            </a:r>
            <a:r>
              <a:rPr sz="1200">
                <a:solidFill>
                  <a:srgbClr val="E2E8F0"/>
                </a:solidFill>
              </a:rPr>
              <a:t>Adam optimizer (lr=0.001, weight_decay=1e-5) updates all 167k parameters using running first &amp; second moments.</a:t>
            </a:r>
          </a:p>
        </p:txBody>
      </p:sp>
      <p:sp>
        <p:nvSpPr>
          <p:cNvPr id="8" name="Rounded Rectangle 7"/>
          <p:cNvSpPr/>
          <p:nvPr/>
        </p:nvSpPr>
        <p:spPr>
          <a:xfrm>
            <a:off x="6217920" y="1325880"/>
            <a:ext cx="5212080" cy="493776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08760"/>
            <a:ext cx="4754880" cy="4572000"/>
          </a:xfrm>
          <a:prstGeom prst="rect">
            <a:avLst/>
          </a:prstGeom>
          <a:noFill/>
        </p:spPr>
        <p:txBody>
          <a:bodyPr wrap="square">
            <a:spAutoFit/>
          </a:bodyPr>
          <a:lstStyle/>
          <a:p>
            <a:pPr>
              <a:defRPr sz="1500" b="1">
                <a:solidFill>
                  <a:srgbClr val="FFC857"/>
                </a:solidFill>
              </a:defRPr>
            </a:pPr>
            <a:r>
              <a:t>HYPERPARAMETER SPECIFICATION &amp; HARDWARE</a:t>
            </a:r>
          </a:p>
          <a:p>
            <a:pPr>
              <a:spcBef>
                <a:spcPts val="800"/>
              </a:spcBef>
            </a:pPr>
            <a:r>
              <a:rPr b="1" sz="1250">
                <a:solidFill>
                  <a:srgbClr val="FFFFFF"/>
                </a:solidFill>
              </a:rPr>
              <a:t>• Compute Device: </a:t>
            </a:r>
            <a:r>
              <a:rPr sz="1200">
                <a:solidFill>
                  <a:srgbClr val="26D9F1"/>
                </a:solidFill>
              </a:rPr>
              <a:t>NVIDIA GeForce RTX 3050 Laptop GPU (4 GB VRAM)</a:t>
            </a:r>
          </a:p>
          <a:p>
            <a:pPr>
              <a:spcBef>
                <a:spcPts val="800"/>
              </a:spcBef>
            </a:pPr>
            <a:r>
              <a:rPr b="1" sz="1250">
                <a:solidFill>
                  <a:srgbClr val="FFFFFF"/>
                </a:solidFill>
              </a:rPr>
              <a:t>• PyTorch Environment: </a:t>
            </a:r>
            <a:r>
              <a:rPr sz="1200">
                <a:solidFill>
                  <a:srgbClr val="26D9F1"/>
                </a:solidFill>
              </a:rPr>
              <a:t>PyTorch 2.13.0+cu126 (CUDA 12.6 Backend)</a:t>
            </a:r>
          </a:p>
          <a:p>
            <a:pPr>
              <a:spcBef>
                <a:spcPts val="800"/>
              </a:spcBef>
            </a:pPr>
            <a:r>
              <a:rPr b="1" sz="1250">
                <a:solidFill>
                  <a:srgbClr val="FFFFFF"/>
                </a:solidFill>
              </a:rPr>
              <a:t>• Batch Size: </a:t>
            </a:r>
            <a:r>
              <a:rPr sz="1200">
                <a:solidFill>
                  <a:srgbClr val="26D9F1"/>
                </a:solidFill>
              </a:rPr>
              <a:t>64 sequences per iteration (1,562 batches / epoch)</a:t>
            </a:r>
          </a:p>
          <a:p>
            <a:pPr>
              <a:spcBef>
                <a:spcPts val="800"/>
              </a:spcBef>
            </a:pPr>
            <a:r>
              <a:rPr b="1" sz="1250">
                <a:solidFill>
                  <a:srgbClr val="FFFFFF"/>
                </a:solidFill>
              </a:rPr>
              <a:t>• Sequence Length: </a:t>
            </a:r>
            <a:r>
              <a:rPr sz="1200">
                <a:solidFill>
                  <a:srgbClr val="26D9F1"/>
                </a:solidFill>
              </a:rPr>
              <a:t>32 note events (sliding window, stride = 4)</a:t>
            </a:r>
          </a:p>
          <a:p>
            <a:pPr>
              <a:spcBef>
                <a:spcPts val="800"/>
              </a:spcBef>
            </a:pPr>
            <a:r>
              <a:rPr b="1" sz="1250">
                <a:solidFill>
                  <a:srgbClr val="FFFFFF"/>
                </a:solidFill>
              </a:rPr>
              <a:t>• Optimizer: </a:t>
            </a:r>
            <a:r>
              <a:rPr sz="1200">
                <a:solidFill>
                  <a:srgbClr val="26D9F1"/>
                </a:solidFill>
              </a:rPr>
              <a:t>Adam (Learning Rate = 1e-3, Weight Decay = 1e-5)</a:t>
            </a:r>
          </a:p>
          <a:p>
            <a:pPr>
              <a:spcBef>
                <a:spcPts val="800"/>
              </a:spcBef>
            </a:pPr>
            <a:r>
              <a:rPr b="1" sz="1250">
                <a:solidFill>
                  <a:srgbClr val="FFFFFF"/>
                </a:solidFill>
              </a:rPr>
              <a:t>• Loss Function: </a:t>
            </a:r>
            <a:r>
              <a:rPr sz="1200">
                <a:solidFill>
                  <a:srgbClr val="26D9F1"/>
                </a:solidFill>
              </a:rPr>
              <a:t>Multi-Task Cross-Entropy (Pitch, Duration, Step)</a:t>
            </a:r>
          </a:p>
          <a:p>
            <a:pPr>
              <a:spcBef>
                <a:spcPts val="800"/>
              </a:spcBef>
            </a:pPr>
            <a:r>
              <a:rPr b="1" sz="1250">
                <a:solidFill>
                  <a:srgbClr val="FFFFFF"/>
                </a:solidFill>
              </a:rPr>
              <a:t>• Regularization: </a:t>
            </a:r>
            <a:r>
              <a:rPr sz="1200">
                <a:solidFill>
                  <a:srgbClr val="26D9F1"/>
                </a:solidFill>
              </a:rPr>
              <a:t>Dropout(p=0.1) after embeddings + Gradient Clipping (1.0)</a:t>
            </a:r>
          </a:p>
          <a:p>
            <a:pPr>
              <a:spcBef>
                <a:spcPts val="800"/>
              </a:spcBef>
            </a:pPr>
            <a:r>
              <a:rPr b="1" sz="1250">
                <a:solidFill>
                  <a:srgbClr val="FFFFFF"/>
                </a:solidFill>
              </a:rPr>
              <a:t>• Throughput: </a:t>
            </a:r>
            <a:r>
              <a:rPr sz="1200">
                <a:solidFill>
                  <a:srgbClr val="26D9F1"/>
                </a:solidFill>
              </a:rPr>
              <a:t>~91 batches/sec (17.2 seconds per epoch)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Empirical Training Curves &amp; Early Stopping Checkpoint Selection</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training_loss.png"/>
          <p:cNvPicPr>
            <a:picLocks noChangeAspect="1"/>
          </p:cNvPicPr>
          <p:nvPr/>
        </p:nvPicPr>
        <p:blipFill>
          <a:blip r:embed="rId2"/>
          <a:stretch>
            <a:fillRect/>
          </a:stretch>
        </p:blipFill>
        <p:spPr>
          <a:xfrm>
            <a:off x="731520" y="1325880"/>
            <a:ext cx="10728655" cy="3200400"/>
          </a:xfrm>
          <a:prstGeom prst="rect">
            <a:avLst/>
          </a:prstGeom>
        </p:spPr>
      </p:pic>
      <p:sp>
        <p:nvSpPr>
          <p:cNvPr id="7" name="Rounded Rectangle 6"/>
          <p:cNvSpPr/>
          <p:nvPr/>
        </p:nvSpPr>
        <p:spPr>
          <a:xfrm>
            <a:off x="7315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00600"/>
            <a:ext cx="3139135" cy="1463040"/>
          </a:xfrm>
          <a:prstGeom prst="rect">
            <a:avLst/>
          </a:prstGeom>
          <a:noFill/>
        </p:spPr>
        <p:txBody>
          <a:bodyPr wrap="square" tIns="0" bIns="0" lIns="0" rIns="0">
            <a:spAutoFit/>
          </a:bodyPr>
          <a:lstStyle/>
          <a:p>
            <a:pPr>
              <a:defRPr sz="1500" b="1">
                <a:solidFill>
                  <a:srgbClr val="22C55E"/>
                </a:solidFill>
              </a:defRPr>
            </a:pPr>
            <a:r>
              <a:t>Best Validation Checkpoint</a:t>
            </a:r>
          </a:p>
          <a:p>
            <a:pPr>
              <a:spcBef>
                <a:spcPts val="500"/>
              </a:spcBef>
              <a:defRPr sz="1200">
                <a:solidFill>
                  <a:srgbClr val="E2E8F0"/>
                </a:solidFill>
              </a:defRPr>
            </a:pPr>
            <a:r>
              <a:t>Epoch 07 (Val Loss: 5.9151)</a:t>
            </a:r>
            <a:br/>
            <a:r>
              <a:t>Pitch: 3.320 | Dur: 1.223 | Step: 1.372</a:t>
            </a:r>
            <a:br/>
            <a:r>
              <a:t>Surpasses baseline model best val loss (6.1791) by -0.2640 points.</a:t>
            </a:r>
          </a:p>
        </p:txBody>
      </p:sp>
      <p:sp>
        <p:nvSpPr>
          <p:cNvPr id="9" name="Rounded Rectangle 8"/>
          <p:cNvSpPr/>
          <p:nvPr/>
        </p:nvSpPr>
        <p:spPr>
          <a:xfrm>
            <a:off x="43891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800600"/>
            <a:ext cx="3139135" cy="1463040"/>
          </a:xfrm>
          <a:prstGeom prst="rect">
            <a:avLst/>
          </a:prstGeom>
          <a:noFill/>
        </p:spPr>
        <p:txBody>
          <a:bodyPr wrap="square" tIns="0" bIns="0" lIns="0" rIns="0">
            <a:spAutoFit/>
          </a:bodyPr>
          <a:lstStyle/>
          <a:p>
            <a:pPr>
              <a:defRPr sz="1500" b="1">
                <a:solidFill>
                  <a:srgbClr val="26D9F1"/>
                </a:solidFill>
              </a:defRPr>
            </a:pPr>
            <a:r>
              <a:t>Training Loss Trajectory</a:t>
            </a:r>
          </a:p>
          <a:p>
            <a:pPr>
              <a:spcBef>
                <a:spcPts val="500"/>
              </a:spcBef>
              <a:defRPr sz="1200">
                <a:solidFill>
                  <a:srgbClr val="E2E8F0"/>
                </a:solidFill>
              </a:defRPr>
            </a:pPr>
            <a:r>
              <a:t>6.3280 (Epoch 1) → 4.9121 (Epoch 15)</a:t>
            </a:r>
            <a:br/>
            <a:r>
              <a:t>Steady monotonic reduction (-1.4159 points) proves effective backpropagation and gradient descent optimization.</a:t>
            </a:r>
          </a:p>
        </p:txBody>
      </p:sp>
      <p:sp>
        <p:nvSpPr>
          <p:cNvPr id="11" name="Rounded Rectangle 10"/>
          <p:cNvSpPr/>
          <p:nvPr/>
        </p:nvSpPr>
        <p:spPr>
          <a:xfrm>
            <a:off x="80467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4800600"/>
            <a:ext cx="3139135" cy="1463040"/>
          </a:xfrm>
          <a:prstGeom prst="rect">
            <a:avLst/>
          </a:prstGeom>
          <a:noFill/>
        </p:spPr>
        <p:txBody>
          <a:bodyPr wrap="square" tIns="0" bIns="0" lIns="0" rIns="0">
            <a:spAutoFit/>
          </a:bodyPr>
          <a:lstStyle/>
          <a:p>
            <a:pPr>
              <a:defRPr sz="1500" b="1">
                <a:solidFill>
                  <a:srgbClr val="FFC857"/>
                </a:solidFill>
              </a:defRPr>
            </a:pPr>
            <a:r>
              <a:t>Generalization &amp; Early Stopping</a:t>
            </a:r>
          </a:p>
          <a:p>
            <a:pPr>
              <a:spcBef>
                <a:spcPts val="500"/>
              </a:spcBef>
              <a:defRPr sz="1200">
                <a:solidFill>
                  <a:srgbClr val="E2E8F0"/>
                </a:solidFill>
              </a:defRPr>
            </a:pPr>
            <a:r>
              <a:t>Patience = 8 Epochs Triggered at Ep 15</a:t>
            </a:r>
            <a:br/>
            <a:r>
              <a:t>Validation loss stabilized around ~5.92–6.03 while train loss continued falling. Best checkpoint was preserved to prevent overfitting.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Checkpoint Serialization &amp; Inference Resumption</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sp>
        <p:nvSpPr>
          <p:cNvPr id="6" name="Rounded Rectangle 5"/>
          <p:cNvSpPr/>
          <p:nvPr/>
        </p:nvSpPr>
        <p:spPr>
          <a:xfrm>
            <a:off x="731520" y="1325880"/>
            <a:ext cx="5212080" cy="493776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754880" cy="4572000"/>
          </a:xfrm>
          <a:prstGeom prst="rect">
            <a:avLst/>
          </a:prstGeom>
          <a:noFill/>
        </p:spPr>
        <p:txBody>
          <a:bodyPr wrap="square">
            <a:spAutoFit/>
          </a:bodyPr>
          <a:lstStyle/>
          <a:p>
            <a:pPr>
              <a:defRPr sz="1500" b="1">
                <a:solidFill>
                  <a:srgbClr val="26D9F1"/>
                </a:solidFill>
              </a:defRPr>
            </a:pPr>
            <a:r>
              <a:t>CHECKPOINT PAYLOAD ANATOMY (.pt)</a:t>
            </a:r>
          </a:p>
          <a:p>
            <a:pPr>
              <a:spcBef>
                <a:spcPts val="800"/>
              </a:spcBef>
            </a:pPr>
            <a:r>
              <a:rPr b="1" sz="1300">
                <a:solidFill>
                  <a:srgbClr val="FFC857"/>
                </a:solidFill>
                <a:latin typeface="Consolas"/>
              </a:rPr>
              <a:t>• model_state_dict: </a:t>
            </a:r>
            <a:r>
              <a:rPr sz="1200">
                <a:solidFill>
                  <a:srgbClr val="E2E8F0"/>
                </a:solidFill>
              </a:rPr>
              <a:t>Complete dictionary of all learned PyTorch tensor weight matrices (167,104 parameters).</a:t>
            </a:r>
          </a:p>
          <a:p>
            <a:pPr>
              <a:spcBef>
                <a:spcPts val="800"/>
              </a:spcBef>
            </a:pPr>
            <a:r>
              <a:rPr b="1" sz="1300">
                <a:solidFill>
                  <a:srgbClr val="FFC857"/>
                </a:solidFill>
                <a:latin typeface="Consolas"/>
              </a:rPr>
              <a:t>• optimizer_state_dict: </a:t>
            </a:r>
            <a:r>
              <a:rPr sz="1200">
                <a:solidFill>
                  <a:srgbClr val="E2E8F0"/>
                </a:solidFill>
              </a:rPr>
              <a:t>Running Adam first (m) and second (v) gradient momentum vectors for seamless training resumption.</a:t>
            </a:r>
          </a:p>
          <a:p>
            <a:pPr>
              <a:spcBef>
                <a:spcPts val="800"/>
              </a:spcBef>
            </a:pPr>
            <a:r>
              <a:rPr b="1" sz="1300">
                <a:solidFill>
                  <a:srgbClr val="FFC857"/>
                </a:solidFill>
                <a:latin typeface="Consolas"/>
              </a:rPr>
              <a:t>• epoch: </a:t>
            </a:r>
            <a:r>
              <a:rPr sz="1200">
                <a:solidFill>
                  <a:srgbClr val="E2E8F0"/>
                </a:solidFill>
              </a:rPr>
              <a:t>Integer recording the exact completed epoch index (e.g. Epoch 7).</a:t>
            </a:r>
          </a:p>
          <a:p>
            <a:pPr>
              <a:spcBef>
                <a:spcPts val="800"/>
              </a:spcBef>
            </a:pPr>
            <a:r>
              <a:rPr b="1" sz="1300">
                <a:solidFill>
                  <a:srgbClr val="FFC857"/>
                </a:solidFill>
                <a:latin typeface="Consolas"/>
              </a:rPr>
              <a:t>• train_loss &amp; val_loss: </a:t>
            </a:r>
            <a:r>
              <a:rPr sz="1200">
                <a:solidFill>
                  <a:srgbClr val="E2E8F0"/>
                </a:solidFill>
              </a:rPr>
              <a:t>Floating-point loss values at checkpoint creation (val_loss: 5.9151).</a:t>
            </a:r>
          </a:p>
          <a:p>
            <a:pPr>
              <a:spcBef>
                <a:spcPts val="800"/>
              </a:spcBef>
            </a:pPr>
            <a:r>
              <a:rPr b="1" sz="1300">
                <a:solidFill>
                  <a:srgbClr val="FFC857"/>
                </a:solidFill>
                <a:latin typeface="Consolas"/>
              </a:rPr>
              <a:t>• metrics: </a:t>
            </a:r>
            <a:r>
              <a:rPr sz="1200">
                <a:solidFill>
                  <a:srgbClr val="E2E8F0"/>
                </a:solidFill>
              </a:rPr>
              <a:t>Multi-task breakdown dictionary (loss_pitch, loss_dur, loss_step).</a:t>
            </a:r>
          </a:p>
          <a:p>
            <a:pPr>
              <a:spcBef>
                <a:spcPts val="800"/>
              </a:spcBef>
            </a:pPr>
            <a:r>
              <a:rPr b="1" sz="1300">
                <a:solidFill>
                  <a:srgbClr val="FFC857"/>
                </a:solidFill>
                <a:latin typeface="Consolas"/>
              </a:rPr>
              <a:t>• config: </a:t>
            </a:r>
            <a:r>
              <a:rPr sz="1200">
                <a:solidFill>
                  <a:srgbClr val="E2E8F0"/>
                </a:solidFill>
              </a:rPr>
              <a:t>Serialized dictionary of all hyperparameters (hidden_dim=128, seq_length=32) for zero-mismatch reloading.</a:t>
            </a:r>
          </a:p>
        </p:txBody>
      </p:sp>
      <p:sp>
        <p:nvSpPr>
          <p:cNvPr id="8" name="Rounded Rectangle 7"/>
          <p:cNvSpPr/>
          <p:nvPr/>
        </p:nvSpPr>
        <p:spPr>
          <a:xfrm>
            <a:off x="6217920" y="1325880"/>
            <a:ext cx="5212080" cy="493776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08760"/>
            <a:ext cx="4754880" cy="4572000"/>
          </a:xfrm>
          <a:prstGeom prst="rect">
            <a:avLst/>
          </a:prstGeom>
          <a:noFill/>
        </p:spPr>
        <p:txBody>
          <a:bodyPr wrap="square">
            <a:spAutoFit/>
          </a:bodyPr>
          <a:lstStyle/>
          <a:p>
            <a:pPr>
              <a:defRPr sz="1500" b="1">
                <a:solidFill>
                  <a:srgbClr val="FFC857"/>
                </a:solidFill>
              </a:defRPr>
            </a:pPr>
            <a:r>
              <a:t>VERIFIED ARTIFACT STORAGE &amp; VERSIONING</a:t>
            </a:r>
          </a:p>
          <a:p>
            <a:pPr>
              <a:spcBef>
                <a:spcPts val="1000"/>
              </a:spcBef>
            </a:pPr>
            <a:r>
              <a:rPr b="1" sz="1350">
                <a:solidFill>
                  <a:srgbClr val="22C55E"/>
                </a:solidFill>
                <a:latin typeface="Consolas"/>
              </a:rPr>
              <a:t>📁 best_model_expanded.pt
</a:t>
            </a:r>
            <a:r>
              <a:rPr sz="1200">
                <a:solidFill>
                  <a:srgbClr val="E2E8F0"/>
                </a:solidFill>
              </a:rPr>
              <a:t>Epoch 7 Best Model — Val Loss: 5.9151 | Trained on 962 files, 100k sequences. Primary deployment checkpoint.</a:t>
            </a:r>
          </a:p>
          <a:p>
            <a:pPr>
              <a:spcBef>
                <a:spcPts val="1000"/>
              </a:spcBef>
            </a:pPr>
            <a:r>
              <a:rPr b="1" sz="1350">
                <a:solidFill>
                  <a:srgbClr val="FFFFFF"/>
                </a:solidFill>
                <a:latin typeface="Consolas"/>
              </a:rPr>
              <a:t>📁 latest_model_expanded.pt
</a:t>
            </a:r>
            <a:r>
              <a:rPr sz="1200">
                <a:solidFill>
                  <a:srgbClr val="E2E8F0"/>
                </a:solidFill>
              </a:rPr>
              <a:t>Epoch 15 Latest Model — Val Loss: 6.0386 | Final epoch before early stopping. Preserved for training recovery.</a:t>
            </a:r>
          </a:p>
          <a:p>
            <a:pPr>
              <a:spcBef>
                <a:spcPts val="1000"/>
              </a:spcBef>
            </a:pPr>
            <a:r>
              <a:rPr b="1" sz="1350">
                <a:solidFill>
                  <a:srgbClr val="E2E8F0"/>
                </a:solidFill>
                <a:latin typeface="Consolas"/>
              </a:rPr>
              <a:t>📁 best_model_v1_baseline.pt
</a:t>
            </a:r>
            <a:r>
              <a:rPr sz="1200">
                <a:solidFill>
                  <a:srgbClr val="E2E8F0"/>
                </a:solidFill>
              </a:rPr>
              <a:t>Epoch 4 Baseline Model — Val Loss: 6.1791 | Original 13-performance model safely preserved for comparative benchmark.</a:t>
            </a:r>
          </a:p>
          <a:p>
            <a:pPr>
              <a:spcBef>
                <a:spcPts val="1000"/>
              </a:spcBef>
            </a:pPr>
            <a:r>
              <a:rPr b="1" sz="1350">
                <a:solidFill>
                  <a:srgbClr val="26D9F1"/>
                </a:solidFill>
                <a:latin typeface="Consolas"/>
              </a:rPr>
              <a:t>📁 training_expanded.log
</a:t>
            </a:r>
            <a:r>
              <a:rPr sz="1200">
                <a:solidFill>
                  <a:srgbClr val="E2E8F0"/>
                </a:solidFill>
              </a:rPr>
              <a:t>Persistent Training Record — Complete timestamped log of all batches, running averages, and validation metrics.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Autoregressive Music Generation &amp; Controllable Sampling</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autoregressive_loop.png"/>
          <p:cNvPicPr>
            <a:picLocks noChangeAspect="1"/>
          </p:cNvPicPr>
          <p:nvPr/>
        </p:nvPicPr>
        <p:blipFill>
          <a:blip r:embed="rId2"/>
          <a:stretch>
            <a:fillRect/>
          </a:stretch>
        </p:blipFill>
        <p:spPr>
          <a:xfrm>
            <a:off x="731520" y="1325880"/>
            <a:ext cx="10728655" cy="3200400"/>
          </a:xfrm>
          <a:prstGeom prst="rect">
            <a:avLst/>
          </a:prstGeom>
        </p:spPr>
      </p:pic>
      <p:sp>
        <p:nvSpPr>
          <p:cNvPr id="7" name="Rounded Rectangle 6"/>
          <p:cNvSpPr/>
          <p:nvPr/>
        </p:nvSpPr>
        <p:spPr>
          <a:xfrm>
            <a:off x="7315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00600"/>
            <a:ext cx="3139135" cy="1463040"/>
          </a:xfrm>
          <a:prstGeom prst="rect">
            <a:avLst/>
          </a:prstGeom>
          <a:noFill/>
        </p:spPr>
        <p:txBody>
          <a:bodyPr wrap="square" tIns="0" bIns="0" lIns="0" rIns="0">
            <a:spAutoFit/>
          </a:bodyPr>
          <a:lstStyle/>
          <a:p>
            <a:pPr>
              <a:defRPr sz="1500" b="1">
                <a:solidFill>
                  <a:srgbClr val="26D9F1"/>
                </a:solidFill>
              </a:defRPr>
            </a:pPr>
            <a:r>
              <a:t>Temperature Scaling (T = 0.6)</a:t>
            </a:r>
          </a:p>
          <a:p>
            <a:pPr>
              <a:spcBef>
                <a:spcPts val="500"/>
              </a:spcBef>
              <a:defRPr sz="1200">
                <a:solidFill>
                  <a:srgbClr val="E2E8F0"/>
                </a:solidFill>
              </a:defRPr>
            </a:pPr>
            <a:r>
              <a:t>P(y_i) = exp(z_i / T) / Σ exp(z_j / T)</a:t>
            </a:r>
            <a:br/>
            <a:r>
              <a:t>• Low Temp (T=0.4–0.6): Sharpens distribution around high-confidence notes; prevents erratic dissonance.</a:t>
            </a:r>
            <a:br/>
            <a:r>
              <a:t>• High Temp (T=1.2): Flattens distribution; encourages exploration at the cost of coherence.</a:t>
            </a:r>
          </a:p>
        </p:txBody>
      </p:sp>
      <p:sp>
        <p:nvSpPr>
          <p:cNvPr id="9" name="Rounded Rectangle 8"/>
          <p:cNvSpPr/>
          <p:nvPr/>
        </p:nvSpPr>
        <p:spPr>
          <a:xfrm>
            <a:off x="43891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800600"/>
            <a:ext cx="3139135" cy="1463040"/>
          </a:xfrm>
          <a:prstGeom prst="rect">
            <a:avLst/>
          </a:prstGeom>
          <a:noFill/>
        </p:spPr>
        <p:txBody>
          <a:bodyPr wrap="square" tIns="0" bIns="0" lIns="0" rIns="0">
            <a:spAutoFit/>
          </a:bodyPr>
          <a:lstStyle/>
          <a:p>
            <a:pPr>
              <a:defRPr sz="1500" b="1">
                <a:solidFill>
                  <a:srgbClr val="FFC857"/>
                </a:solidFill>
              </a:defRPr>
            </a:pPr>
            <a:r>
              <a:t>Top-K Candidate Truncation (k = 5)</a:t>
            </a:r>
          </a:p>
          <a:p>
            <a:pPr>
              <a:spcBef>
                <a:spcPts val="500"/>
              </a:spcBef>
              <a:defRPr sz="1200">
                <a:solidFill>
                  <a:srgbClr val="E2E8F0"/>
                </a:solidFill>
              </a:defRPr>
            </a:pPr>
            <a:r>
              <a:t>Sorts predicted logits, retains only top k=5 most probable candidates, sets all others to -inf, and renormalizes with Softmax.</a:t>
            </a:r>
            <a:br/>
            <a:r>
              <a:t>Completely eliminates tail probability hallucinations and unnatural pitch jumps.</a:t>
            </a:r>
          </a:p>
        </p:txBody>
      </p:sp>
      <p:sp>
        <p:nvSpPr>
          <p:cNvPr id="11" name="Rounded Rectangle 10"/>
          <p:cNvSpPr/>
          <p:nvPr/>
        </p:nvSpPr>
        <p:spPr>
          <a:xfrm>
            <a:off x="80467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4800600"/>
            <a:ext cx="3139135" cy="1463040"/>
          </a:xfrm>
          <a:prstGeom prst="rect">
            <a:avLst/>
          </a:prstGeom>
          <a:noFill/>
        </p:spPr>
        <p:txBody>
          <a:bodyPr wrap="square" tIns="0" bIns="0" lIns="0" rIns="0">
            <a:spAutoFit/>
          </a:bodyPr>
          <a:lstStyle/>
          <a:p>
            <a:pPr>
              <a:defRPr sz="1500" b="1">
                <a:solidFill>
                  <a:srgbClr val="FFFFFF"/>
                </a:solidFill>
              </a:defRPr>
            </a:pPr>
            <a:r>
              <a:t>Dual Generation Modes</a:t>
            </a:r>
          </a:p>
          <a:p>
            <a:pPr>
              <a:spcBef>
                <a:spcPts val="500"/>
              </a:spcBef>
              <a:defRPr sz="1200">
                <a:solidFill>
                  <a:srgbClr val="E2E8F0"/>
                </a:solidFill>
              </a:defRPr>
            </a:pPr>
            <a:r>
              <a:t>• Free Generation: Generates from scratch using an initial uniform middle-register seed buffer.</a:t>
            </a:r>
            <a:br/>
            <a:r>
              <a:t>• Seeded Continuation: Ingests 32 notes from real classical MIDI (e.g. Schubert, Chopin) and generates an original LSTM continuation.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36576"/>
          </a:xfrm>
          <a:prstGeom prst="rect">
            <a:avLst/>
          </a:prstGeom>
          <a:solidFill>
            <a:srgbClr val="2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30352"/>
            <a:ext cx="10728655" cy="658368"/>
          </a:xfrm>
          <a:prstGeom prst="rect">
            <a:avLst/>
          </a:prstGeom>
          <a:noFill/>
        </p:spPr>
        <p:txBody>
          <a:bodyPr wrap="square" lIns="0" rIns="0" tIns="0" bIns="0">
            <a:spAutoFit/>
          </a:bodyPr>
          <a:lstStyle/>
          <a:p>
            <a:pPr>
              <a:defRPr sz="2600" b="1">
                <a:solidFill>
                  <a:srgbClr val="FFFFFF"/>
                </a:solidFill>
                <a:latin typeface="Segoe UI"/>
              </a:defRPr>
            </a:pPr>
            <a:r>
              <a:t>Audio Rendering: Additive Synthesis &amp; ADSR Enveloping</a:t>
            </a:r>
          </a:p>
        </p:txBody>
      </p:sp>
      <p:sp>
        <p:nvSpPr>
          <p:cNvPr id="5" name="TextBox 4"/>
          <p:cNvSpPr txBox="1"/>
          <p:nvPr/>
        </p:nvSpPr>
        <p:spPr>
          <a:xfrm>
            <a:off x="731520" y="6492240"/>
            <a:ext cx="10728655" cy="274320"/>
          </a:xfrm>
          <a:prstGeom prst="rect">
            <a:avLst/>
          </a:prstGeom>
          <a:noFill/>
        </p:spPr>
        <p:txBody>
          <a:bodyPr wrap="none" lIns="0" rIns="0" tIns="0" bIns="0">
            <a:spAutoFit/>
          </a:bodyPr>
          <a:lstStyle/>
          <a:p>
            <a:pPr>
              <a:defRPr sz="950">
                <a:solidFill>
                  <a:srgbClr val="E2E8F0"/>
                </a:solidFill>
                <a:latin typeface="Segoe UI"/>
              </a:defRPr>
            </a:pPr>
            <a:r>
              <a:t>MelodyLoop — LSTM Music Generation | Academic Project Defense &amp; Evaluation</a:t>
            </a:r>
          </a:p>
        </p:txBody>
      </p:sp>
      <p:pic>
        <p:nvPicPr>
          <p:cNvPr id="6" name="Picture 5" descr="fig_audio_synthesis.png"/>
          <p:cNvPicPr>
            <a:picLocks noChangeAspect="1"/>
          </p:cNvPicPr>
          <p:nvPr/>
        </p:nvPicPr>
        <p:blipFill>
          <a:blip r:embed="rId2"/>
          <a:stretch>
            <a:fillRect/>
          </a:stretch>
        </p:blipFill>
        <p:spPr>
          <a:xfrm>
            <a:off x="731520" y="1325880"/>
            <a:ext cx="10728655" cy="3200400"/>
          </a:xfrm>
          <a:prstGeom prst="rect">
            <a:avLst/>
          </a:prstGeom>
        </p:spPr>
      </p:pic>
      <p:sp>
        <p:nvSpPr>
          <p:cNvPr id="7" name="Rounded Rectangle 6"/>
          <p:cNvSpPr/>
          <p:nvPr/>
        </p:nvSpPr>
        <p:spPr>
          <a:xfrm>
            <a:off x="7315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00600"/>
            <a:ext cx="3139135" cy="1463040"/>
          </a:xfrm>
          <a:prstGeom prst="rect">
            <a:avLst/>
          </a:prstGeom>
          <a:noFill/>
        </p:spPr>
        <p:txBody>
          <a:bodyPr wrap="square" tIns="0" bIns="0" lIns="0" rIns="0">
            <a:spAutoFit/>
          </a:bodyPr>
          <a:lstStyle/>
          <a:p>
            <a:pPr>
              <a:defRPr sz="1500" b="1">
                <a:solidFill>
                  <a:srgbClr val="26D9F1"/>
                </a:solidFill>
              </a:defRPr>
            </a:pPr>
            <a:r>
              <a:t>Additive Harmonic Synthesis</a:t>
            </a:r>
          </a:p>
          <a:p>
            <a:pPr>
              <a:spcBef>
                <a:spcPts val="500"/>
              </a:spcBef>
              <a:defRPr sz="1200">
                <a:solidFill>
                  <a:srgbClr val="E2E8F0"/>
                </a:solidFill>
              </a:defRPr>
            </a:pPr>
            <a:r>
              <a:t>Real piano tones contain harmonic overtones. melodyloop/audio.py synthesizes notes via:</a:t>
            </a:r>
            <a:br/>
            <a:r>
              <a:t>  s(t) = 0.60 sin(2π f0 t) + 0.25 sin(4π f0 t) + 0.15 sin(6π f0 t)</a:t>
            </a:r>
            <a:br/>
            <a:r>
              <a:t>Fundamental f0 + 2nd harmonic (2f0) + 3rd harmonic (3f0).</a:t>
            </a:r>
          </a:p>
        </p:txBody>
      </p:sp>
      <p:sp>
        <p:nvSpPr>
          <p:cNvPr id="9" name="Rounded Rectangle 8"/>
          <p:cNvSpPr/>
          <p:nvPr/>
        </p:nvSpPr>
        <p:spPr>
          <a:xfrm>
            <a:off x="43891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800600"/>
            <a:ext cx="3139135" cy="1463040"/>
          </a:xfrm>
          <a:prstGeom prst="rect">
            <a:avLst/>
          </a:prstGeom>
          <a:noFill/>
        </p:spPr>
        <p:txBody>
          <a:bodyPr wrap="square" tIns="0" bIns="0" lIns="0" rIns="0">
            <a:spAutoFit/>
          </a:bodyPr>
          <a:lstStyle/>
          <a:p>
            <a:pPr>
              <a:defRPr sz="1500" b="1">
                <a:solidFill>
                  <a:srgbClr val="FFC857"/>
                </a:solidFill>
              </a:defRPr>
            </a:pPr>
            <a:r>
              <a:t>ADSR Amplitude Envelope</a:t>
            </a:r>
          </a:p>
          <a:p>
            <a:pPr>
              <a:spcBef>
                <a:spcPts val="500"/>
              </a:spcBef>
              <a:defRPr sz="1200">
                <a:solidFill>
                  <a:srgbClr val="E2E8F0"/>
                </a:solidFill>
              </a:defRPr>
            </a:pPr>
            <a:r>
              <a:t>To prevent harsh clicking artifacts at note onset and release, an exponential envelope is applied:</a:t>
            </a:r>
            <a:br/>
            <a:r>
              <a:t>  E(t) = exp(-3.0 t / duration)</a:t>
            </a:r>
            <a:br/>
            <a:r>
              <a:t>Includes 5ms linear attack ramp and 10ms smooth release decay.</a:t>
            </a:r>
          </a:p>
        </p:txBody>
      </p:sp>
      <p:sp>
        <p:nvSpPr>
          <p:cNvPr id="11" name="Rounded Rectangle 10"/>
          <p:cNvSpPr/>
          <p:nvPr/>
        </p:nvSpPr>
        <p:spPr>
          <a:xfrm>
            <a:off x="8046720" y="4709160"/>
            <a:ext cx="3413455" cy="1645920"/>
          </a:xfrm>
          <a:prstGeom prst="roundRect">
            <a:avLst/>
          </a:prstGeom>
          <a:solidFill>
            <a:srgbClr val="151D36"/>
          </a:solidFill>
          <a:ln w="15240">
            <a:solidFill>
              <a:srgbClr val="2A3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4800600"/>
            <a:ext cx="3139135" cy="1463040"/>
          </a:xfrm>
          <a:prstGeom prst="rect">
            <a:avLst/>
          </a:prstGeom>
          <a:noFill/>
        </p:spPr>
        <p:txBody>
          <a:bodyPr wrap="square" tIns="0" bIns="0" lIns="0" rIns="0">
            <a:spAutoFit/>
          </a:bodyPr>
          <a:lstStyle/>
          <a:p>
            <a:pPr>
              <a:defRPr sz="1500" b="1">
                <a:solidFill>
                  <a:srgbClr val="FFFFFF"/>
                </a:solidFill>
              </a:defRPr>
            </a:pPr>
            <a:r>
              <a:t>Dual Export Pipeline</a:t>
            </a:r>
          </a:p>
          <a:p>
            <a:pPr>
              <a:spcBef>
                <a:spcPts val="500"/>
              </a:spcBef>
              <a:defRPr sz="1200">
                <a:solidFill>
                  <a:srgbClr val="E2E8F0"/>
                </a:solidFill>
              </a:defRPr>
            </a:pPr>
            <a:r>
              <a:t>• MIDI File (.mid): Built via mido, contains raw Note On/Off channel events and microsecond tempo (120 BPM).</a:t>
            </a:r>
            <a:br/>
            <a:r>
              <a:t>• WAV File (.wav): 44.1 kHz 16-bit PCM waveform rendered entirely in pure NumPy/SciPy without external soundfonts.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