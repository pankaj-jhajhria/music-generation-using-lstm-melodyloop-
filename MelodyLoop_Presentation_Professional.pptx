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TALK:</a:t>
            </a:r>
          </a:p>
          <a:p>
            <a:r>
              <a:t>Good morning, Professor and members of the evaluation committee. Today, I am presenting MelodyLoop, an end-to-end deep learning engineering project focused on symbolic piano music generation using a custom Long Short-Term Memory network.</a:t>
            </a:r>
          </a:p>
          <a:p/>
          <a:p>
            <a:r>
              <a:t>CORE IDEA:</a:t>
            </a:r>
          </a:p>
          <a:p>
            <a:r>
              <a:t>Rather than treating music as unstructured raw audio waveforms or static images, MelodyLoop formulates music as a discrete temporal sequence of structured musical events. The system trains an LSTM neural network from scratch on over 5.6 million note events extracted from 962 professional piano performances from Google Magenta's MAESTRO dataset.</a:t>
            </a:r>
          </a:p>
          <a:p/>
          <a:p>
            <a:r>
              <a:t>KEY ENGINEERING MILESTONES:</a:t>
            </a:r>
          </a:p>
          <a:p>
            <a:r>
              <a:t>- Scaled training across the entire official MAESTRO training split (962 performances, 100,000 sequences).</a:t>
            </a:r>
          </a:p>
          <a:p>
            <a:r>
              <a:t>- Designed a compact uint8 tensor representation reducing RAM overhead by 8x on consumer hardware.</a:t>
            </a:r>
          </a:p>
          <a:p>
            <a:r>
              <a:t>- Implemented multi-task prediction heads for pitch, duration, and time step, achieving a best validation loss of 5.9151 at epoch 7.</a:t>
            </a:r>
          </a:p>
          <a:p>
            <a:r>
              <a:t>- Built an interactive Streamlit web dashboard with local additive harmonic synthesis for immediate audio evaluation.</a:t>
            </a:r>
          </a:p>
          <a:p/>
          <a:p>
            <a:r>
              <a:t>TRANSITION:</a:t>
            </a:r>
          </a:p>
          <a:p>
            <a:r>
              <a:t>Let us begin with the formal problem statement and our engineering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Here we define why symbolic music generation is an ideal sequence-modeling task and specify the exact engineering goals of MelodyLoop.</a:t>
            </a:r>
          </a:p>
          <a:p/>
          <a:p>
            <a:r>
              <a:t>TECHNICAL EXPLANATION:</a:t>
            </a:r>
          </a:p>
          <a:p>
            <a:r>
              <a:t>Music is inherently temporal and hierarchical. Unlike natural language processing where tokens are words or subwords, musical events have simultaneous attributes: which key is pressed (pitch), how long it is sustained (duration), and the temporal gap until the next event begins (step time).</a:t>
            </a:r>
          </a:p>
          <a:p>
            <a:r>
              <a:t>If you predict only pitch, you lose rhythm and tempo completely. If you model raw waveform audio directly, 10 seconds of CD audio equals 441,000 samples, which creates prohibitive computational demands for educational sequence models. Symbolic event modeling provides the optimal balance of structured expressiveness and computational tractability.</a:t>
            </a:r>
          </a:p>
          <a:p/>
          <a:p>
            <a:r>
              <a:t>TRANSITION:</a:t>
            </a:r>
          </a:p>
          <a:p>
            <a:r>
              <a:t>Now let us examine the complete end-to-end system architecture that implements this pipeline.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This slide presents the entire MelodyLoop architecture from raw dataset to final playable audio.</a:t>
            </a:r>
          </a:p>
          <a:p/>
          <a:p>
            <a:r>
              <a:t>TECHNICAL BREAKDOWN:</a:t>
            </a:r>
          </a:p>
          <a:p>
            <a:r>
              <a:t>The system operates in three decoupled, production-grade phases:</a:t>
            </a:r>
          </a:p>
          <a:p>
            <a:r>
              <a:t>1. Ingestion Phase: Handled by melodyloop/data.py. Reads MAESTRO MIDI files, extracts Note On/Off chronological events, quantizes durations and steps, and prepares bounded uint8 PyTorch Datasets.</a:t>
            </a:r>
          </a:p>
          <a:p>
            <a:r>
              <a:t>2. Training Phase: Handled by train.py and melodyloop/model.py. Trains the 167k-parameter LSTM across 100,000 sequence batches, monitoring validation loss after every epoch and saving the best checkpoint.</a:t>
            </a:r>
          </a:p>
          <a:p>
            <a:r>
              <a:t>3. Inference &amp; Synthesis Phase: Handled by melodyloop/generation.py and audio.py. The model takes a seed buffer, iteratively samples successive notes, exports a standard MIDI file, and synthesizes a WAV preview using NumPy/SciPy.</a:t>
            </a:r>
          </a:p>
          <a:p/>
          <a:p>
            <a:r>
              <a:t>TRANSITION:</a:t>
            </a:r>
          </a:p>
          <a:p>
            <a:r>
              <a:t>Let us examine how acoustic piano notes are translated into numerical representations.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Explaining how a physical acoustic piano translates mathematically into discrete MIDI integers.</a:t>
            </a:r>
          </a:p>
          <a:p/>
          <a:p>
            <a:r>
              <a:t>KEY POINTS TO EMPHASIZE:</a:t>
            </a:r>
          </a:p>
          <a:p>
            <a:r>
              <a:t>- A physical piano has 88 keys, spanning from A0 (MIDI 21) at 27.5 Hz to C8 (MIDI 108) at 4186 Hz.</a:t>
            </a:r>
          </a:p>
          <a:p>
            <a:r>
              <a:t>- The MIDI protocol provides 128 discrete integer pitch values (0 through 127). Pitches 0–20 and 109–127 are beyond the physical acoustic keyboard but represent valid MIDI note numbers.</a:t>
            </a:r>
          </a:p>
          <a:p>
            <a:r>
              <a:t>- In Western 12-tone equal temperament, an octave represents a doubling of frequency (12 semitones). The pitch formula is f = 440 * 2^((p-69)/12).</a:t>
            </a:r>
          </a:p>
          <a:p>
            <a:r>
              <a:t>- In MelodyLoop, Middle C (C4) has integer index 60, and Concert A (A4) has index 69.</a:t>
            </a:r>
          </a:p>
          <a:p/>
          <a:p>
            <a:r>
              <a:t>TRANSITION:</a:t>
            </a:r>
          </a:p>
          <a:p>
            <a:r>
              <a:t>Now let us clarify why symbolic MIDI instructions differ fundamentally from audio waveforms.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Clarifying the fundamental technical distinction between symbolic musical tokens and continuous acoustic sound.</a:t>
            </a:r>
          </a:p>
          <a:p/>
          <a:p>
            <a:r>
              <a:t>TECHNICAL ARGUMENT:</a:t>
            </a:r>
          </a:p>
          <a:p>
            <a:r>
              <a:t>A common misconception among beginner evaluators is asking: 'Does your neural network generate MP3 or WAV directly?'</a:t>
            </a:r>
          </a:p>
          <a:p>
            <a:r>
              <a:t>The answer is NO. The neural network predicts discrete symbolic tokens (which key, what duration, what gap). A MIDI file contains only musical instructions, similar to sheet music for a computer player.</a:t>
            </a:r>
          </a:p>
          <a:p>
            <a:r>
              <a:t>Sound only exists when those instructions pass into an audio synthesizer. In MelodyLoop, audio is rendered by our additive synthesizer in melodyloop/audio.py, converting tokens into 44.1 kHz PCM waveforms.</a:t>
            </a:r>
          </a:p>
          <a:p/>
          <a:p>
            <a:r>
              <a:t>TRANSITION:</a:t>
            </a:r>
          </a:p>
          <a:p>
            <a:r>
              <a:t>Let us examine the MAESTRO dataset used to train this network.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Presenting the official MAESTRO v3.0.0 dataset and proving zero data leakage across training, validation, and test splits.</a:t>
            </a:r>
          </a:p>
          <a:p/>
          <a:p>
            <a:r>
              <a:t>TECHNICAL DETAILS:</a:t>
            </a:r>
          </a:p>
          <a:p>
            <a:r>
              <a:t>- MAESTRO (MIDI and Audio Edited for Synchronous TRacks and Organization) was created by Google Magenta.</a:t>
            </a:r>
          </a:p>
          <a:p>
            <a:r>
              <a:t>- Crucially, these are live performances captured by optical sensors on Yamaha Disklavier pianos, capturing real expressive human dynamics.</a:t>
            </a:r>
          </a:p>
          <a:p>
            <a:r>
              <a:t>- We verified every single file against maestro-v3.0.0.csv: exactly 962 train, 137 validation, and 177 test performances.</a:t>
            </a:r>
          </a:p>
          <a:p>
            <a:r>
              <a:t>- Training sequences are extracted exclusively from the training split. Validation sequences are never leaked into training, and test sequences are strictly held out for final evaluation.</a:t>
            </a:r>
          </a:p>
          <a:p/>
          <a:p>
            <a:r>
              <a:t>TRANSITION:</a:t>
            </a:r>
          </a:p>
          <a:p>
            <a:r>
              <a:t>Let us examine the empirical scaling experiment: how we expanded from the baseline 13 files to all 962 performances.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Explaining why the initial experiment only trained on 13 files and how we engineered the expanded dataset pipeline.</a:t>
            </a:r>
          </a:p>
          <a:p/>
          <a:p>
            <a:r>
              <a:t>VIVA QUESTION READINESS:</a:t>
            </a:r>
          </a:p>
          <a:p>
            <a:r>
              <a:t>If a professor asks: 'Why did the earlier version stop after 13 performances?'</a:t>
            </a:r>
          </a:p>
          <a:p>
            <a:r>
              <a:t>Answer: In melodyloop/data.py line 231, there was an early termination condition: if current_total &gt;= max_sequences and files_processed &gt;= min(num_target_files, 25): break. Because max_sequences was set to 15,000, it accumulated 15,000 sequences from the first 13 files and immediately broke out of the loop, skipping the other 949 training files.</a:t>
            </a:r>
          </a:p>
          <a:p/>
          <a:p>
            <a:r>
              <a:t>OUR SOLUTION:</a:t>
            </a:r>
          </a:p>
          <a:p>
            <a:r>
              <a:t>We redesigned the data loader with proportional sequence balancing: each piece contributes an even budget of sequences across its duration. We also implemented multi-process parsing and uint8 compact tensor storage, allowing us to process all 5.66 million note events across 962 files within 2 minutes and load them in 1.88 seconds.</a:t>
            </a:r>
          </a:p>
          <a:p/>
          <a:p>
            <a:r>
              <a:t>TRANSITION:</a:t>
            </a:r>
          </a:p>
          <a:p>
            <a:r>
              <a:t>Let us examine the exact mathematical tokenization that converts MIDI into training events.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Explaining the 4-step preprocessing pipeline and the quantization mathematics that map continuous physical timings into discrete neural tokens.</a:t>
            </a:r>
          </a:p>
          <a:p/>
          <a:p>
            <a:r>
              <a:t>TECHNICAL DETAILS:</a:t>
            </a:r>
          </a:p>
          <a:p>
            <a:r>
              <a:t>Why 32 bins?</a:t>
            </a:r>
          </a:p>
          <a:p>
            <a:r>
              <a:t>If you use too few bins (e.g. 4 bins), the model has no rhythmic subtlety; notes sound robotic. If you use too many bins (e.g. 500 bins), data becomes sparse and the output cross-entropy loss becomes difficult to optimize.</a:t>
            </a:r>
          </a:p>
          <a:p>
            <a:r>
              <a:t>By setting duration_bins=32 across [0.05s, 4.0s] and step_bins=32 across [0.0s, 2.0s], we capture staccato notes (0.05s), quarter notes, whole notes, simultaneous chords (step=0.0s), and musical pauses up to 2.0s with high fidelity.</a:t>
            </a:r>
          </a:p>
          <a:p/>
          <a:p>
            <a:r>
              <a:t>TRANSITION:</a:t>
            </a:r>
          </a:p>
          <a:p>
            <a:r>
              <a:t>Now let us examine how these note events are framed into sliding window sequences for next-event supervised learning.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Explaining how chronologically ordered note events are sliced into input windows and multi-task prediction targets.</a:t>
            </a:r>
          </a:p>
          <a:p/>
          <a:p>
            <a:r>
              <a:t>KEY ARCHITECTURAL DECISIONS:</a:t>
            </a:r>
          </a:p>
          <a:p>
            <a:r>
              <a:t>- Sequence Length = 32 notes: This corresponds to approximately 8 to 12 seconds of musical performance, giving sufficient melodic context to establish key, chord progression, and rhythmic meter.</a:t>
            </a:r>
          </a:p>
          <a:p>
            <a:r>
              <a:t>- Stride = 4 notes: We slide the window by 4 notes rather than 1 to prevent severe correlation between adjacent training samples and keep dataset size bounded.</a:t>
            </a:r>
          </a:p>
          <a:p>
            <a:r>
              <a:t>- Multi-task target: Target Y contains pitch, duration, and step. The model must learn not only which note to strike next, but how long to hold it and when the subsequent note will begin.</a:t>
            </a:r>
          </a:p>
          <a:p/>
          <a:p>
            <a:r>
              <a:t>TRANSITION:</a:t>
            </a:r>
          </a:p>
          <a:p>
            <a:r>
              <a:t>Now let us examine why an LSTM architecture is specifically chosen to model these sequential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A rigorous theoretical comparison showing why an LSTM is required for musical sequence modeling over feedforward or vanilla RNN networks.</a:t>
            </a:r>
          </a:p>
          <a:p/>
          <a:p>
            <a:r>
              <a:t>VIVA QUESTION READINESS:</a:t>
            </a:r>
          </a:p>
          <a:p>
            <a:r>
              <a:t>If the professor asks: 'Why not use a standard RNN or a Transformer?'</a:t>
            </a:r>
          </a:p>
          <a:p>
            <a:r>
              <a:t>Answer:</a:t>
            </a:r>
          </a:p>
          <a:p>
            <a:r>
              <a:t>1. Compared to Vanilla RNN: Standard RNNs suffer from vanishing gradients. In backpropagation through time (BPTT), the derivative of h_t with respect to h_0 involves repeated matrix multiplications by W. Since the derivative of tanh is bounded by 1, the gradient exponentially shrinks to zero after 5 to 8 time steps. The RNN forgets the key and rhythm.</a:t>
            </a:r>
          </a:p>
          <a:p>
            <a:r>
              <a:t>2. The LSTM solution: The cell state C_t is updated additively (C_t = f_t * C_(t-1) + i_t * C~_t). The gradient can flow unimpeded backward through time without exponential decay—the 'constant error carousel'.</a:t>
            </a:r>
          </a:p>
          <a:p>
            <a:r>
              <a:t>3. Compared to Transformer: Transformers are state-of-the-art for massive billion-parameter models, but an educational LSTM (167k parameters) trains from scratch in minutes on a laptop GPU without requiring multi-gigabyte pretrained weights.</a:t>
            </a:r>
          </a:p>
          <a:p/>
          <a:p>
            <a:r>
              <a:t>TRANSITION:</a:t>
            </a:r>
          </a:p>
          <a:p>
            <a:r>
              <a:t>Now let us examine the internal anatomy of an LSTM cell and its mathematical gates.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Walking through the mathematical mechanics of the four internal operations in an LSTM cell.</a:t>
            </a:r>
          </a:p>
          <a:p/>
          <a:p>
            <a:r>
              <a:t>WALKTHROUGH OF THE DIAGRAM:</a:t>
            </a:r>
          </a:p>
          <a:p>
            <a:r>
              <a:t>1. Forget Gate f_t: Uses sigmoid activation. If f_t is close to 0, it tells the cell to forget previous information (such as when a musical phrase ends or modulation occurs). If f_t is close to 1, it preserves the information.</a:t>
            </a:r>
          </a:p>
          <a:p>
            <a:r>
              <a:t>2. Input Gate i_t &amp; Candidate C~_t: The input gate decides whether new information is important, while the tanh candidate generates new potential values.</a:t>
            </a:r>
          </a:p>
          <a:p>
            <a:r>
              <a:t>3. Cell State Update C_t: C_t = f_t * C_(t-1) + i_t * C~_t. Notice this is an element-wise addition! This linear additive update is the exact mathematical reason gradients do not vanish during BPTT.</a:t>
            </a:r>
          </a:p>
          <a:p>
            <a:r>
              <a:t>4. Output Gate o_t: Decides which parts of the cell state C_t to expose in the hidden state h_t, which is then fed into our three prediction heads.</a:t>
            </a:r>
          </a:p>
          <a:p/>
          <a:p>
            <a:r>
              <a:t>TRANSITION:</a:t>
            </a:r>
          </a:p>
          <a:p>
            <a:r>
              <a:t>Now let us examine how this LSTM cell is integrated into the actual MelodyLoop network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Presenting the verified PyTorch architecture implemented in melodyloop/model.py.</a:t>
            </a:r>
          </a:p>
          <a:p/>
          <a:p>
            <a:r>
              <a:t>PARAMETER BREAKDOWN PROOF:</a:t>
            </a:r>
          </a:p>
          <a:p>
            <a:r>
              <a:t>Let us verify the exact 167,104 parameter count:</a:t>
            </a:r>
          </a:p>
          <a:p>
            <a:r>
              <a:t>1. Embeddings: 128*64 (pitch) + 32*32 (duration) + 32*32 (step) = 8,192 + 1,024 + 1,024 = 10,240 parameters.</a:t>
            </a:r>
          </a:p>
          <a:p>
            <a:r>
              <a:t>2. LSTM Layer: An LSTM has 4 gates (forget, input, candidate, output). Each gate has weight matrices for input x (128*128), hidden h (128*128), and 2 bias vectors (128 each). 4 * (16384 + 16384 + 256) = 132,096 parameters.</a:t>
            </a:r>
          </a:p>
          <a:p>
            <a:r>
              <a:t>3. Prediction Heads: Pitch head is Linear(128-&gt;128): 128*128 + 128 = 16,512. Duration head is Linear(128-&gt;32): 128*32 + 32 = 4,128. Step head is Linear(128-&gt;32): 128*32 + 32 = 4,128. Sum of heads = 24,768 parameters.</a:t>
            </a:r>
          </a:p>
          <a:p>
            <a:r>
              <a:t>Total Parameters = 10,240 + 132,096 + 24,768 = 167,104 trainable parameters.</a:t>
            </a:r>
          </a:p>
          <a:p>
            <a:r>
              <a:t>Verified by test_model_parameter_count.</a:t>
            </a:r>
          </a:p>
          <a:p/>
          <a:p>
            <a:r>
              <a:t>TRANSITION:</a:t>
            </a:r>
          </a:p>
          <a:p>
            <a:r>
              <a:t>Now let us examine how the network optimizes these 167k parameters during training.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Detailing the optimization cycle, gradient clipping, loss formulation, and hardware execution parameters.</a:t>
            </a:r>
          </a:p>
          <a:p/>
          <a:p>
            <a:r>
              <a:t>KEY CONCEPTS:</a:t>
            </a:r>
          </a:p>
          <a:p>
            <a:r>
              <a:t>- Joint Multi-Task Loss: Pitch, duration, and step time each have distinct classification distributions. Cross-entropy measures the negative log-likelihood of the ground-truth token. We sum all three equally.</a:t>
            </a:r>
          </a:p>
          <a:p>
            <a:r>
              <a:t>- Gradient Clipping: Because recurrent networks involve repeated matrix products, sudden large gradients can destabilize training. We enforce a hard norm clip of 1.0 using clip_grad_norm_.</a:t>
            </a:r>
          </a:p>
          <a:p>
            <a:r>
              <a:t>- Hardware Efficiency: On our laptop RTX 3050 GPU, the model achieves 91 batches per second, running an entire 100,000-sequence epoch in only 17.2 seconds.</a:t>
            </a:r>
          </a:p>
          <a:p/>
          <a:p>
            <a:r>
              <a:t>TRANSITION:</a:t>
            </a:r>
          </a:p>
          <a:p>
            <a:r>
              <a:t>Let us examine the empirical training loss curves and why early stopping selected epoch 7 as our best checkpoint.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Analyzing the actual epoch-by-epoch training history recorded in artifacts/logs/training_expanded.log.</a:t>
            </a:r>
          </a:p>
          <a:p/>
          <a:p>
            <a:r>
              <a:t>SCIENTIFIC OBSERVATION:</a:t>
            </a:r>
          </a:p>
          <a:p>
            <a:r>
              <a:t>Notice the classic divergence between training loss and validation loss:</a:t>
            </a:r>
          </a:p>
          <a:p>
            <a:r>
              <a:t>- From Epoch 1 to Epoch 7, both training loss and validation loss drop rapidly (train loss from 6.328 to 5.276, validation loss from 6.239 to 5.915).</a:t>
            </a:r>
          </a:p>
          <a:p>
            <a:r>
              <a:t>- After Epoch 7, training loss continues to fall steadily down to 4.912 at Epoch 15. However, validation loss ceases improving and begins a slight upward drift (5.918 -&gt; 5.957 -&gt; 6.038).</a:t>
            </a:r>
          </a:p>
          <a:p>
            <a:r>
              <a:t>- This divergence demonstrates classic over-parameterization and memorization of training sequences. Because our trainer implemented early stopping with a patience of 8 epochs, training halted automatically at epoch 15.</a:t>
            </a:r>
          </a:p>
          <a:p>
            <a:r>
              <a:t>- The best model saved on disk is strictly the epoch 7 checkpoint (val loss 5.9151), completely preventing overfitted weights from being deployed.</a:t>
            </a:r>
          </a:p>
          <a:p/>
          <a:p>
            <a:r>
              <a:t>TRANSITION:</a:t>
            </a:r>
          </a:p>
          <a:p>
            <a:r>
              <a:t>Let us examine how checkpoints are serialized and preserved on disk.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Explaining how model weights, optimizer states, and configuration metadata are serialized into PyTorch .pt binaries.</a:t>
            </a:r>
          </a:p>
          <a:p/>
          <a:p>
            <a:r>
              <a:t>KEY ENGINEERING PRACTICES:</a:t>
            </a:r>
          </a:p>
          <a:p>
            <a:r>
              <a:t>- Never overwrite working baselines: We explicitly backed up the original baseline checkpoint to best_model_v1_baseline.pt so we can run direct side-by-side musical comparisons.</a:t>
            </a:r>
          </a:p>
          <a:p>
            <a:r>
              <a:t>- Self-contained configuration: The checkpoint dictionary stores the exact hyperparameters used during training. When app.py or generate.py loads the checkpoint, it reads hidden_dim directly from the file, preventing architectural mismatch exceptions.</a:t>
            </a:r>
          </a:p>
          <a:p>
            <a:r>
              <a:t>- State restoration: The script train.py --resume automatically restores both model weights and the Adam optimizer's internal momentum states, enabling training to pick up exactly where it was interrupted.</a:t>
            </a:r>
          </a:p>
          <a:p/>
          <a:p>
            <a:r>
              <a:t>TRANSITION:</a:t>
            </a:r>
          </a:p>
          <a:p>
            <a:r>
              <a:t>Now let us examine how the trained model autoregressively generates new musical compositions.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Explaining the mathematical mechanics of autoregressive generation and stochastic sampling controls.</a:t>
            </a:r>
          </a:p>
          <a:p/>
          <a:p>
            <a:r>
              <a:t>TECHNICAL BREAKDOWN:</a:t>
            </a:r>
          </a:p>
          <a:p>
            <a:r>
              <a:t>How Autoregression Works:</a:t>
            </a:r>
          </a:p>
          <a:p>
            <a:r>
              <a:t>1. The model receives a rolling context window of 32 note events.</a:t>
            </a:r>
          </a:p>
          <a:p>
            <a:r>
              <a:t>2. The model outputs unnormalized logits for pitch, duration, and step.</a:t>
            </a:r>
          </a:p>
          <a:p>
            <a:r>
              <a:t>3. Sampling with Temperature: Instead of greedily picking the argmax (which causes the network to loop the exact same note repeatedly), we divide logits by temperature T and apply Softmax.</a:t>
            </a:r>
          </a:p>
          <a:p>
            <a:r>
              <a:t>4. Top-K Filtering: Greedily sampling from the full 128 pitch vocabulary risks picking extreme low-probability notes (e.g. jumping from pitch 60 to pitch 120). By filtering for only the Top-K=5 candidates, we guarantee that every sampled note is among the model's top 5 most confident musical hypotheses.</a:t>
            </a:r>
          </a:p>
          <a:p>
            <a:r>
              <a:t>5. Rolling Update: The sampled note is appended to the buffer, the oldest note is evicted, and the loop repeats for N notes.</a:t>
            </a:r>
          </a:p>
          <a:p/>
          <a:p>
            <a:r>
              <a:t>TRANSITION:</a:t>
            </a:r>
          </a:p>
          <a:p>
            <a:r>
              <a:t>Now let us see how these discrete tokens are rendered into playable sound.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Explaining the physics and DSP mathematics behind converting discrete tokens into 44.1 kHz WAV audio.</a:t>
            </a:r>
          </a:p>
          <a:p/>
          <a:p>
            <a:r>
              <a:t>TECHNICAL DETAILS:</a:t>
            </a:r>
          </a:p>
          <a:p>
            <a:r>
              <a:t>- Pure sine waves sound like synthetic telephone test tones, not piano notes.</a:t>
            </a:r>
          </a:p>
          <a:p>
            <a:r>
              <a:t>- An acoustic piano string vibrates in multiple modes: the fundamental frequency f0, plus integer harmonics 2*f0, 3*f0, etc. In melodyloop/audio.py, we implement additive synthesis: 60% energy in the fundamental, 25% in the second harmonic (octave), and 15% in the third harmonic (fifth).</a:t>
            </a:r>
          </a:p>
          <a:p>
            <a:r>
              <a:t>- Amplitude Envelope: In an acoustic piano, when the hammer strikes the string, amplitude peaks instantly and decays exponentially. We multiply the composite wave by exp(-3.0 * t / duration), with a 5 millisecond attack and 10 millisecond release to eliminate boundary clicking.</a:t>
            </a:r>
          </a:p>
          <a:p>
            <a:r>
              <a:t>- This entire DSP pipeline is self-contained in pure NumPy and SciPy—requiring zero external soundfonts or third-party audio drivers.</a:t>
            </a:r>
          </a:p>
          <a:p/>
          <a:p>
            <a:r>
              <a:t>TRANSITION:</a:t>
            </a:r>
          </a:p>
          <a:p>
            <a:r>
              <a:t>Now let us see the working Streamlit web application where users can interact with this pipeline.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Demonstrating the deployed user interface and real-time visualization features of app.py.</a:t>
            </a:r>
          </a:p>
          <a:p/>
          <a:p>
            <a:r>
              <a:t>KEY FEATURES TO DEMONSTRATE:</a:t>
            </a:r>
          </a:p>
          <a:p>
            <a:r>
              <a:t>- The application is built using Streamlit and renders a dark DAW-like interface.</a:t>
            </a:r>
          </a:p>
          <a:p>
            <a:r>
              <a:t>- The sidebar contains a checkpoint selector allowing immediate A/B testing: you can listen to a melody generated by the baseline 13-performance model, then immediately switch to the expanded 962-performance model.</a:t>
            </a:r>
          </a:p>
          <a:p>
            <a:r>
              <a:t>- The piano-roll visualizer clearly separates the human seed phrase (in gold) from the LSTM continuation (in cyan), with a vertical red boundary marker at t=6.0 seconds.</a:t>
            </a:r>
          </a:p>
          <a:p>
            <a:r>
              <a:t>- Audio synthesis runs in-memory: clicking 'Generate' synthesizes 80 notes into a WAV file in ~0.5 seconds and passes it directly to the browser audio player.</a:t>
            </a:r>
          </a:p>
          <a:p/>
          <a:p>
            <a:r>
              <a:t>TRANSITION:</a:t>
            </a:r>
          </a:p>
          <a:p>
            <a:r>
              <a:t>Now let us examine the quantitative and qualitative evaluation results: does the music actually sound better?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An honest, technically rigorous evaluation of musical output comparing baseline, expanded, and ground-truth Scriabin performances.</a:t>
            </a:r>
          </a:p>
          <a:p/>
          <a:p>
            <a:r>
              <a:t>KEY FINDINGS TO HIGHLIGHT:</a:t>
            </a:r>
          </a:p>
          <a:p>
            <a:r>
              <a:t>1. The Duration Fix: In the baseline model, note durations collapsed to 0.06s—sounding like rapid machine-gun clicks. The expanded model learned realistic piano note durations (0.34s) and step intervals (0.25s), aligning closely with real human performances (0.48s duration, 0.21s step).</a:t>
            </a:r>
          </a:p>
          <a:p>
            <a:r>
              <a:t>2. Monotone Repetition: The baseline model repeated identical pitches 17.7% of the time. The expanded model dropped repetition to 10.1%—a 43% relative reduction.</a:t>
            </a:r>
          </a:p>
          <a:p>
            <a:r>
              <a:t>3. Pitch Smoothness: The baseline model jumped erratically across the keyboard (average jump 6.48 semitones). The expanded model settled into smooth step-wise motion (average jump 1.49 semitones), producing lyrical singing melodies.</a:t>
            </a:r>
          </a:p>
          <a:p>
            <a:r>
              <a:t>4. Limitations: An LSTM with 128 hidden units cannot learn 4-part Bach counterpoint or Beethoven sonata form. After 40 to 60 notes, it wanders tonally. We do not claim human-level mastery; we demonstrate a working, verifiable sequence model.</a:t>
            </a:r>
          </a:p>
          <a:p/>
          <a:p>
            <a:r>
              <a:t>TRANSITION:</a:t>
            </a:r>
          </a:p>
          <a:p>
            <a:r>
              <a:t>Let us summarize our key engineering takeaways.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TALK:</a:t>
            </a:r>
          </a:p>
          <a:p>
            <a:r>
              <a:t>In conclusion, MelodyLoop successfully demonstrates the entire lifecycle of a deep learning sequence-modeling system:</a:t>
            </a:r>
          </a:p>
          <a:p>
            <a:r>
              <a:t>1. We took raw, expressive classical piano performances and engineered a discrete 3-tuple symbolic tokenization that captures pitch, duration, and step interval.</a:t>
            </a:r>
          </a:p>
          <a:p>
            <a:r>
              <a:t>2. We diagnosed and resolved the early data bottleneck, scaling the pipeline across 962 MAESTRO performances (5.66M notes) using compact uint8 tensor datasets.</a:t>
            </a:r>
          </a:p>
          <a:p>
            <a:r>
              <a:t>3. We trained a 167k-parameter multi-head LSTM from scratch, achieving a best validation loss of 5.9151 at epoch 7.</a:t>
            </a:r>
          </a:p>
          <a:p>
            <a:r>
              <a:t>4. We deployed the system into an interactive Streamlit application with additive audio synthesis and proved through quantitative metrics that expanded training fixed rhythmic duration collapse.</a:t>
            </a:r>
          </a:p>
          <a:p/>
          <a:p>
            <a:r>
              <a:t>Thank you, Professor. I am now ready to take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QUESTION GUIDELINES:</a:t>
            </a:r>
          </a:p>
          <a:p>
            <a:r>
              <a:t>Focus on technical precision. If asked about quantization bounds, explain that min_duration=0.05s prevents divide-by-zero artifacts and captures the fastest 32nd notes, while max_duration=4.0s captures sustained pedal chords.</a:t>
            </a:r>
          </a:p>
          <a:p>
            <a:r>
              <a:t>If asked about memory bounds, explain that storing sequences as np.uint8 instead of np.int64 reduced the in-memory footprint from 77 MB to 9.6 MB, allowing all 100k sequences to live in RAM with zero garbage collection lag.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QUESTION GUIDELINES:</a:t>
            </a:r>
          </a:p>
          <a:p>
            <a:r>
              <a:t>Key point on MSE vs Cross-Entropy:</a:t>
            </a:r>
          </a:p>
          <a:p>
            <a:r>
              <a:t>Professors frequently ask: 'Why treat duration as a classification problem instead of regression with MSE?'</a:t>
            </a:r>
          </a:p>
          <a:p>
            <a:r>
              <a:t>Answer: Duration in music is rhythmic and discrete (e.g. quarter notes, eighth notes, triplets). Regression often predicts muddy average values (e.g. 0.372s) that do not correspond to musical rhythmic subdivisions. Classification with 32 bins allows the model to learn multimodal probability peaks on standard rhythmic subdivisions.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QUESTION GUIDELINES:</a:t>
            </a:r>
          </a:p>
          <a:p>
            <a:r>
              <a:t>Explain that temperature and top-k are orthogonal sampling controls:</a:t>
            </a:r>
          </a:p>
          <a:p>
            <a:r>
              <a:t>- Top-k filters the candidate pool (eliminates impossible notes).</a:t>
            </a:r>
          </a:p>
          <a:p>
            <a:r>
              <a:t>- Temperature controls how flat or sharp the probability distribution is among those valid candidates.</a:t>
            </a:r>
          </a:p>
          <a:p>
            <a:r>
              <a:t>- Together, they eliminate both monotone looping (from argmax) and chaotic noise (from uniform sampling).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A final cheat-sheet model card summarizing all verified numbers, dimensions, paths, and commands in one place for rapid reference during the viva defense.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645920"/>
            <a:ext cx="109728" cy="3474720"/>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645920"/>
            <a:ext cx="10058400" cy="2011680"/>
          </a:xfrm>
          <a:prstGeom prst="rect">
            <a:avLst/>
          </a:prstGeom>
          <a:noFill/>
        </p:spPr>
        <p:txBody>
          <a:bodyPr wrap="square">
            <a:spAutoFit/>
          </a:bodyPr>
          <a:lstStyle/>
          <a:p>
            <a:pPr>
              <a:defRPr sz="4800" b="1">
                <a:solidFill>
                  <a:srgbClr val="F4F3EB"/>
                </a:solidFill>
                <a:latin typeface="Segoe UI"/>
              </a:defRPr>
            </a:pPr>
            <a:r>
              <a:t>MelodyLoop</a:t>
            </a:r>
          </a:p>
          <a:p>
            <a:pPr>
              <a:spcBef>
                <a:spcPts val="800"/>
              </a:spcBef>
              <a:defRPr sz="2400" b="1">
                <a:solidFill>
                  <a:srgbClr val="26D9F1"/>
                </a:solidFill>
                <a:latin typeface="Segoe UI"/>
              </a:defRPr>
            </a:pPr>
            <a:r>
              <a:t>LSTM-Based Sequential Piano Music Generation</a:t>
            </a:r>
          </a:p>
          <a:p>
            <a:pPr>
              <a:spcBef>
                <a:spcPts val="1200"/>
              </a:spcBef>
              <a:defRPr sz="1300">
                <a:solidFill>
                  <a:srgbClr val="94A3B8"/>
                </a:solidFill>
                <a:latin typeface="Segoe UI"/>
              </a:defRPr>
            </a:pPr>
            <a:r>
              <a:t>A Deep-Learning Framework for Discrete Symbolic Event Modeling, Multi-Task Next-Note Prediction, and Controllable Audio Synthesis</a:t>
            </a:r>
          </a:p>
        </p:txBody>
      </p:sp>
      <p:sp>
        <p:nvSpPr>
          <p:cNvPr id="5" name="Rounded Rectangle 4"/>
          <p:cNvSpPr/>
          <p:nvPr/>
        </p:nvSpPr>
        <p:spPr>
          <a:xfrm>
            <a:off x="1097280" y="4023360"/>
            <a:ext cx="2377440" cy="100584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4096512"/>
            <a:ext cx="2194560" cy="859536"/>
          </a:xfrm>
          <a:prstGeom prst="rect">
            <a:avLst/>
          </a:prstGeom>
          <a:noFill/>
        </p:spPr>
        <p:txBody>
          <a:bodyPr wrap="square" lIns="0" rIns="0" tIns="0" bIns="0">
            <a:spAutoFit/>
          </a:bodyPr>
          <a:lstStyle/>
          <a:p>
            <a:pPr>
              <a:defRPr sz="2000" b="1">
                <a:solidFill>
                  <a:srgbClr val="26D9F1"/>
                </a:solidFill>
                <a:latin typeface="Segoe UI"/>
              </a:defRPr>
            </a:pPr>
            <a:r>
              <a:t>962 Pieces</a:t>
            </a:r>
          </a:p>
          <a:p>
            <a:pPr>
              <a:spcBef>
                <a:spcPts val="300"/>
              </a:spcBef>
              <a:defRPr sz="1000">
                <a:solidFill>
                  <a:srgbClr val="94A3B8"/>
                </a:solidFill>
                <a:latin typeface="Segoe UI"/>
              </a:defRPr>
            </a:pPr>
            <a:r>
              <a:t>MAESTRO v3.0 Corpus</a:t>
            </a:r>
          </a:p>
        </p:txBody>
      </p:sp>
      <p:sp>
        <p:nvSpPr>
          <p:cNvPr id="7" name="Rounded Rectangle 6"/>
          <p:cNvSpPr/>
          <p:nvPr/>
        </p:nvSpPr>
        <p:spPr>
          <a:xfrm>
            <a:off x="3657600" y="4023360"/>
            <a:ext cx="2377440" cy="100584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49039" y="4096512"/>
            <a:ext cx="2194560" cy="859536"/>
          </a:xfrm>
          <a:prstGeom prst="rect">
            <a:avLst/>
          </a:prstGeom>
          <a:noFill/>
        </p:spPr>
        <p:txBody>
          <a:bodyPr wrap="square" lIns="0" rIns="0" tIns="0" bIns="0">
            <a:spAutoFit/>
          </a:bodyPr>
          <a:lstStyle/>
          <a:p>
            <a:pPr>
              <a:defRPr sz="2000" b="1">
                <a:solidFill>
                  <a:srgbClr val="FFC857"/>
                </a:solidFill>
                <a:latin typeface="Segoe UI"/>
              </a:defRPr>
            </a:pPr>
            <a:r>
              <a:t>5.66M Notes</a:t>
            </a:r>
          </a:p>
          <a:p>
            <a:pPr>
              <a:spcBef>
                <a:spcPts val="300"/>
              </a:spcBef>
              <a:defRPr sz="1000">
                <a:solidFill>
                  <a:srgbClr val="94A3B8"/>
                </a:solidFill>
                <a:latin typeface="Segoe UI"/>
              </a:defRPr>
            </a:pPr>
            <a:r>
              <a:t>Chronological Events</a:t>
            </a:r>
          </a:p>
        </p:txBody>
      </p:sp>
      <p:sp>
        <p:nvSpPr>
          <p:cNvPr id="9" name="Rounded Rectangle 8"/>
          <p:cNvSpPr/>
          <p:nvPr/>
        </p:nvSpPr>
        <p:spPr>
          <a:xfrm>
            <a:off x="6217920" y="4023360"/>
            <a:ext cx="2377440" cy="100584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59" y="4096512"/>
            <a:ext cx="2194560" cy="859536"/>
          </a:xfrm>
          <a:prstGeom prst="rect">
            <a:avLst/>
          </a:prstGeom>
          <a:noFill/>
        </p:spPr>
        <p:txBody>
          <a:bodyPr wrap="square" lIns="0" rIns="0" tIns="0" bIns="0">
            <a:spAutoFit/>
          </a:bodyPr>
          <a:lstStyle/>
          <a:p>
            <a:pPr>
              <a:defRPr sz="2000" b="1">
                <a:solidFill>
                  <a:srgbClr val="2855D9"/>
                </a:solidFill>
                <a:latin typeface="Segoe UI"/>
              </a:defRPr>
            </a:pPr>
            <a:r>
              <a:t>167k Params</a:t>
            </a:r>
          </a:p>
          <a:p>
            <a:pPr>
              <a:spcBef>
                <a:spcPts val="300"/>
              </a:spcBef>
              <a:defRPr sz="1000">
                <a:solidFill>
                  <a:srgbClr val="94A3B8"/>
                </a:solidFill>
                <a:latin typeface="Segoe UI"/>
              </a:defRPr>
            </a:pPr>
            <a:r>
              <a:t>Multi-Head LSTM</a:t>
            </a:r>
          </a:p>
        </p:txBody>
      </p:sp>
      <p:sp>
        <p:nvSpPr>
          <p:cNvPr id="11" name="Rounded Rectangle 10"/>
          <p:cNvSpPr/>
          <p:nvPr/>
        </p:nvSpPr>
        <p:spPr>
          <a:xfrm>
            <a:off x="8778239" y="4023360"/>
            <a:ext cx="2377440" cy="100584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79" y="4096512"/>
            <a:ext cx="2194560" cy="859536"/>
          </a:xfrm>
          <a:prstGeom prst="rect">
            <a:avLst/>
          </a:prstGeom>
          <a:noFill/>
        </p:spPr>
        <p:txBody>
          <a:bodyPr wrap="square" lIns="0" rIns="0" tIns="0" bIns="0">
            <a:spAutoFit/>
          </a:bodyPr>
          <a:lstStyle/>
          <a:p>
            <a:pPr>
              <a:defRPr sz="2000" b="1">
                <a:solidFill>
                  <a:srgbClr val="22C55E"/>
                </a:solidFill>
                <a:latin typeface="Segoe UI"/>
              </a:defRPr>
            </a:pPr>
            <a:r>
              <a:t>Val: 5.9151</a:t>
            </a:r>
          </a:p>
          <a:p>
            <a:pPr>
              <a:spcBef>
                <a:spcPts val="300"/>
              </a:spcBef>
              <a:defRPr sz="1000">
                <a:solidFill>
                  <a:srgbClr val="94A3B8"/>
                </a:solidFill>
                <a:latin typeface="Segoe UI"/>
              </a:defRPr>
            </a:pPr>
            <a:r>
              <a:t>Epoch 7 Best Checkpoint</a:t>
            </a:r>
          </a:p>
        </p:txBody>
      </p:sp>
      <p:sp>
        <p:nvSpPr>
          <p:cNvPr id="13" name="TextBox 12"/>
          <p:cNvSpPr txBox="1"/>
          <p:nvPr/>
        </p:nvSpPr>
        <p:spPr>
          <a:xfrm>
            <a:off x="1097280" y="5486400"/>
            <a:ext cx="10058400" cy="731520"/>
          </a:xfrm>
          <a:prstGeom prst="rect">
            <a:avLst/>
          </a:prstGeom>
          <a:noFill/>
        </p:spPr>
        <p:txBody>
          <a:bodyPr wrap="none">
            <a:spAutoFit/>
          </a:bodyPr>
          <a:lstStyle/>
          <a:p>
            <a:pPr>
              <a:defRPr sz="1100">
                <a:solidFill>
                  <a:srgbClr val="F4F3EB"/>
                </a:solidFill>
                <a:latin typeface="Segoe UI"/>
              </a:defRPr>
            </a:pPr>
            <a:r>
              <a:t>Academic Project Defense | NLP &amp; Deep Sequence Modeling | PyTorch Implementation</a:t>
            </a:r>
          </a:p>
          <a:p>
            <a:pPr>
              <a:defRPr sz="1000">
                <a:solidFill>
                  <a:srgbClr val="94A3B8"/>
                </a:solidFill>
                <a:latin typeface="Segoe UI"/>
              </a:defRPr>
            </a:pPr>
            <a:r>
              <a:t>Repository: https://github.com/Pankaj-Jhajhria/Music-Generation-using-LSTM-MelodyLoop-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CHAPTER 01 • INTRODUCTION &amp; SCOPE</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Problem Formulation &amp; Engineering Objectives</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02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sp>
        <p:nvSpPr>
          <p:cNvPr id="8" name="Rounded Rectangle 7"/>
          <p:cNvSpPr/>
          <p:nvPr/>
        </p:nvSpPr>
        <p:spPr>
          <a:xfrm>
            <a:off x="731520" y="1554480"/>
            <a:ext cx="5212080" cy="466344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91640"/>
            <a:ext cx="4846320" cy="4297680"/>
          </a:xfrm>
          <a:prstGeom prst="rect">
            <a:avLst/>
          </a:prstGeom>
          <a:noFill/>
        </p:spPr>
        <p:txBody>
          <a:bodyPr wrap="square">
            <a:spAutoFit/>
          </a:bodyPr>
          <a:lstStyle/>
          <a:p>
            <a:pPr>
              <a:defRPr sz="1300" b="1">
                <a:solidFill>
                  <a:srgbClr val="26D9F1"/>
                </a:solidFill>
              </a:defRPr>
            </a:pPr>
            <a:r>
              <a:t>THE SEQUENCE MODELING PROBLEM</a:t>
            </a:r>
          </a:p>
          <a:p>
            <a:pPr>
              <a:spcBef>
                <a:spcPts val="800"/>
              </a:spcBef>
            </a:pPr>
            <a:r>
              <a:rPr b="1" sz="1100">
                <a:solidFill>
                  <a:srgbClr val="F4F3EB"/>
                </a:solidFill>
              </a:rPr>
              <a:t>• Temporal Musical Dependencies:</a:t>
            </a:r>
            <a:r>
              <a:rPr sz="1050">
                <a:solidFill>
                  <a:srgbClr val="94A3B8"/>
                </a:solidFill>
              </a:rPr>
              <a:t> Piano music consists of chronologically ordered note onsets. A note's harmonic and rhythmic meaning depends strictly on prior musical context.</a:t>
            </a:r>
          </a:p>
          <a:p>
            <a:pPr>
              <a:spcBef>
                <a:spcPts val="800"/>
              </a:spcBef>
            </a:pPr>
            <a:r>
              <a:rPr b="1" sz="1100">
                <a:solidFill>
                  <a:srgbClr val="F4F3EB"/>
                </a:solidFill>
              </a:rPr>
              <a:t>• Multi-Dimensional Event Complexity:</a:t>
            </a:r>
            <a:r>
              <a:rPr sz="1050">
                <a:solidFill>
                  <a:srgbClr val="94A3B8"/>
                </a:solidFill>
              </a:rPr>
              <a:t> Music cannot be modeled by pitch alone. Each note requires pitch (0–127), duration (how long it rings), and step time (interval until the next note onset).</a:t>
            </a:r>
          </a:p>
          <a:p>
            <a:pPr>
              <a:spcBef>
                <a:spcPts val="800"/>
              </a:spcBef>
            </a:pPr>
            <a:r>
              <a:rPr b="1" sz="1100">
                <a:solidFill>
                  <a:srgbClr val="F4F3EB"/>
                </a:solidFill>
              </a:rPr>
              <a:t>• Discrete Symbolic vs. Waveform Audio:</a:t>
            </a:r>
            <a:r>
              <a:rPr sz="1050">
                <a:solidFill>
                  <a:srgbClr val="94A3B8"/>
                </a:solidFill>
              </a:rPr>
              <a:t> Modeling raw 44.1 kHz waveforms requires predicting 44,100 continuous samples per second. Symbolic MIDI reduces dimensionality to structured, discrete tokens.</a:t>
            </a:r>
          </a:p>
          <a:p>
            <a:pPr>
              <a:spcBef>
                <a:spcPts val="800"/>
              </a:spcBef>
            </a:pPr>
            <a:r>
              <a:rPr b="1" sz="1100">
                <a:solidFill>
                  <a:srgbClr val="F4F3EB"/>
                </a:solidFill>
              </a:rPr>
              <a:t>• Autoregressive Generation:</a:t>
            </a:r>
            <a:r>
              <a:rPr sz="1050">
                <a:solidFill>
                  <a:srgbClr val="94A3B8"/>
                </a:solidFill>
              </a:rPr>
              <a:t> Generating continuous coherent music requires the network to predict future tokens iteratively from its own past outputs while avoiding mode collapse and monotone loops.</a:t>
            </a:r>
          </a:p>
        </p:txBody>
      </p:sp>
      <p:sp>
        <p:nvSpPr>
          <p:cNvPr id="10" name="Rounded Rectangle 9"/>
          <p:cNvSpPr/>
          <p:nvPr/>
        </p:nvSpPr>
        <p:spPr>
          <a:xfrm>
            <a:off x="6217920" y="1554480"/>
            <a:ext cx="5212080" cy="466344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91640"/>
            <a:ext cx="4846320" cy="4297680"/>
          </a:xfrm>
          <a:prstGeom prst="rect">
            <a:avLst/>
          </a:prstGeom>
          <a:noFill/>
        </p:spPr>
        <p:txBody>
          <a:bodyPr wrap="square">
            <a:spAutoFit/>
          </a:bodyPr>
          <a:lstStyle/>
          <a:p>
            <a:pPr>
              <a:defRPr sz="1300" b="1">
                <a:solidFill>
                  <a:srgbClr val="FFC857"/>
                </a:solidFill>
              </a:defRPr>
            </a:pPr>
            <a:r>
              <a:t>ENGINEERING OBJECTIVES &amp; CONTRIBUTIONS</a:t>
            </a:r>
          </a:p>
          <a:p>
            <a:pPr>
              <a:spcBef>
                <a:spcPts val="800"/>
              </a:spcBef>
            </a:pPr>
            <a:r>
              <a:rPr b="1" sz="1100">
                <a:solidFill>
                  <a:srgbClr val="F4F3EB"/>
                </a:solidFill>
              </a:rPr>
              <a:t>✓ Discrete Tokenization &amp; Quantization:</a:t>
            </a:r>
            <a:r>
              <a:rPr sz="1050">
                <a:solidFill>
                  <a:srgbClr val="94A3B8"/>
                </a:solidFill>
              </a:rPr>
              <a:t> Implemented a robust 3-tuple tokenizer mapping continuous timing into 32 duration bins and 32 step bins, preserving musical fidelity.</a:t>
            </a:r>
          </a:p>
          <a:p>
            <a:pPr>
              <a:spcBef>
                <a:spcPts val="800"/>
              </a:spcBef>
            </a:pPr>
            <a:r>
              <a:rPr b="1" sz="1100">
                <a:solidFill>
                  <a:srgbClr val="F4F3EB"/>
                </a:solidFill>
              </a:rPr>
              <a:t>✓ Bounded-Memory Training Pipeline:</a:t>
            </a:r>
            <a:r>
              <a:rPr sz="1050">
                <a:solidFill>
                  <a:srgbClr val="94A3B8"/>
                </a:solidFill>
              </a:rPr>
              <a:t> Developed parallel multi-process MIDI parsing and uint8 memory structures, enabling training on 100,000 sequences across 962 files within 4 GB GPU VRAM.</a:t>
            </a:r>
          </a:p>
          <a:p>
            <a:pPr>
              <a:spcBef>
                <a:spcPts val="800"/>
              </a:spcBef>
            </a:pPr>
            <a:r>
              <a:rPr b="1" sz="1100">
                <a:solidFill>
                  <a:srgbClr val="F4F3EB"/>
                </a:solidFill>
              </a:rPr>
              <a:t>✓ Multi-Task LSTM Architecture:</a:t>
            </a:r>
            <a:r>
              <a:rPr sz="1050">
                <a:solidFill>
                  <a:srgbClr val="94A3B8"/>
                </a:solidFill>
              </a:rPr>
              <a:t> Built a 167,104-parameter LSTM with 3 parallel embeddings and 3 dedicated cross-entropy heads trained jointly with Adam.</a:t>
            </a:r>
          </a:p>
          <a:p>
            <a:pPr>
              <a:spcBef>
                <a:spcPts val="800"/>
              </a:spcBef>
            </a:pPr>
            <a:r>
              <a:rPr b="1" sz="1100">
                <a:solidFill>
                  <a:srgbClr val="F4F3EB"/>
                </a:solidFill>
              </a:rPr>
              <a:t>✓ Controllable Sampling Engine:</a:t>
            </a:r>
            <a:r>
              <a:rPr sz="1050">
                <a:solidFill>
                  <a:srgbClr val="94A3B8"/>
                </a:solidFill>
              </a:rPr>
              <a:t> Implemented temperature scaling (T=0.6–1.0), Top-K filtering (k=5), repetition penalties, and seeded continuation from real classical themes.</a:t>
            </a:r>
          </a:p>
          <a:p>
            <a:pPr>
              <a:spcBef>
                <a:spcPts val="800"/>
              </a:spcBef>
            </a:pPr>
            <a:r>
              <a:rPr b="1" sz="1100">
                <a:solidFill>
                  <a:srgbClr val="F4F3EB"/>
                </a:solidFill>
              </a:rPr>
              <a:t>✓ Full-Stack Audio Deployment:</a:t>
            </a:r>
            <a:r>
              <a:rPr sz="1050">
                <a:solidFill>
                  <a:srgbClr val="94A3B8"/>
                </a:solidFill>
              </a:rPr>
              <a:t> Integrated a local additive harmonic synthesizer (fundamental + 4 harmonics + ADSR envelope) and an interactive Streamlit UI.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CHAPTERS 01, 06, 09, 11, 12 • END-TO-END PIPELINE</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Complete MelodyLoop Architectural Workflow</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03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pic>
        <p:nvPicPr>
          <p:cNvPr id="8" name="Picture 7" descr="fig_end_to_end_flowchart.png"/>
          <p:cNvPicPr>
            <a:picLocks noChangeAspect="1"/>
          </p:cNvPicPr>
          <p:nvPr/>
        </p:nvPicPr>
        <p:blipFill>
          <a:blip r:embed="rId2"/>
          <a:stretch>
            <a:fillRect/>
          </a:stretch>
        </p:blipFill>
        <p:spPr>
          <a:xfrm>
            <a:off x="731520" y="1508760"/>
            <a:ext cx="10728655" cy="3383280"/>
          </a:xfrm>
          <a:prstGeom prst="rect">
            <a:avLst/>
          </a:prstGeom>
        </p:spPr>
      </p:pic>
      <p:sp>
        <p:nvSpPr>
          <p:cNvPr id="9" name="Rounded Rectangle 8"/>
          <p:cNvSpPr/>
          <p:nvPr/>
        </p:nvSpPr>
        <p:spPr>
          <a:xfrm>
            <a:off x="731520" y="5029200"/>
            <a:ext cx="3413455" cy="132588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5074920"/>
            <a:ext cx="3230575" cy="1234440"/>
          </a:xfrm>
          <a:prstGeom prst="rect">
            <a:avLst/>
          </a:prstGeom>
          <a:noFill/>
        </p:spPr>
        <p:txBody>
          <a:bodyPr wrap="square" tIns="0" bIns="0" lIns="0" rIns="0">
            <a:spAutoFit/>
          </a:bodyPr>
          <a:lstStyle/>
          <a:p>
            <a:pPr>
              <a:defRPr sz="1050" b="1">
                <a:solidFill>
                  <a:srgbClr val="26D9F1"/>
                </a:solidFill>
              </a:defRPr>
            </a:pPr>
            <a:r>
              <a:t>Phase 1: Ingestion &amp; Quantization</a:t>
            </a:r>
          </a:p>
          <a:p>
            <a:pPr>
              <a:spcBef>
                <a:spcPts val="200"/>
              </a:spcBef>
              <a:defRPr sz="950">
                <a:solidFill>
                  <a:srgbClr val="F4F3EB"/>
                </a:solidFill>
              </a:defRPr>
            </a:pPr>
            <a:r>
              <a:t>File: melodyloop/data.py</a:t>
            </a:r>
          </a:p>
          <a:p>
            <a:pPr>
              <a:spcBef>
                <a:spcPts val="300"/>
              </a:spcBef>
              <a:defRPr sz="850">
                <a:solidFill>
                  <a:srgbClr val="94A3B8"/>
                </a:solidFill>
              </a:defRPr>
            </a:pPr>
            <a:r>
              <a:t>Parses raw MIDI via mido, enforces official train/val/test splits, quantizes continuous timing into 32 bins, builds sliding windows, and caches compact uint8 tensors.</a:t>
            </a:r>
          </a:p>
        </p:txBody>
      </p:sp>
      <p:sp>
        <p:nvSpPr>
          <p:cNvPr id="11" name="Rounded Rectangle 10"/>
          <p:cNvSpPr/>
          <p:nvPr/>
        </p:nvSpPr>
        <p:spPr>
          <a:xfrm>
            <a:off x="4389120" y="5029200"/>
            <a:ext cx="3413455" cy="132588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5074920"/>
            <a:ext cx="3230575" cy="1234440"/>
          </a:xfrm>
          <a:prstGeom prst="rect">
            <a:avLst/>
          </a:prstGeom>
          <a:noFill/>
        </p:spPr>
        <p:txBody>
          <a:bodyPr wrap="square" tIns="0" bIns="0" lIns="0" rIns="0">
            <a:spAutoFit/>
          </a:bodyPr>
          <a:lstStyle/>
          <a:p>
            <a:pPr>
              <a:defRPr sz="1050" b="1">
                <a:solidFill>
                  <a:srgbClr val="2855D9"/>
                </a:solidFill>
              </a:defRPr>
            </a:pPr>
            <a:r>
              <a:t>Phase 2: Recurrent Training</a:t>
            </a:r>
          </a:p>
          <a:p>
            <a:pPr>
              <a:spcBef>
                <a:spcPts val="200"/>
              </a:spcBef>
              <a:defRPr sz="950">
                <a:solidFill>
                  <a:srgbClr val="F4F3EB"/>
                </a:solidFill>
              </a:defRPr>
            </a:pPr>
            <a:r>
              <a:t>File: melodyloop/model.py &amp; train.py</a:t>
            </a:r>
          </a:p>
          <a:p>
            <a:pPr>
              <a:spcBef>
                <a:spcPts val="300"/>
              </a:spcBef>
              <a:defRPr sz="850">
                <a:solidFill>
                  <a:srgbClr val="94A3B8"/>
                </a:solidFill>
              </a:defRPr>
            </a:pPr>
            <a:r>
              <a:t>Passes sequence (B, 32, 3) through parallel embeddings, a 128-d LSTM, and 3 linear heads. Optimizes joint cross-entropy loss with Adam (lr=1e-3).</a:t>
            </a:r>
          </a:p>
        </p:txBody>
      </p:sp>
      <p:sp>
        <p:nvSpPr>
          <p:cNvPr id="13" name="Rounded Rectangle 12"/>
          <p:cNvSpPr/>
          <p:nvPr/>
        </p:nvSpPr>
        <p:spPr>
          <a:xfrm>
            <a:off x="8046720" y="5029200"/>
            <a:ext cx="3413455" cy="132588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0" y="5074920"/>
            <a:ext cx="3230575" cy="1234440"/>
          </a:xfrm>
          <a:prstGeom prst="rect">
            <a:avLst/>
          </a:prstGeom>
          <a:noFill/>
        </p:spPr>
        <p:txBody>
          <a:bodyPr wrap="square" tIns="0" bIns="0" lIns="0" rIns="0">
            <a:spAutoFit/>
          </a:bodyPr>
          <a:lstStyle/>
          <a:p>
            <a:pPr>
              <a:defRPr sz="1050" b="1">
                <a:solidFill>
                  <a:srgbClr val="FFC857"/>
                </a:solidFill>
              </a:defRPr>
            </a:pPr>
            <a:r>
              <a:t>Phase 3: Generation &amp; Synthesis</a:t>
            </a:r>
          </a:p>
          <a:p>
            <a:pPr>
              <a:spcBef>
                <a:spcPts val="200"/>
              </a:spcBef>
              <a:defRPr sz="950">
                <a:solidFill>
                  <a:srgbClr val="F4F3EB"/>
                </a:solidFill>
              </a:defRPr>
            </a:pPr>
            <a:r>
              <a:t>File: melodyloop/generation.py &amp; audio.py</a:t>
            </a:r>
          </a:p>
          <a:p>
            <a:pPr>
              <a:spcBef>
                <a:spcPts val="300"/>
              </a:spcBef>
              <a:defRPr sz="850">
                <a:solidFill>
                  <a:srgbClr val="94A3B8"/>
                </a:solidFill>
              </a:defRPr>
            </a:pPr>
            <a:r>
              <a:t>Autoregressively rolls out sequences using temperature &amp; Top-K sampling. Decodes tokens into MIDI and renders audio via additive harmonic synthesis.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CHAPTER 02 • MUSIC DATA REPRESENTATION</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Symbolic Musical Representation: Keyboard to MIDI</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04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pic>
        <p:nvPicPr>
          <p:cNvPr id="8" name="Picture 7" descr="fig_piano_keyboard.png"/>
          <p:cNvPicPr>
            <a:picLocks noChangeAspect="1"/>
          </p:cNvPicPr>
          <p:nvPr/>
        </p:nvPicPr>
        <p:blipFill>
          <a:blip r:embed="rId2"/>
          <a:stretch>
            <a:fillRect/>
          </a:stretch>
        </p:blipFill>
        <p:spPr>
          <a:xfrm>
            <a:off x="731520" y="1508760"/>
            <a:ext cx="10728655" cy="2926080"/>
          </a:xfrm>
          <a:prstGeom prst="rect">
            <a:avLst/>
          </a:prstGeom>
        </p:spPr>
      </p:pic>
      <p:sp>
        <p:nvSpPr>
          <p:cNvPr id="9" name="Rounded Rectangle 8"/>
          <p:cNvSpPr/>
          <p:nvPr/>
        </p:nvSpPr>
        <p:spPr>
          <a:xfrm>
            <a:off x="731520" y="4572000"/>
            <a:ext cx="3413455" cy="173736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663440"/>
            <a:ext cx="3139135" cy="1554480"/>
          </a:xfrm>
          <a:prstGeom prst="rect">
            <a:avLst/>
          </a:prstGeom>
          <a:noFill/>
        </p:spPr>
        <p:txBody>
          <a:bodyPr wrap="square" tIns="0" bIns="0" lIns="0" rIns="0">
            <a:spAutoFit/>
          </a:bodyPr>
          <a:lstStyle/>
          <a:p>
            <a:pPr>
              <a:defRPr sz="1100" b="1">
                <a:solidFill>
                  <a:srgbClr val="26D9F1"/>
                </a:solidFill>
              </a:defRPr>
            </a:pPr>
            <a:r>
              <a:t>The 128 MIDI Pitch Standard</a:t>
            </a:r>
          </a:p>
          <a:p>
            <a:pPr>
              <a:spcBef>
                <a:spcPts val="400"/>
              </a:spcBef>
              <a:defRPr sz="950">
                <a:solidFill>
                  <a:srgbClr val="F4F3EB"/>
                </a:solidFill>
              </a:defRPr>
            </a:pPr>
            <a:r>
              <a:t>MIDI note numbers span integers [0, 127].</a:t>
            </a:r>
            <a:br/>
            <a:r>
              <a:t>Standard 88-key acoustic pianos cover A0 (MIDI 21, 27.5 Hz) to C8 (MIDI 108, 4186 Hz). Middle C is defined as MIDI 60 (C4, 261.63 Hz). Concert A is MIDI 69 (A4, 440.0 Hz).</a:t>
            </a:r>
          </a:p>
        </p:txBody>
      </p:sp>
      <p:sp>
        <p:nvSpPr>
          <p:cNvPr id="11" name="Rounded Rectangle 10"/>
          <p:cNvSpPr/>
          <p:nvPr/>
        </p:nvSpPr>
        <p:spPr>
          <a:xfrm>
            <a:off x="4389120" y="4572000"/>
            <a:ext cx="3413455" cy="173736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4663440"/>
            <a:ext cx="3139135" cy="1554480"/>
          </a:xfrm>
          <a:prstGeom prst="rect">
            <a:avLst/>
          </a:prstGeom>
          <a:noFill/>
        </p:spPr>
        <p:txBody>
          <a:bodyPr wrap="square" tIns="0" bIns="0" lIns="0" rIns="0">
            <a:spAutoFit/>
          </a:bodyPr>
          <a:lstStyle/>
          <a:p>
            <a:pPr>
              <a:defRPr sz="1100" b="1">
                <a:solidFill>
                  <a:srgbClr val="FFC857"/>
                </a:solidFill>
              </a:defRPr>
            </a:pPr>
            <a:r>
              <a:t>The 3-Tuple Event Structure</a:t>
            </a:r>
          </a:p>
          <a:p>
            <a:pPr>
              <a:spcBef>
                <a:spcPts val="400"/>
              </a:spcBef>
              <a:defRPr sz="950">
                <a:solidFill>
                  <a:srgbClr val="F4F3EB"/>
                </a:solidFill>
              </a:defRPr>
            </a:pPr>
            <a:r>
              <a:t>Every note event in MelodyLoop is represented by:</a:t>
            </a:r>
            <a:br/>
            <a:r>
              <a:t>• Pitch p ∈ [0, 127] (Discrete MIDI pitch)</a:t>
            </a:r>
            <a:br/>
            <a:r>
              <a:t>• Duration d ∈ [0, 31] (Sustained ring time)</a:t>
            </a:r>
            <a:br/>
            <a:r>
              <a:t>• Step s ∈ [0, 31] (Interval to next note onset)</a:t>
            </a:r>
            <a:br/>
            <a:r>
              <a:t>Enables polyphonic overlap and pacing.</a:t>
            </a:r>
          </a:p>
        </p:txBody>
      </p:sp>
      <p:sp>
        <p:nvSpPr>
          <p:cNvPr id="13" name="Rounded Rectangle 12"/>
          <p:cNvSpPr/>
          <p:nvPr/>
        </p:nvSpPr>
        <p:spPr>
          <a:xfrm>
            <a:off x="8046720" y="4572000"/>
            <a:ext cx="3413455" cy="173736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79" y="4663440"/>
            <a:ext cx="3139135" cy="1554480"/>
          </a:xfrm>
          <a:prstGeom prst="rect">
            <a:avLst/>
          </a:prstGeom>
          <a:noFill/>
        </p:spPr>
        <p:txBody>
          <a:bodyPr wrap="square" tIns="0" bIns="0" lIns="0" rIns="0">
            <a:spAutoFit/>
          </a:bodyPr>
          <a:lstStyle/>
          <a:p>
            <a:pPr>
              <a:defRPr sz="1100" b="1">
                <a:solidFill>
                  <a:srgbClr val="2855D9"/>
                </a:solidFill>
              </a:defRPr>
            </a:pPr>
            <a:r>
              <a:t>Mathematical Frequency Formula</a:t>
            </a:r>
          </a:p>
          <a:p>
            <a:pPr>
              <a:spcBef>
                <a:spcPts val="400"/>
              </a:spcBef>
              <a:defRPr sz="950">
                <a:solidFill>
                  <a:srgbClr val="F4F3EB"/>
                </a:solidFill>
              </a:defRPr>
            </a:pPr>
            <a:r>
              <a:t>Continuous frequency in Hertz is calculated by:</a:t>
            </a:r>
            <a:br/>
            <a:r>
              <a:t>    f = 440.0 × 2^((p - 69) / 12)</a:t>
            </a:r>
            <a:br/>
            <a:r>
              <a:t>Equal temperament divides each octave into 12 logarithmic semitones. A semitone increase multiplies frequency by 2^(1/12) ≈ 1.05946.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CHAPTER 02 • REPRESENTATION HIERARCHY</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Representation Hierarchy: Symbolic MIDI vs. Continuous Audio</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05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pic>
        <p:nvPicPr>
          <p:cNvPr id="8" name="Picture 7" descr="fig_midi_vs_audio.png"/>
          <p:cNvPicPr>
            <a:picLocks noChangeAspect="1"/>
          </p:cNvPicPr>
          <p:nvPr/>
        </p:nvPicPr>
        <p:blipFill>
          <a:blip r:embed="rId2"/>
          <a:stretch>
            <a:fillRect/>
          </a:stretch>
        </p:blipFill>
        <p:spPr>
          <a:xfrm>
            <a:off x="731520" y="1508760"/>
            <a:ext cx="10728655" cy="3108960"/>
          </a:xfrm>
          <a:prstGeom prst="rect">
            <a:avLst/>
          </a:prstGeom>
        </p:spPr>
      </p:pic>
      <p:sp>
        <p:nvSpPr>
          <p:cNvPr id="9" name="Rounded Rectangle 8"/>
          <p:cNvSpPr/>
          <p:nvPr/>
        </p:nvSpPr>
        <p:spPr>
          <a:xfrm>
            <a:off x="731520" y="4754880"/>
            <a:ext cx="3413455" cy="155448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846320"/>
            <a:ext cx="3139135" cy="1371600"/>
          </a:xfrm>
          <a:prstGeom prst="rect">
            <a:avLst/>
          </a:prstGeom>
          <a:noFill/>
        </p:spPr>
        <p:txBody>
          <a:bodyPr wrap="square" tIns="0" bIns="0" lIns="0" rIns="0">
            <a:spAutoFit/>
          </a:bodyPr>
          <a:lstStyle/>
          <a:p>
            <a:pPr>
              <a:defRPr sz="1100" b="1">
                <a:solidFill>
                  <a:srgbClr val="26D9F1"/>
                </a:solidFill>
              </a:defRPr>
            </a:pPr>
            <a:r>
              <a:t>1. Symbolic MIDI (.mid)</a:t>
            </a:r>
          </a:p>
          <a:p>
            <a:pPr>
              <a:spcBef>
                <a:spcPts val="400"/>
              </a:spcBef>
              <a:defRPr sz="900">
                <a:solidFill>
                  <a:srgbClr val="F4F3EB"/>
                </a:solidFill>
              </a:defRPr>
            </a:pPr>
            <a:r>
              <a:t>• Representation: Event metadata (pitch, time, velocity)</a:t>
            </a:r>
            <a:br/>
            <a:r>
              <a:t>• Data Volume: Tiny (~1–5 KB per minute)</a:t>
            </a:r>
            <a:br/>
            <a:r>
              <a:t>• Content: Musical intent / sheet music instructions</a:t>
            </a:r>
            <a:br/>
            <a:r>
              <a:t>• Network Role: Perfect target for discrete sequence modeling and token embeddings.</a:t>
            </a:r>
          </a:p>
        </p:txBody>
      </p:sp>
      <p:sp>
        <p:nvSpPr>
          <p:cNvPr id="11" name="Rounded Rectangle 10"/>
          <p:cNvSpPr/>
          <p:nvPr/>
        </p:nvSpPr>
        <p:spPr>
          <a:xfrm>
            <a:off x="4389120" y="4754880"/>
            <a:ext cx="3413455" cy="155448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4846320"/>
            <a:ext cx="3139135" cy="1371600"/>
          </a:xfrm>
          <a:prstGeom prst="rect">
            <a:avLst/>
          </a:prstGeom>
          <a:noFill/>
        </p:spPr>
        <p:txBody>
          <a:bodyPr wrap="square" tIns="0" bIns="0" lIns="0" rIns="0">
            <a:spAutoFit/>
          </a:bodyPr>
          <a:lstStyle/>
          <a:p>
            <a:pPr>
              <a:defRPr sz="1100" b="1">
                <a:solidFill>
                  <a:srgbClr val="FFC857"/>
                </a:solidFill>
              </a:defRPr>
            </a:pPr>
            <a:r>
              <a:t>2. Synthesized Waveform (.wav)</a:t>
            </a:r>
          </a:p>
          <a:p>
            <a:pPr>
              <a:spcBef>
                <a:spcPts val="400"/>
              </a:spcBef>
              <a:defRPr sz="900">
                <a:solidFill>
                  <a:srgbClr val="F4F3EB"/>
                </a:solidFill>
              </a:defRPr>
            </a:pPr>
            <a:r>
              <a:t>• Representation: 44,100 continuous 16-bit PCM samples/s</a:t>
            </a:r>
            <a:br/>
            <a:r>
              <a:t>• Data Volume: Large (~10.5 MB per minute uncompressed)</a:t>
            </a:r>
            <a:br/>
            <a:r>
              <a:t>• Content: Acoustic pressure waves in air</a:t>
            </a:r>
            <a:br/>
            <a:r>
              <a:t>• Network Role: Generated downstream via additive synthesis (melodyloop/audio.py).</a:t>
            </a:r>
          </a:p>
        </p:txBody>
      </p:sp>
      <p:sp>
        <p:nvSpPr>
          <p:cNvPr id="13" name="Rounded Rectangle 12"/>
          <p:cNvSpPr/>
          <p:nvPr/>
        </p:nvSpPr>
        <p:spPr>
          <a:xfrm>
            <a:off x="8046720" y="4754880"/>
            <a:ext cx="3413455" cy="155448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79" y="4846320"/>
            <a:ext cx="3139135" cy="1371600"/>
          </a:xfrm>
          <a:prstGeom prst="rect">
            <a:avLst/>
          </a:prstGeom>
          <a:noFill/>
        </p:spPr>
        <p:txBody>
          <a:bodyPr wrap="square" tIns="0" bIns="0" lIns="0" rIns="0">
            <a:spAutoFit/>
          </a:bodyPr>
          <a:lstStyle/>
          <a:p>
            <a:pPr>
              <a:defRPr sz="1100" b="1">
                <a:solidFill>
                  <a:srgbClr val="FF6B6B"/>
                </a:solidFill>
              </a:defRPr>
            </a:pPr>
            <a:r>
              <a:t>3. Compressed Audio (.mp3)</a:t>
            </a:r>
          </a:p>
          <a:p>
            <a:pPr>
              <a:spcBef>
                <a:spcPts val="400"/>
              </a:spcBef>
              <a:defRPr sz="900">
                <a:solidFill>
                  <a:srgbClr val="F4F3EB"/>
                </a:solidFill>
              </a:defRPr>
            </a:pPr>
            <a:r>
              <a:t>• Representation: Psychoacoustic MDCT frequency lossy bins</a:t>
            </a:r>
            <a:br/>
            <a:r>
              <a:t>• Data Volume: Medium (~1 MB per minute at 128 kbps)</a:t>
            </a:r>
            <a:br/>
            <a:r>
              <a:t>• Content: Perceptually masked audio stream</a:t>
            </a:r>
            <a:br/>
            <a:r>
              <a:t>• Network Role: Delivery format; unsuitable for token-level neural sequence modeling.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CHAPTER 03 • TRAINING CORPUS</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The MAESTRO Dataset: Scope, Splits &amp; Diversity</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06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pic>
        <p:nvPicPr>
          <p:cNvPr id="8" name="Picture 7" descr="fig_maestro_splits.png"/>
          <p:cNvPicPr>
            <a:picLocks noChangeAspect="1"/>
          </p:cNvPicPr>
          <p:nvPr/>
        </p:nvPicPr>
        <p:blipFill>
          <a:blip r:embed="rId2"/>
          <a:stretch>
            <a:fillRect/>
          </a:stretch>
        </p:blipFill>
        <p:spPr>
          <a:xfrm>
            <a:off x="731520" y="1508760"/>
            <a:ext cx="10728655" cy="3108960"/>
          </a:xfrm>
          <a:prstGeom prst="rect">
            <a:avLst/>
          </a:prstGeom>
        </p:spPr>
      </p:pic>
      <p:sp>
        <p:nvSpPr>
          <p:cNvPr id="9" name="Rounded Rectangle 8"/>
          <p:cNvSpPr/>
          <p:nvPr/>
        </p:nvSpPr>
        <p:spPr>
          <a:xfrm>
            <a:off x="731520" y="4754880"/>
            <a:ext cx="3413455" cy="155448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846320"/>
            <a:ext cx="3139135" cy="1371600"/>
          </a:xfrm>
          <a:prstGeom prst="rect">
            <a:avLst/>
          </a:prstGeom>
          <a:noFill/>
        </p:spPr>
        <p:txBody>
          <a:bodyPr wrap="square" tIns="0" bIns="0" lIns="0" rIns="0">
            <a:spAutoFit/>
          </a:bodyPr>
          <a:lstStyle/>
          <a:p>
            <a:pPr>
              <a:defRPr sz="1100" b="1">
                <a:solidFill>
                  <a:srgbClr val="26D9F1"/>
                </a:solidFill>
              </a:defRPr>
            </a:pPr>
            <a:r>
              <a:t>Gold-Standard Yamaha Disklavier Data</a:t>
            </a:r>
          </a:p>
          <a:p>
            <a:pPr>
              <a:spcBef>
                <a:spcPts val="400"/>
              </a:spcBef>
              <a:defRPr sz="900">
                <a:solidFill>
                  <a:srgbClr val="F4F3EB"/>
                </a:solidFill>
              </a:defRPr>
            </a:pPr>
            <a:r>
              <a:t>MAESTRO v3.0.0 contains 1,276 performances (200 hours) captured live from the International Piano-e-Competition.</a:t>
            </a:r>
            <a:br/>
            <a:r>
              <a:t>Yamaha Disklavier concert grand pianos recorded note onsets and releases with millisecond accuracy, capturing virtuosic human expressive nuance.</a:t>
            </a:r>
          </a:p>
        </p:txBody>
      </p:sp>
      <p:sp>
        <p:nvSpPr>
          <p:cNvPr id="11" name="Rounded Rectangle 10"/>
          <p:cNvSpPr/>
          <p:nvPr/>
        </p:nvSpPr>
        <p:spPr>
          <a:xfrm>
            <a:off x="4389120" y="4754880"/>
            <a:ext cx="3413455" cy="155448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4846320"/>
            <a:ext cx="3139135" cy="1371600"/>
          </a:xfrm>
          <a:prstGeom prst="rect">
            <a:avLst/>
          </a:prstGeom>
          <a:noFill/>
        </p:spPr>
        <p:txBody>
          <a:bodyPr wrap="square" tIns="0" bIns="0" lIns="0" rIns="0">
            <a:spAutoFit/>
          </a:bodyPr>
          <a:lstStyle/>
          <a:p>
            <a:pPr>
              <a:defRPr sz="1100" b="1">
                <a:solidFill>
                  <a:srgbClr val="FFC857"/>
                </a:solidFill>
              </a:defRPr>
            </a:pPr>
            <a:r>
              <a:t>Discovered Metadata Distribution</a:t>
            </a:r>
          </a:p>
          <a:p>
            <a:pPr>
              <a:spcBef>
                <a:spcPts val="400"/>
              </a:spcBef>
              <a:defRPr sz="900">
                <a:solidFill>
                  <a:srgbClr val="F4F3EB"/>
                </a:solidFill>
              </a:defRPr>
            </a:pPr>
            <a:r>
              <a:t>Catalogued across 10 years of international competition:</a:t>
            </a:r>
            <a:br/>
            <a:r>
              <a:t>• 962 Training Performances (75.4%)</a:t>
            </a:r>
            <a:br/>
            <a:r>
              <a:t>• 137 Validation Performances (10.7%)</a:t>
            </a:r>
            <a:br/>
            <a:r>
              <a:t>• 177 Held-out Test Performances (13.9%)</a:t>
            </a:r>
            <a:br/>
            <a:r>
              <a:t>Includes Chopin, Beethoven, Liszt, Bach, and Scriabin.</a:t>
            </a:r>
          </a:p>
        </p:txBody>
      </p:sp>
      <p:sp>
        <p:nvSpPr>
          <p:cNvPr id="13" name="Rounded Rectangle 12"/>
          <p:cNvSpPr/>
          <p:nvPr/>
        </p:nvSpPr>
        <p:spPr>
          <a:xfrm>
            <a:off x="8046720" y="4754880"/>
            <a:ext cx="3413455" cy="155448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79" y="4846320"/>
            <a:ext cx="3139135" cy="1371600"/>
          </a:xfrm>
          <a:prstGeom prst="rect">
            <a:avLst/>
          </a:prstGeom>
          <a:noFill/>
        </p:spPr>
        <p:txBody>
          <a:bodyPr wrap="square" tIns="0" bIns="0" lIns="0" rIns="0">
            <a:spAutoFit/>
          </a:bodyPr>
          <a:lstStyle/>
          <a:p>
            <a:pPr>
              <a:defRPr sz="1100" b="1">
                <a:solidFill>
                  <a:srgbClr val="2855D9"/>
                </a:solidFill>
              </a:defRPr>
            </a:pPr>
            <a:r>
              <a:t>Zero Data Leakage Protocol</a:t>
            </a:r>
          </a:p>
          <a:p>
            <a:pPr>
              <a:spcBef>
                <a:spcPts val="400"/>
              </a:spcBef>
              <a:defRPr sz="900">
                <a:solidFill>
                  <a:srgbClr val="F4F3EB"/>
                </a:solidFill>
              </a:defRPr>
            </a:pPr>
            <a:r>
              <a:t>Rigorous split isolation is strictly maintained in config.py:</a:t>
            </a:r>
            <a:br/>
            <a:r>
              <a:t>• Parameter updates: Computed exclusively on 962 train files.</a:t>
            </a:r>
            <a:br/>
            <a:r>
              <a:t>• Early stopping: Monitored on 137 validation files (no gradients).</a:t>
            </a:r>
            <a:br/>
            <a:r>
              <a:t>• Final benchmark: Conducted on held-out test split (e.g. Scriabin Op. 63).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CHAPTER 03 • EMPIRICAL SCALING</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Dataset Scaling: Baseline Bottleneck vs. Expanded Corpus</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07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pic>
        <p:nvPicPr>
          <p:cNvPr id="8" name="Picture 7" descr="fig_dataset_scaling.png"/>
          <p:cNvPicPr>
            <a:picLocks noChangeAspect="1"/>
          </p:cNvPicPr>
          <p:nvPr/>
        </p:nvPicPr>
        <p:blipFill>
          <a:blip r:embed="rId2"/>
          <a:stretch>
            <a:fillRect/>
          </a:stretch>
        </p:blipFill>
        <p:spPr>
          <a:xfrm>
            <a:off x="731520" y="1508760"/>
            <a:ext cx="6217920" cy="3108960"/>
          </a:xfrm>
          <a:prstGeom prst="rect">
            <a:avLst/>
          </a:prstGeom>
        </p:spPr>
      </p:pic>
      <p:sp>
        <p:nvSpPr>
          <p:cNvPr id="9" name="Rounded Rectangle 8"/>
          <p:cNvSpPr/>
          <p:nvPr/>
        </p:nvSpPr>
        <p:spPr>
          <a:xfrm>
            <a:off x="7132320" y="1508760"/>
            <a:ext cx="4327855" cy="310896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0" y="1645920"/>
            <a:ext cx="3962095" cy="2834640"/>
          </a:xfrm>
          <a:prstGeom prst="rect">
            <a:avLst/>
          </a:prstGeom>
          <a:noFill/>
        </p:spPr>
        <p:txBody>
          <a:bodyPr wrap="square">
            <a:spAutoFit/>
          </a:bodyPr>
          <a:lstStyle/>
          <a:p>
            <a:pPr>
              <a:defRPr sz="1200" b="1">
                <a:solidFill>
                  <a:srgbClr val="FFC857"/>
                </a:solidFill>
              </a:defRPr>
            </a:pPr>
            <a:r>
              <a:t>CORPUS EXPANSION COMPARISON</a:t>
            </a:r>
          </a:p>
          <a:p>
            <a:pPr>
              <a:spcBef>
                <a:spcPts val="400"/>
              </a:spcBef>
            </a:pPr>
            <a:r>
              <a:rPr b="1" sz="950">
                <a:solidFill>
                  <a:srgbClr val="F4F3EB"/>
                </a:solidFill>
              </a:rPr>
              <a:t>Training Files Processed: </a:t>
            </a:r>
            <a:r>
              <a:rPr sz="950">
                <a:solidFill>
                  <a:srgbClr val="26D9F1"/>
                </a:solidFill>
              </a:rPr>
              <a:t>13 → 962 (74× Increase)</a:t>
            </a:r>
          </a:p>
          <a:p>
            <a:pPr>
              <a:spcBef>
                <a:spcPts val="400"/>
              </a:spcBef>
            </a:pPr>
            <a:r>
              <a:rPr b="1" sz="950">
                <a:solidFill>
                  <a:srgbClr val="F4F3EB"/>
                </a:solidFill>
              </a:rPr>
              <a:t>Extracted Note Events: </a:t>
            </a:r>
            <a:r>
              <a:rPr sz="950">
                <a:solidFill>
                  <a:srgbClr val="26D9F1"/>
                </a:solidFill>
              </a:rPr>
              <a:t>64,261 → 5,659,329 (88× Increase)</a:t>
            </a:r>
          </a:p>
          <a:p>
            <a:pPr>
              <a:spcBef>
                <a:spcPts val="400"/>
              </a:spcBef>
            </a:pPr>
            <a:r>
              <a:rPr b="1" sz="950">
                <a:solidFill>
                  <a:srgbClr val="F4F3EB"/>
                </a:solidFill>
              </a:rPr>
              <a:t>Training Sequences: </a:t>
            </a:r>
            <a:r>
              <a:rPr sz="950">
                <a:solidFill>
                  <a:srgbClr val="26D9F1"/>
                </a:solidFill>
              </a:rPr>
              <a:t>15,000 → 100,000 (6.7× Increase)</a:t>
            </a:r>
          </a:p>
          <a:p>
            <a:pPr>
              <a:spcBef>
                <a:spcPts val="400"/>
              </a:spcBef>
            </a:pPr>
            <a:r>
              <a:rPr b="1" sz="950">
                <a:solidFill>
                  <a:srgbClr val="F4F3EB"/>
                </a:solidFill>
              </a:rPr>
              <a:t>Validation Performances: </a:t>
            </a:r>
            <a:r>
              <a:rPr sz="950">
                <a:solidFill>
                  <a:srgbClr val="26D9F1"/>
                </a:solidFill>
              </a:rPr>
              <a:t>1 → 137 (137× Increase)</a:t>
            </a:r>
          </a:p>
          <a:p>
            <a:pPr>
              <a:spcBef>
                <a:spcPts val="400"/>
              </a:spcBef>
            </a:pPr>
            <a:r>
              <a:rPr b="1" sz="950">
                <a:solidFill>
                  <a:srgbClr val="F4F3EB"/>
                </a:solidFill>
              </a:rPr>
              <a:t>Validation Sequences: </a:t>
            </a:r>
            <a:r>
              <a:rPr sz="950">
                <a:solidFill>
                  <a:srgbClr val="26D9F1"/>
                </a:solidFill>
              </a:rPr>
              <a:t>3,924 → 10,000 (2.5× Increase)</a:t>
            </a:r>
          </a:p>
          <a:p>
            <a:pPr>
              <a:spcBef>
                <a:spcPts val="400"/>
              </a:spcBef>
            </a:pPr>
            <a:r>
              <a:rPr b="1" sz="950">
                <a:solidFill>
                  <a:srgbClr val="F4F3EB"/>
                </a:solidFill>
              </a:rPr>
              <a:t>RAM Representation: </a:t>
            </a:r>
            <a:r>
              <a:rPr sz="950">
                <a:solidFill>
                  <a:srgbClr val="26D9F1"/>
                </a:solidFill>
              </a:rPr>
              <a:t>int64 (77 MB) → uint8 (9.6 MB)</a:t>
            </a:r>
          </a:p>
          <a:p>
            <a:pPr>
              <a:spcBef>
                <a:spcPts val="400"/>
              </a:spcBef>
            </a:pPr>
            <a:r>
              <a:rPr b="1" sz="950">
                <a:solidFill>
                  <a:srgbClr val="F4F3EB"/>
                </a:solidFill>
              </a:rPr>
              <a:t>Cached Load Time: </a:t>
            </a:r>
            <a:r>
              <a:rPr sz="950">
                <a:solidFill>
                  <a:srgbClr val="26D9F1"/>
                </a:solidFill>
              </a:rPr>
              <a:t>10s → 1.88s (Train) / 0.26s (Val)</a:t>
            </a:r>
          </a:p>
        </p:txBody>
      </p:sp>
      <p:sp>
        <p:nvSpPr>
          <p:cNvPr id="11" name="Rounded Rectangle 10"/>
          <p:cNvSpPr/>
          <p:nvPr/>
        </p:nvSpPr>
        <p:spPr>
          <a:xfrm>
            <a:off x="731520" y="4754880"/>
            <a:ext cx="10728655" cy="155448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846320"/>
            <a:ext cx="10362895" cy="1371600"/>
          </a:xfrm>
          <a:prstGeom prst="rect">
            <a:avLst/>
          </a:prstGeom>
          <a:noFill/>
        </p:spPr>
        <p:txBody>
          <a:bodyPr wrap="square">
            <a:spAutoFit/>
          </a:bodyPr>
          <a:lstStyle/>
          <a:p>
            <a:pPr>
              <a:defRPr sz="1100" b="1">
                <a:solidFill>
                  <a:srgbClr val="26D9F1"/>
                </a:solidFill>
              </a:defRPr>
            </a:pPr>
            <a:r>
              <a:t>DIAGNOSIS &amp; RESOLUTION OF THE ORIGINAL 13-PERFORMANCE BOTTLENECK</a:t>
            </a:r>
          </a:p>
          <a:p>
            <a:pPr>
              <a:spcBef>
                <a:spcPts val="300"/>
              </a:spcBef>
              <a:defRPr sz="900">
                <a:solidFill>
                  <a:srgbClr val="F4F3EB"/>
                </a:solidFill>
              </a:defRPr>
            </a:pPr>
            <a:r>
              <a:t>• Root Cause in data.py: The original pipeline hit a hard-coded break statement (if current_total &gt;= 15000: break) on file #13, terminating loop execution and discarding the remaining 949 training performances.</a:t>
            </a:r>
          </a:p>
          <a:p>
            <a:pPr>
              <a:spcBef>
                <a:spcPts val="300"/>
              </a:spcBef>
              <a:defRPr sz="900">
                <a:solidFill>
                  <a:srgbClr val="F4F3EB"/>
                </a:solidFill>
              </a:defRPr>
            </a:pPr>
            <a:r>
              <a:t>• Proportional Sequence Balancing: Replaced the premature break with proportional piece sampling (max 16–100 sequences per piece), drawing diverse sequences evenly across all 962 performances.</a:t>
            </a:r>
          </a:p>
          <a:p>
            <a:pPr>
              <a:spcBef>
                <a:spcPts val="300"/>
              </a:spcBef>
              <a:defRPr sz="900">
                <a:solidFill>
                  <a:srgbClr val="F4F3EB"/>
                </a:solidFill>
              </a:defRPr>
            </a:pPr>
            <a:r>
              <a:t>• Bounded uint8 Tensor Memory: Storing sequences as compact uint8 tensors in RAM prevented Python memory bloat, enabling 100k sequences to load in 1.88 seconds from persistent .npz caches.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CHAPTER 06 • PREPROCESSING &amp; TOKENIZATION</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Data Preprocessing Pipeline &amp; 3-Tuple Quantization</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08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sp>
        <p:nvSpPr>
          <p:cNvPr id="8" name="Rounded Rectangle 7"/>
          <p:cNvSpPr/>
          <p:nvPr/>
        </p:nvSpPr>
        <p:spPr>
          <a:xfrm>
            <a:off x="731520" y="1554480"/>
            <a:ext cx="2542032" cy="228600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645920"/>
            <a:ext cx="2359151" cy="2103120"/>
          </a:xfrm>
          <a:prstGeom prst="rect">
            <a:avLst/>
          </a:prstGeom>
          <a:noFill/>
        </p:spPr>
        <p:txBody>
          <a:bodyPr wrap="square" tIns="0" bIns="0" lIns="0" rIns="0">
            <a:spAutoFit/>
          </a:bodyPr>
          <a:lstStyle/>
          <a:p>
            <a:pPr>
              <a:defRPr sz="1100" b="1">
                <a:solidFill>
                  <a:srgbClr val="26D9F1"/>
                </a:solidFill>
              </a:defRPr>
            </a:pPr>
            <a:r>
              <a:t>Step 1: mido Parsing</a:t>
            </a:r>
          </a:p>
          <a:p>
            <a:pPr>
              <a:spcBef>
                <a:spcPts val="200"/>
              </a:spcBef>
              <a:defRPr sz="950">
                <a:solidFill>
                  <a:srgbClr val="94A3B8"/>
                </a:solidFill>
              </a:defRPr>
            </a:pPr>
            <a:r>
              <a:t>Raw MIDI Bytes</a:t>
            </a:r>
          </a:p>
          <a:p>
            <a:pPr>
              <a:spcBef>
                <a:spcPts val="600"/>
              </a:spcBef>
              <a:defRPr sz="900">
                <a:solidFill>
                  <a:srgbClr val="F4F3EB"/>
                </a:solidFill>
              </a:defRPr>
            </a:pPr>
            <a:r>
              <a:t>Reads binary MIDI via mido, parses note_on / note_off channel events, tracks cumulative delta times, and filters non-piano tracks.</a:t>
            </a:r>
          </a:p>
        </p:txBody>
      </p:sp>
      <p:sp>
        <p:nvSpPr>
          <p:cNvPr id="10" name="Rounded Rectangle 9"/>
          <p:cNvSpPr/>
          <p:nvPr/>
        </p:nvSpPr>
        <p:spPr>
          <a:xfrm>
            <a:off x="3474720" y="1554480"/>
            <a:ext cx="2542032" cy="228600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645920"/>
            <a:ext cx="2359151" cy="2103120"/>
          </a:xfrm>
          <a:prstGeom prst="rect">
            <a:avLst/>
          </a:prstGeom>
          <a:noFill/>
        </p:spPr>
        <p:txBody>
          <a:bodyPr wrap="square" tIns="0" bIns="0" lIns="0" rIns="0">
            <a:spAutoFit/>
          </a:bodyPr>
          <a:lstStyle/>
          <a:p>
            <a:pPr>
              <a:defRPr sz="1100" b="1">
                <a:solidFill>
                  <a:srgbClr val="2855D9"/>
                </a:solidFill>
              </a:defRPr>
            </a:pPr>
            <a:r>
              <a:t>Step 2: Event Pairing</a:t>
            </a:r>
          </a:p>
          <a:p>
            <a:pPr>
              <a:spcBef>
                <a:spcPts val="200"/>
              </a:spcBef>
              <a:defRPr sz="950">
                <a:solidFill>
                  <a:srgbClr val="94A3B8"/>
                </a:solidFill>
              </a:defRPr>
            </a:pPr>
            <a:r>
              <a:t>Note Lifecycles</a:t>
            </a:r>
          </a:p>
          <a:p>
            <a:pPr>
              <a:spcBef>
                <a:spcPts val="600"/>
              </a:spcBef>
              <a:defRPr sz="900">
                <a:solidFill>
                  <a:srgbClr val="F4F3EB"/>
                </a:solidFill>
              </a:defRPr>
            </a:pPr>
            <a:r>
              <a:t>Matches each note_on with its corresponding note_off to compute exact continuous start time (t_start) and duration (t_dur = t_off - t_on).</a:t>
            </a:r>
          </a:p>
        </p:txBody>
      </p:sp>
      <p:sp>
        <p:nvSpPr>
          <p:cNvPr id="12" name="Rounded Rectangle 11"/>
          <p:cNvSpPr/>
          <p:nvPr/>
        </p:nvSpPr>
        <p:spPr>
          <a:xfrm>
            <a:off x="6217920" y="1554480"/>
            <a:ext cx="2542032" cy="228600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645920"/>
            <a:ext cx="2359151" cy="2103120"/>
          </a:xfrm>
          <a:prstGeom prst="rect">
            <a:avLst/>
          </a:prstGeom>
          <a:noFill/>
        </p:spPr>
        <p:txBody>
          <a:bodyPr wrap="square" tIns="0" bIns="0" lIns="0" rIns="0">
            <a:spAutoFit/>
          </a:bodyPr>
          <a:lstStyle/>
          <a:p>
            <a:pPr>
              <a:defRPr sz="1100" b="1">
                <a:solidFill>
                  <a:srgbClr val="FFC857"/>
                </a:solidFill>
              </a:defRPr>
            </a:pPr>
            <a:r>
              <a:t>Step 3: Step Interval</a:t>
            </a:r>
          </a:p>
          <a:p>
            <a:pPr>
              <a:spcBef>
                <a:spcPts val="200"/>
              </a:spcBef>
              <a:defRPr sz="950">
                <a:solidFill>
                  <a:srgbClr val="94A3B8"/>
                </a:solidFill>
              </a:defRPr>
            </a:pPr>
            <a:r>
              <a:t>Temporal Dynamics</a:t>
            </a:r>
          </a:p>
          <a:p>
            <a:pPr>
              <a:spcBef>
                <a:spcPts val="600"/>
              </a:spcBef>
              <a:defRPr sz="900">
                <a:solidFill>
                  <a:srgbClr val="F4F3EB"/>
                </a:solidFill>
              </a:defRPr>
            </a:pPr>
            <a:r>
              <a:t>Sorts all notes chronologically and computes step time: s_i = max(0.0, start_(i+1) - start_i). Chords produce step = 0.0s.</a:t>
            </a:r>
          </a:p>
        </p:txBody>
      </p:sp>
      <p:sp>
        <p:nvSpPr>
          <p:cNvPr id="14" name="Rounded Rectangle 13"/>
          <p:cNvSpPr/>
          <p:nvPr/>
        </p:nvSpPr>
        <p:spPr>
          <a:xfrm>
            <a:off x="8961120" y="1554480"/>
            <a:ext cx="2542032" cy="228600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0" y="1645920"/>
            <a:ext cx="2359151" cy="2103120"/>
          </a:xfrm>
          <a:prstGeom prst="rect">
            <a:avLst/>
          </a:prstGeom>
          <a:noFill/>
        </p:spPr>
        <p:txBody>
          <a:bodyPr wrap="square" tIns="0" bIns="0" lIns="0" rIns="0">
            <a:spAutoFit/>
          </a:bodyPr>
          <a:lstStyle/>
          <a:p>
            <a:pPr>
              <a:defRPr sz="1100" b="1">
                <a:solidFill>
                  <a:srgbClr val="22C55E"/>
                </a:solidFill>
              </a:defRPr>
            </a:pPr>
            <a:r>
              <a:t>Step 4: Bin Quantization</a:t>
            </a:r>
          </a:p>
          <a:p>
            <a:pPr>
              <a:spcBef>
                <a:spcPts val="200"/>
              </a:spcBef>
              <a:defRPr sz="950">
                <a:solidFill>
                  <a:srgbClr val="94A3B8"/>
                </a:solidFill>
              </a:defRPr>
            </a:pPr>
            <a:r>
              <a:t>Discrete Tokens</a:t>
            </a:r>
          </a:p>
          <a:p>
            <a:pPr>
              <a:spcBef>
                <a:spcPts val="600"/>
              </a:spcBef>
              <a:defRPr sz="900">
                <a:solidFill>
                  <a:srgbClr val="F4F3EB"/>
                </a:solidFill>
              </a:defRPr>
            </a:pPr>
            <a:r>
              <a:t>Maps continuous duration into 32 logarithmic/linear bins [0.05s, 4.0s] and step into 32 bins [0.0s, 2.0s]. Pitch is 0–127.</a:t>
            </a:r>
          </a:p>
        </p:txBody>
      </p:sp>
      <p:sp>
        <p:nvSpPr>
          <p:cNvPr id="16" name="Rounded Rectangle 15"/>
          <p:cNvSpPr/>
          <p:nvPr/>
        </p:nvSpPr>
        <p:spPr>
          <a:xfrm>
            <a:off x="731520" y="4023360"/>
            <a:ext cx="10728655" cy="228600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114800"/>
            <a:ext cx="10362895" cy="2103120"/>
          </a:xfrm>
          <a:prstGeom prst="rect">
            <a:avLst/>
          </a:prstGeom>
          <a:noFill/>
        </p:spPr>
        <p:txBody>
          <a:bodyPr wrap="square">
            <a:spAutoFit/>
          </a:bodyPr>
          <a:lstStyle/>
          <a:p>
            <a:pPr>
              <a:defRPr sz="1200" b="1">
                <a:solidFill>
                  <a:srgbClr val="26D9F1"/>
                </a:solidFill>
              </a:defRPr>
            </a:pPr>
            <a:r>
              <a:t>MATHEMATICAL QUANTIZATION FORMULATION &amp; CONCRETE WORKED EXAMPLE</a:t>
            </a:r>
          </a:p>
          <a:p>
            <a:pPr>
              <a:spcBef>
                <a:spcPts val="400"/>
              </a:spcBef>
              <a:defRPr sz="950">
                <a:solidFill>
                  <a:srgbClr val="F4F3EB"/>
                </a:solidFill>
              </a:defRPr>
            </a:pPr>
            <a:r>
              <a:t>Quantization Formula: bin = min(max(int(((clip(v, min_v, max_v) - min_v) / (max_v - min_v)) × (N - 1) + 0.5), 0), N - 1)</a:t>
            </a:r>
            <a:br/>
            <a:r>
              <a:t>• Duration Bounds: min = 0.05s, max = 4.00s, N = 32 bins (Bin width: ~0.127s)</a:t>
            </a:r>
            <a:br/>
            <a:r>
              <a:t>• Step Interval Bounds: min = 0.00s (chords/dyads), max = 2.00s (pauses), N = 32 bins (Bin width: ~0.0645s)</a:t>
            </a:r>
            <a:br/>
            <a:br/>
            <a:r>
              <a:t>Concrete Note Example: Middle C (C4, 261.63 Hz), ringing for 0.45 seconds, followed by another note 0.25 seconds later:</a:t>
            </a:r>
            <a:br/>
            <a:r>
              <a:t>    Raw Musical Event: [Pitch = 60, Duration = 0.45s, Step = 0.25s]  →  Discrete Token Tuple: (p = 60, d = 3, s = 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CHAPTER 06 • SEQUENCE FORMULATION</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Sequence Formulation: Sliding Windows &amp; Multi-Task Targets</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09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sp>
        <p:nvSpPr>
          <p:cNvPr id="8" name="Rounded Rectangle 7"/>
          <p:cNvSpPr/>
          <p:nvPr/>
        </p:nvSpPr>
        <p:spPr>
          <a:xfrm>
            <a:off x="731520" y="1554480"/>
            <a:ext cx="10728655" cy="219456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45920"/>
            <a:ext cx="10362895" cy="2011680"/>
          </a:xfrm>
          <a:prstGeom prst="rect">
            <a:avLst/>
          </a:prstGeom>
          <a:noFill/>
        </p:spPr>
        <p:txBody>
          <a:bodyPr wrap="square">
            <a:spAutoFit/>
          </a:bodyPr>
          <a:lstStyle/>
          <a:p>
            <a:pPr>
              <a:defRPr sz="1200" b="1">
                <a:solidFill>
                  <a:srgbClr val="26D9F1"/>
                </a:solidFill>
              </a:defRPr>
            </a:pPr>
            <a:r>
              <a:t>SLIDING-WINDOW SUPERVISED LEARNING FORMULATION</a:t>
            </a:r>
          </a:p>
          <a:p>
            <a:pPr>
              <a:spcBef>
                <a:spcPts val="400"/>
              </a:spcBef>
              <a:defRPr sz="1000">
                <a:solidFill>
                  <a:srgbClr val="F4F3EB"/>
                </a:solidFill>
              </a:defRPr>
            </a:pPr>
            <a:r>
              <a:t>Given a chronologically ordered piece of N quantized note events E = (e_1, e_2, ..., e_N) where e_t = (p_t, d_t, s_t):</a:t>
            </a:r>
            <a:br/>
            <a:r>
              <a:t>• Sequence Length L = 32 note events per training window | Stride S = 4 notes</a:t>
            </a:r>
            <a:br/>
            <a:r>
              <a:t>• Input Tensor X: [e_t, e_(t+1), ..., e_(t+31)] with tensor shape (Batch, 32, 3)</a:t>
            </a:r>
            <a:br/>
            <a:r>
              <a:t>• Target Next Event Y: e_(t+32) = (p_(t+32), d_(t+32), s_(t+32)) with target indices (Batch, 3)</a:t>
            </a:r>
            <a:br/>
            <a:r>
              <a:t>The model is trained strictly in a teacher-forcing framework: predicting the 33rd event given the ground-truth previous 32 events.</a:t>
            </a:r>
          </a:p>
          <a:p>
            <a:pPr>
              <a:spcBef>
                <a:spcPts val="600"/>
              </a:spcBef>
              <a:defRPr sz="950">
                <a:solidFill>
                  <a:srgbClr val="FFC857"/>
                </a:solidFill>
                <a:latin typeface="Consolas"/>
              </a:defRPr>
            </a:pPr>
            <a:r>
              <a:t>Sequence Window i:   [Note 1, Note 2, Note 3, ..., Note 32]  ──▶ Predict Next: Note 33</a:t>
            </a:r>
            <a:br/>
            <a:r>
              <a:t>Sequence Window i+1: [Note 5, Note 6, Note 7, ..., Note 36]  ──▶ Predict Next: Note 37 (Stride = 4)</a:t>
            </a:r>
          </a:p>
        </p:txBody>
      </p:sp>
      <p:sp>
        <p:nvSpPr>
          <p:cNvPr id="10" name="Rounded Rectangle 9"/>
          <p:cNvSpPr/>
          <p:nvPr/>
        </p:nvSpPr>
        <p:spPr>
          <a:xfrm>
            <a:off x="731520" y="3931920"/>
            <a:ext cx="5212080" cy="237744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023360"/>
            <a:ext cx="4846320" cy="2194560"/>
          </a:xfrm>
          <a:prstGeom prst="rect">
            <a:avLst/>
          </a:prstGeom>
          <a:noFill/>
        </p:spPr>
        <p:txBody>
          <a:bodyPr wrap="square">
            <a:spAutoFit/>
          </a:bodyPr>
          <a:lstStyle/>
          <a:p>
            <a:pPr>
              <a:defRPr sz="1100" b="1">
                <a:solidFill>
                  <a:srgbClr val="FFC857"/>
                </a:solidFill>
              </a:defRPr>
            </a:pPr>
            <a:r>
              <a:t>MULTI-TASK TARGET DECOUPLING</a:t>
            </a:r>
          </a:p>
          <a:p>
            <a:pPr>
              <a:spcBef>
                <a:spcPts val="300"/>
              </a:spcBef>
            </a:pPr>
            <a:r>
              <a:rPr b="1" sz="950">
                <a:solidFill>
                  <a:srgbClr val="F4F3EB"/>
                </a:solidFill>
              </a:rPr>
              <a:t>• Pitch Target (y_p): </a:t>
            </a:r>
            <a:r>
              <a:rPr sz="900">
                <a:solidFill>
                  <a:srgbClr val="94A3B8"/>
                </a:solidFill>
              </a:rPr>
              <a:t> Discrete classification over 128 MIDI pitch classes [0, 127].</a:t>
            </a:r>
          </a:p>
          <a:p>
            <a:pPr>
              <a:spcBef>
                <a:spcPts val="300"/>
              </a:spcBef>
            </a:pPr>
            <a:r>
              <a:rPr b="1" sz="950">
                <a:solidFill>
                  <a:srgbClr val="F4F3EB"/>
                </a:solidFill>
              </a:rPr>
              <a:t>• Duration Target (y_d): </a:t>
            </a:r>
            <a:r>
              <a:rPr sz="900">
                <a:solidFill>
                  <a:srgbClr val="94A3B8"/>
                </a:solidFill>
              </a:rPr>
              <a:t> Discrete classification over 32 quantized duration bins [0, 31].</a:t>
            </a:r>
          </a:p>
          <a:p>
            <a:pPr>
              <a:spcBef>
                <a:spcPts val="300"/>
              </a:spcBef>
            </a:pPr>
            <a:r>
              <a:rPr b="1" sz="950">
                <a:solidFill>
                  <a:srgbClr val="F4F3EB"/>
                </a:solidFill>
              </a:rPr>
              <a:t>• Step Interval Target (y_s): </a:t>
            </a:r>
            <a:r>
              <a:rPr sz="900">
                <a:solidFill>
                  <a:srgbClr val="94A3B8"/>
                </a:solidFill>
              </a:rPr>
              <a:t> Discrete classification over 32 quantized step bins [0, 31].</a:t>
            </a:r>
          </a:p>
          <a:p>
            <a:pPr>
              <a:spcBef>
                <a:spcPts val="300"/>
              </a:spcBef>
            </a:pPr>
            <a:r>
              <a:rPr b="1" sz="950">
                <a:solidFill>
                  <a:srgbClr val="F4F3EB"/>
                </a:solidFill>
              </a:rPr>
              <a:t>• Synchronous Backprop: </a:t>
            </a:r>
            <a:r>
              <a:rPr sz="900">
                <a:solidFill>
                  <a:srgbClr val="94A3B8"/>
                </a:solidFill>
              </a:rPr>
              <a:t> All three targets are predicted simultaneously from the final LSTM hidden state h_32.</a:t>
            </a:r>
          </a:p>
        </p:txBody>
      </p:sp>
      <p:sp>
        <p:nvSpPr>
          <p:cNvPr id="12" name="Rounded Rectangle 11"/>
          <p:cNvSpPr/>
          <p:nvPr/>
        </p:nvSpPr>
        <p:spPr>
          <a:xfrm>
            <a:off x="6217920" y="3931920"/>
            <a:ext cx="5212080" cy="237744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4023360"/>
            <a:ext cx="4846320" cy="2194560"/>
          </a:xfrm>
          <a:prstGeom prst="rect">
            <a:avLst/>
          </a:prstGeom>
          <a:noFill/>
        </p:spPr>
        <p:txBody>
          <a:bodyPr wrap="square">
            <a:spAutoFit/>
          </a:bodyPr>
          <a:lstStyle/>
          <a:p>
            <a:pPr>
              <a:defRPr sz="1100" b="1">
                <a:solidFill>
                  <a:srgbClr val="2855D9"/>
                </a:solidFill>
              </a:defRPr>
            </a:pPr>
            <a:r>
              <a:t>TEMPORAL ALIGNMENT &amp; DATA INTEGRITY</a:t>
            </a:r>
          </a:p>
          <a:p>
            <a:pPr>
              <a:spcBef>
                <a:spcPts val="300"/>
              </a:spcBef>
            </a:pPr>
            <a:r>
              <a:rPr b="1" sz="950">
                <a:solidFill>
                  <a:srgbClr val="F4F3EB"/>
                </a:solidFill>
              </a:rPr>
              <a:t>✓ Strict Chronological Order: </a:t>
            </a:r>
            <a:r>
              <a:rPr sz="900">
                <a:solidFill>
                  <a:srgbClr val="94A3B8"/>
                </a:solidFill>
              </a:rPr>
              <a:t> Notes are sorted by start time prior to sliding; future events never precede past events.</a:t>
            </a:r>
          </a:p>
          <a:p>
            <a:pPr>
              <a:spcBef>
                <a:spcPts val="300"/>
              </a:spcBef>
            </a:pPr>
            <a:r>
              <a:rPr b="1" sz="950">
                <a:solidFill>
                  <a:srgbClr val="F4F3EB"/>
                </a:solidFill>
              </a:rPr>
              <a:t>✓ No Lookahead Leakage: </a:t>
            </a:r>
            <a:r>
              <a:rPr sz="900">
                <a:solidFill>
                  <a:srgbClr val="94A3B8"/>
                </a:solidFill>
              </a:rPr>
              <a:t> Window i only contains notes 1..32; target is note 33. The recurrent state only sees past history.</a:t>
            </a:r>
          </a:p>
          <a:p>
            <a:pPr>
              <a:spcBef>
                <a:spcPts val="300"/>
              </a:spcBef>
            </a:pPr>
            <a:r>
              <a:rPr b="1" sz="950">
                <a:solidFill>
                  <a:srgbClr val="F4F3EB"/>
                </a:solidFill>
              </a:rPr>
              <a:t>✓ Piece Boundary Isolation: </a:t>
            </a:r>
            <a:r>
              <a:rPr sz="900">
                <a:solidFill>
                  <a:srgbClr val="94A3B8"/>
                </a:solidFill>
              </a:rPr>
              <a:t> Sequences are strictly constructed within individual performances; windows never span across different MIDI files.</a:t>
            </a:r>
          </a:p>
          <a:p>
            <a:pPr>
              <a:spcBef>
                <a:spcPts val="300"/>
              </a:spcBef>
            </a:pPr>
            <a:r>
              <a:rPr b="1" sz="950">
                <a:solidFill>
                  <a:srgbClr val="F4F3EB"/>
                </a:solidFill>
              </a:rPr>
              <a:t>✓ Unit Tests Verified: </a:t>
            </a:r>
            <a:r>
              <a:rPr sz="900">
                <a:solidFill>
                  <a:srgbClr val="94A3B8"/>
                </a:solidFill>
              </a:rPr>
              <a:t> test_sequence_generation_and_dataset and test_proportional_event_sequence_generation both pass.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CHAPTER 07 • RECURRENT ARCHITECTURES</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Sequence Modeling: Why LSTM Over Vanilla RNN?</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10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sp>
        <p:nvSpPr>
          <p:cNvPr id="8" name="Rounded Rectangle 7"/>
          <p:cNvSpPr/>
          <p:nvPr/>
        </p:nvSpPr>
        <p:spPr>
          <a:xfrm>
            <a:off x="731520" y="1554480"/>
            <a:ext cx="3413455" cy="466344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691640"/>
            <a:ext cx="3139135" cy="4297680"/>
          </a:xfrm>
          <a:prstGeom prst="rect">
            <a:avLst/>
          </a:prstGeom>
          <a:noFill/>
        </p:spPr>
        <p:txBody>
          <a:bodyPr wrap="square" tIns="0" bIns="0" lIns="0" rIns="0">
            <a:spAutoFit/>
          </a:bodyPr>
          <a:lstStyle/>
          <a:p>
            <a:pPr>
              <a:defRPr sz="1200" b="1">
                <a:solidFill>
                  <a:srgbClr val="94A3B8"/>
                </a:solidFill>
              </a:defRPr>
            </a:pPr>
            <a:r>
              <a:t>1. Standard Feedforward (MLP)</a:t>
            </a:r>
          </a:p>
          <a:p>
            <a:pPr>
              <a:spcBef>
                <a:spcPts val="200"/>
              </a:spcBef>
              <a:defRPr sz="950">
                <a:solidFill>
                  <a:srgbClr val="94A3B8"/>
                </a:solidFill>
              </a:defRPr>
            </a:pPr>
            <a:r>
              <a:t>No Recurrent State</a:t>
            </a:r>
          </a:p>
          <a:p>
            <a:pPr>
              <a:spcBef>
                <a:spcPts val="800"/>
              </a:spcBef>
              <a:defRPr sz="950">
                <a:solidFill>
                  <a:srgbClr val="F4F3EB"/>
                </a:solidFill>
              </a:defRPr>
            </a:pPr>
            <a:r>
              <a:t>• Structure: y = f(W x + b)</a:t>
            </a:r>
            <a:br/>
            <a:r>
              <a:t>• Flaw: Assumes all inputs are statistically independent.</a:t>
            </a:r>
            <a:br/>
            <a:r>
              <a:t>• Musical Failure: Cannot remember musical motifs, key signatures, or rhythmic cadence across time.</a:t>
            </a:r>
            <a:br/>
            <a:r>
              <a:t>• Verdict: Inapplicable for temporal music modeling.</a:t>
            </a:r>
          </a:p>
        </p:txBody>
      </p:sp>
      <p:sp>
        <p:nvSpPr>
          <p:cNvPr id="10" name="Rounded Rectangle 9"/>
          <p:cNvSpPr/>
          <p:nvPr/>
        </p:nvSpPr>
        <p:spPr>
          <a:xfrm>
            <a:off x="4389120" y="1554480"/>
            <a:ext cx="3413455" cy="466344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691640"/>
            <a:ext cx="3139135" cy="4297680"/>
          </a:xfrm>
          <a:prstGeom prst="rect">
            <a:avLst/>
          </a:prstGeom>
          <a:noFill/>
        </p:spPr>
        <p:txBody>
          <a:bodyPr wrap="square" tIns="0" bIns="0" lIns="0" rIns="0">
            <a:spAutoFit/>
          </a:bodyPr>
          <a:lstStyle/>
          <a:p>
            <a:pPr>
              <a:defRPr sz="1200" b="1">
                <a:solidFill>
                  <a:srgbClr val="FF6B6B"/>
                </a:solidFill>
              </a:defRPr>
            </a:pPr>
            <a:r>
              <a:t>2. Vanilla Recurrent Network (RNN)</a:t>
            </a:r>
          </a:p>
          <a:p>
            <a:pPr>
              <a:spcBef>
                <a:spcPts val="200"/>
              </a:spcBef>
              <a:defRPr sz="950">
                <a:solidFill>
                  <a:srgbClr val="94A3B8"/>
                </a:solidFill>
              </a:defRPr>
            </a:pPr>
            <a:r>
              <a:t>Simple Hidden Recurrence</a:t>
            </a:r>
          </a:p>
          <a:p>
            <a:pPr>
              <a:spcBef>
                <a:spcPts val="800"/>
              </a:spcBef>
              <a:defRPr sz="950">
                <a:solidFill>
                  <a:srgbClr val="F4F3EB"/>
                </a:solidFill>
              </a:defRPr>
            </a:pPr>
            <a:r>
              <a:t>• Structure: h_t = tanh(W_h h_(t-1) + W_x x_t)</a:t>
            </a:r>
            <a:br/>
            <a:r>
              <a:t>• Flaw: Vanishing &amp; exploding gradients through time.</a:t>
            </a:r>
            <a:br/>
            <a:r>
              <a:t>• Mathematical Breakdown: Repeated matrix multiplication causes gradient norm to vanish as γ^T (γ &lt; 1).</a:t>
            </a:r>
            <a:br/>
            <a:r>
              <a:t>• Musical Failure: Forgets notes played &gt; 5 steps ago.</a:t>
            </a:r>
          </a:p>
        </p:txBody>
      </p:sp>
      <p:sp>
        <p:nvSpPr>
          <p:cNvPr id="12" name="Rounded Rectangle 11"/>
          <p:cNvSpPr/>
          <p:nvPr/>
        </p:nvSpPr>
        <p:spPr>
          <a:xfrm>
            <a:off x="8046720" y="1554480"/>
            <a:ext cx="3413455" cy="4663440"/>
          </a:xfrm>
          <a:prstGeom prst="roundRect">
            <a:avLst/>
          </a:prstGeom>
          <a:solidFill>
            <a:srgbClr val="151D36"/>
          </a:solidFill>
          <a:ln w="15240">
            <a:solidFill>
              <a:srgbClr val="26D9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79" y="1691640"/>
            <a:ext cx="3139135" cy="4297680"/>
          </a:xfrm>
          <a:prstGeom prst="rect">
            <a:avLst/>
          </a:prstGeom>
          <a:noFill/>
        </p:spPr>
        <p:txBody>
          <a:bodyPr wrap="square" tIns="0" bIns="0" lIns="0" rIns="0">
            <a:spAutoFit/>
          </a:bodyPr>
          <a:lstStyle/>
          <a:p>
            <a:pPr>
              <a:defRPr sz="1200" b="1">
                <a:solidFill>
                  <a:srgbClr val="26D9F1"/>
                </a:solidFill>
              </a:defRPr>
            </a:pPr>
            <a:r>
              <a:t>3. Long Short-Term Memory (LSTM)</a:t>
            </a:r>
          </a:p>
          <a:p>
            <a:pPr>
              <a:spcBef>
                <a:spcPts val="200"/>
              </a:spcBef>
              <a:defRPr sz="950">
                <a:solidFill>
                  <a:srgbClr val="94A3B8"/>
                </a:solidFill>
              </a:defRPr>
            </a:pPr>
            <a:r>
              <a:t>Gated Constant Error Carousel</a:t>
            </a:r>
          </a:p>
          <a:p>
            <a:pPr>
              <a:spcBef>
                <a:spcPts val="800"/>
              </a:spcBef>
              <a:defRPr sz="950">
                <a:solidFill>
                  <a:srgbClr val="F4F3EB"/>
                </a:solidFill>
              </a:defRPr>
            </a:pPr>
            <a:r>
              <a:t>• Structure: Dedicated Cell State C_t + 3 Gates (f, i, o)</a:t>
            </a:r>
            <a:br/>
            <a:r>
              <a:t>• Solution: Additive gradient highway (C_t = f_t C_(t-1) + i_t C~_t) allows gradients to flow across 32+ time steps.</a:t>
            </a:r>
            <a:br/>
            <a:r>
              <a:t>• Musical Success: Maintains long-term tonality while capturing local ornaments.</a:t>
            </a:r>
            <a:br/>
            <a:r>
              <a:t>• Verdict: Selected core architecture for MelodyLoop.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CHAPTER 07 • MATHEMATICAL MECHANICS</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Inside the LSTM Cell: Gated Memory Dynamics</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11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pic>
        <p:nvPicPr>
          <p:cNvPr id="8" name="Picture 7" descr="fig_lstm_cell.png"/>
          <p:cNvPicPr>
            <a:picLocks noChangeAspect="1"/>
          </p:cNvPicPr>
          <p:nvPr/>
        </p:nvPicPr>
        <p:blipFill>
          <a:blip r:embed="rId2"/>
          <a:stretch>
            <a:fillRect/>
          </a:stretch>
        </p:blipFill>
        <p:spPr>
          <a:xfrm>
            <a:off x="731520" y="1508760"/>
            <a:ext cx="10728655" cy="3383280"/>
          </a:xfrm>
          <a:prstGeom prst="rect">
            <a:avLst/>
          </a:prstGeom>
        </p:spPr>
      </p:pic>
      <p:sp>
        <p:nvSpPr>
          <p:cNvPr id="9" name="Rounded Rectangle 8"/>
          <p:cNvSpPr/>
          <p:nvPr/>
        </p:nvSpPr>
        <p:spPr>
          <a:xfrm>
            <a:off x="731520" y="5029200"/>
            <a:ext cx="2542032" cy="132588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5074920"/>
            <a:ext cx="2359152" cy="1234440"/>
          </a:xfrm>
          <a:prstGeom prst="rect">
            <a:avLst/>
          </a:prstGeom>
          <a:noFill/>
        </p:spPr>
        <p:txBody>
          <a:bodyPr wrap="square" tIns="0" bIns="0" lIns="0" rIns="0">
            <a:spAutoFit/>
          </a:bodyPr>
          <a:lstStyle/>
          <a:p>
            <a:pPr>
              <a:defRPr sz="1000" b="1">
                <a:solidFill>
                  <a:srgbClr val="FF6B6B"/>
                </a:solidFill>
              </a:defRPr>
            </a:pPr>
            <a:r>
              <a:t>Forget Gate (f_t)</a:t>
            </a:r>
          </a:p>
          <a:p>
            <a:pPr>
              <a:spcBef>
                <a:spcPts val="200"/>
              </a:spcBef>
              <a:defRPr sz="850">
                <a:solidFill>
                  <a:srgbClr val="F4F3EB"/>
                </a:solidFill>
              </a:defRPr>
            </a:pPr>
            <a:r>
              <a:t>f_t = σ(W_f [h_(t-1), x_t] + b_f)</a:t>
            </a:r>
            <a:br/>
            <a:r>
              <a:t>Outputs values in [0, 1]. Decides what fraction of prior cell memory C_(t-1) to discard (e.g. key modulation).</a:t>
            </a:r>
          </a:p>
        </p:txBody>
      </p:sp>
      <p:sp>
        <p:nvSpPr>
          <p:cNvPr id="11" name="Rounded Rectangle 10"/>
          <p:cNvSpPr/>
          <p:nvPr/>
        </p:nvSpPr>
        <p:spPr>
          <a:xfrm>
            <a:off x="3474720" y="5029200"/>
            <a:ext cx="2542032" cy="132588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6160" y="5074920"/>
            <a:ext cx="2359152" cy="1234440"/>
          </a:xfrm>
          <a:prstGeom prst="rect">
            <a:avLst/>
          </a:prstGeom>
          <a:noFill/>
        </p:spPr>
        <p:txBody>
          <a:bodyPr wrap="square" tIns="0" bIns="0" lIns="0" rIns="0">
            <a:spAutoFit/>
          </a:bodyPr>
          <a:lstStyle/>
          <a:p>
            <a:pPr>
              <a:defRPr sz="1000" b="1">
                <a:solidFill>
                  <a:srgbClr val="26D9F1"/>
                </a:solidFill>
              </a:defRPr>
            </a:pPr>
            <a:r>
              <a:t>Input Gate (i_t)</a:t>
            </a:r>
          </a:p>
          <a:p>
            <a:pPr>
              <a:spcBef>
                <a:spcPts val="200"/>
              </a:spcBef>
              <a:defRPr sz="850">
                <a:solidFill>
                  <a:srgbClr val="F4F3EB"/>
                </a:solidFill>
              </a:defRPr>
            </a:pPr>
            <a:r>
              <a:t>i_t = σ(W_i [h_(t-1), x_t] + b_i)</a:t>
            </a:r>
            <a:br/>
            <a:r>
              <a:t>Outputs values in [0, 1]. Decides which incoming musical features from candidate C~_t are worth adding to memory.</a:t>
            </a:r>
          </a:p>
        </p:txBody>
      </p:sp>
      <p:sp>
        <p:nvSpPr>
          <p:cNvPr id="13" name="Rounded Rectangle 12"/>
          <p:cNvSpPr/>
          <p:nvPr/>
        </p:nvSpPr>
        <p:spPr>
          <a:xfrm>
            <a:off x="6217920" y="5029200"/>
            <a:ext cx="2542032" cy="132588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5074920"/>
            <a:ext cx="2359152" cy="1234440"/>
          </a:xfrm>
          <a:prstGeom prst="rect">
            <a:avLst/>
          </a:prstGeom>
          <a:noFill/>
        </p:spPr>
        <p:txBody>
          <a:bodyPr wrap="square" tIns="0" bIns="0" lIns="0" rIns="0">
            <a:spAutoFit/>
          </a:bodyPr>
          <a:lstStyle/>
          <a:p>
            <a:pPr>
              <a:defRPr sz="1000" b="1">
                <a:solidFill>
                  <a:srgbClr val="22C55E"/>
                </a:solidFill>
              </a:defRPr>
            </a:pPr>
            <a:r>
              <a:t>Candidate State (C~_t)</a:t>
            </a:r>
          </a:p>
          <a:p>
            <a:pPr>
              <a:spcBef>
                <a:spcPts val="200"/>
              </a:spcBef>
              <a:defRPr sz="850">
                <a:solidFill>
                  <a:srgbClr val="F4F3EB"/>
                </a:solidFill>
              </a:defRPr>
            </a:pPr>
            <a:r>
              <a:t>C~_t = tanh(W_c [h_(t-1), x_t] + b_c)</a:t>
            </a:r>
            <a:br/>
            <a:r>
              <a:t>Generates candidate new memory vector in [-1, 1], scaled by input gate i_t before addition into cell state.</a:t>
            </a:r>
          </a:p>
        </p:txBody>
      </p:sp>
      <p:sp>
        <p:nvSpPr>
          <p:cNvPr id="15" name="Rounded Rectangle 14"/>
          <p:cNvSpPr/>
          <p:nvPr/>
        </p:nvSpPr>
        <p:spPr>
          <a:xfrm>
            <a:off x="8961120" y="5029200"/>
            <a:ext cx="2542032" cy="132588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0" y="5074920"/>
            <a:ext cx="2359152" cy="1234440"/>
          </a:xfrm>
          <a:prstGeom prst="rect">
            <a:avLst/>
          </a:prstGeom>
          <a:noFill/>
        </p:spPr>
        <p:txBody>
          <a:bodyPr wrap="square" tIns="0" bIns="0" lIns="0" rIns="0">
            <a:spAutoFit/>
          </a:bodyPr>
          <a:lstStyle/>
          <a:p>
            <a:pPr>
              <a:defRPr sz="1000" b="1">
                <a:solidFill>
                  <a:srgbClr val="FFC857"/>
                </a:solidFill>
              </a:defRPr>
            </a:pPr>
            <a:r>
              <a:t>Output Gate (o_t)</a:t>
            </a:r>
          </a:p>
          <a:p>
            <a:pPr>
              <a:spcBef>
                <a:spcPts val="200"/>
              </a:spcBef>
              <a:defRPr sz="850">
                <a:solidFill>
                  <a:srgbClr val="F4F3EB"/>
                </a:solidFill>
              </a:defRPr>
            </a:pPr>
            <a:r>
              <a:t>o_t = σ(W_o [h_(t-1), x_t] + b_o)</a:t>
            </a:r>
            <a:br/>
            <a:r>
              <a:t>h_t = o_t ⊙ tanh(C_t)</a:t>
            </a:r>
            <a:br/>
            <a:r>
              <a:t>Filters cell state into the exposed hidden vector h_t passed to prediction heads.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CHAPTER 08 • PYTORCH NETWORK IMPLEMENTATION</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MelodyLoop Neural Architecture &amp; Tensor Flow</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12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pic>
        <p:nvPicPr>
          <p:cNvPr id="8" name="Picture 7" descr="fig_model_architecture.png"/>
          <p:cNvPicPr>
            <a:picLocks noChangeAspect="1"/>
          </p:cNvPicPr>
          <p:nvPr/>
        </p:nvPicPr>
        <p:blipFill>
          <a:blip r:embed="rId2"/>
          <a:stretch>
            <a:fillRect/>
          </a:stretch>
        </p:blipFill>
        <p:spPr>
          <a:xfrm>
            <a:off x="731520" y="1508760"/>
            <a:ext cx="10728655" cy="3291840"/>
          </a:xfrm>
          <a:prstGeom prst="rect">
            <a:avLst/>
          </a:prstGeom>
        </p:spPr>
      </p:pic>
      <p:sp>
        <p:nvSpPr>
          <p:cNvPr id="9" name="Rounded Rectangle 8"/>
          <p:cNvSpPr/>
          <p:nvPr/>
        </p:nvSpPr>
        <p:spPr>
          <a:xfrm>
            <a:off x="731520" y="4892040"/>
            <a:ext cx="34134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937760"/>
            <a:ext cx="3139135" cy="1325880"/>
          </a:xfrm>
          <a:prstGeom prst="rect">
            <a:avLst/>
          </a:prstGeom>
          <a:noFill/>
        </p:spPr>
        <p:txBody>
          <a:bodyPr wrap="square" tIns="0" bIns="0" lIns="0" rIns="0">
            <a:spAutoFit/>
          </a:bodyPr>
          <a:lstStyle/>
          <a:p>
            <a:pPr>
              <a:defRPr sz="1050" b="1">
                <a:solidFill>
                  <a:srgbClr val="26D9F1"/>
                </a:solidFill>
              </a:defRPr>
            </a:pPr>
            <a:r>
              <a:t>Parallel Embedding Layer</a:t>
            </a:r>
          </a:p>
          <a:p>
            <a:pPr>
              <a:spcBef>
                <a:spcPts val="300"/>
              </a:spcBef>
              <a:defRPr sz="900">
                <a:solidFill>
                  <a:srgbClr val="F4F3EB"/>
                </a:solidFill>
              </a:defRPr>
            </a:pPr>
            <a:r>
              <a:t>• nn.Embedding(128, 64) -&gt; 8,192 params</a:t>
            </a:r>
            <a:br/>
            <a:r>
              <a:t>• nn.Embedding(32, 32) -&gt; 1,024 params</a:t>
            </a:r>
            <a:br/>
            <a:r>
              <a:t>• nn.Embedding(32, 32) -&gt; 1,024 params</a:t>
            </a:r>
            <a:br/>
            <a:r>
              <a:t>Concatenated into 128-d input vector with Dropout(0.1).</a:t>
            </a:r>
          </a:p>
        </p:txBody>
      </p:sp>
      <p:sp>
        <p:nvSpPr>
          <p:cNvPr id="11" name="Rounded Rectangle 10"/>
          <p:cNvSpPr/>
          <p:nvPr/>
        </p:nvSpPr>
        <p:spPr>
          <a:xfrm>
            <a:off x="4389120" y="4892040"/>
            <a:ext cx="34134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4937760"/>
            <a:ext cx="3139135" cy="1325880"/>
          </a:xfrm>
          <a:prstGeom prst="rect">
            <a:avLst/>
          </a:prstGeom>
          <a:noFill/>
        </p:spPr>
        <p:txBody>
          <a:bodyPr wrap="square" tIns="0" bIns="0" lIns="0" rIns="0">
            <a:spAutoFit/>
          </a:bodyPr>
          <a:lstStyle/>
          <a:p>
            <a:pPr>
              <a:defRPr sz="1050" b="1">
                <a:solidFill>
                  <a:srgbClr val="2855D9"/>
                </a:solidFill>
              </a:defRPr>
            </a:pPr>
            <a:r>
              <a:t>LSTM Core Layer</a:t>
            </a:r>
          </a:p>
          <a:p>
            <a:pPr>
              <a:spcBef>
                <a:spcPts val="300"/>
              </a:spcBef>
              <a:defRPr sz="900">
                <a:solidFill>
                  <a:srgbClr val="F4F3EB"/>
                </a:solidFill>
              </a:defRPr>
            </a:pPr>
            <a:r>
              <a:t>• nn.LSTM(input_size=128, hidden_size=128, num_layers=1, batch_first=True)</a:t>
            </a:r>
            <a:br/>
            <a:r>
              <a:t>Weight matrices: 4 × (128×128 + 128×128 + 2×128) = 132,096 parameters.</a:t>
            </a:r>
          </a:p>
        </p:txBody>
      </p:sp>
      <p:sp>
        <p:nvSpPr>
          <p:cNvPr id="13" name="Rounded Rectangle 12"/>
          <p:cNvSpPr/>
          <p:nvPr/>
        </p:nvSpPr>
        <p:spPr>
          <a:xfrm>
            <a:off x="8046720" y="4892040"/>
            <a:ext cx="34134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79" y="4937760"/>
            <a:ext cx="3139135" cy="1325880"/>
          </a:xfrm>
          <a:prstGeom prst="rect">
            <a:avLst/>
          </a:prstGeom>
          <a:noFill/>
        </p:spPr>
        <p:txBody>
          <a:bodyPr wrap="square" tIns="0" bIns="0" lIns="0" rIns="0">
            <a:spAutoFit/>
          </a:bodyPr>
          <a:lstStyle/>
          <a:p>
            <a:pPr>
              <a:defRPr sz="1050" b="1">
                <a:solidFill>
                  <a:srgbClr val="FFC857"/>
                </a:solidFill>
              </a:defRPr>
            </a:pPr>
            <a:r>
              <a:t>Multi-Task Prediction Heads</a:t>
            </a:r>
          </a:p>
          <a:p>
            <a:pPr>
              <a:spcBef>
                <a:spcPts val="300"/>
              </a:spcBef>
              <a:defRPr sz="900">
                <a:solidFill>
                  <a:srgbClr val="F4F3EB"/>
                </a:solidFill>
              </a:defRPr>
            </a:pPr>
            <a:r>
              <a:t>• Pitch Head: Linear(128, 128) -&gt; 16,512 params</a:t>
            </a:r>
            <a:br/>
            <a:r>
              <a:t>• Duration Head: Linear(128, 32) -&gt; 4,128 params</a:t>
            </a:r>
            <a:br/>
            <a:r>
              <a:t>• Step Head: Linear(128, 32) -&gt; 4,128 params</a:t>
            </a:r>
            <a:br/>
            <a:r>
              <a:t>Total Trainable Parameters: 167,104.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CHAPTER 09 • TRAINING DYNAMICS</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Multi-Task Optimization &amp; Training Dynamics</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13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sp>
        <p:nvSpPr>
          <p:cNvPr id="8" name="Rounded Rectangle 7"/>
          <p:cNvSpPr/>
          <p:nvPr/>
        </p:nvSpPr>
        <p:spPr>
          <a:xfrm>
            <a:off x="731520" y="1554480"/>
            <a:ext cx="5212080" cy="466344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91640"/>
            <a:ext cx="4846320" cy="4297680"/>
          </a:xfrm>
          <a:prstGeom prst="rect">
            <a:avLst/>
          </a:prstGeom>
          <a:noFill/>
        </p:spPr>
        <p:txBody>
          <a:bodyPr wrap="square">
            <a:spAutoFit/>
          </a:bodyPr>
          <a:lstStyle/>
          <a:p>
            <a:pPr>
              <a:defRPr sz="1200" b="1">
                <a:solidFill>
                  <a:srgbClr val="26D9F1"/>
                </a:solidFill>
              </a:defRPr>
            </a:pPr>
            <a:r>
              <a:t>THE RECURRENT TRAINING CYCLE (train.py)</a:t>
            </a:r>
          </a:p>
          <a:p>
            <a:pPr>
              <a:spcBef>
                <a:spcPts val="500"/>
              </a:spcBef>
            </a:pPr>
            <a:r>
              <a:rPr b="1" sz="950">
                <a:solidFill>
                  <a:srgbClr val="F4F3EB"/>
                </a:solidFill>
              </a:rPr>
              <a:t>1. Batch Ingestion: </a:t>
            </a:r>
            <a:r>
              <a:rPr sz="900">
                <a:solidFill>
                  <a:srgbClr val="94A3B8"/>
                </a:solidFill>
              </a:rPr>
              <a:t> Mini-batch of 64 sequences (shape: [64, 32, 3]) transferred to GPU with non_blocking=True and pinned memory.</a:t>
            </a:r>
          </a:p>
          <a:p>
            <a:pPr>
              <a:spcBef>
                <a:spcPts val="500"/>
              </a:spcBef>
            </a:pPr>
            <a:r>
              <a:rPr b="1" sz="950">
                <a:solidFill>
                  <a:srgbClr val="F4F3EB"/>
                </a:solidFill>
              </a:rPr>
              <a:t>2. Forward Propagation: </a:t>
            </a:r>
            <a:r>
              <a:rPr sz="900">
                <a:solidFill>
                  <a:srgbClr val="94A3B8"/>
                </a:solidFill>
              </a:rPr>
              <a:t> Inputs pass through embeddings, LSTM, and heads to produce unnormalized logits: L_p [64, 128], L_d [64, 32], L_s [64, 32].</a:t>
            </a:r>
          </a:p>
          <a:p>
            <a:pPr>
              <a:spcBef>
                <a:spcPts val="500"/>
              </a:spcBef>
            </a:pPr>
            <a:r>
              <a:rPr b="1" sz="950">
                <a:solidFill>
                  <a:srgbClr val="F4F3EB"/>
                </a:solidFill>
              </a:rPr>
              <a:t>3. Multi-Task Loss Calculation: </a:t>
            </a:r>
            <a:r>
              <a:rPr sz="900">
                <a:solidFill>
                  <a:srgbClr val="94A3B8"/>
                </a:solidFill>
              </a:rPr>
              <a:t> Three separate cross-entropy losses are computed against target indices and summed equally: L_total = L_p + L_d + L_s.</a:t>
            </a:r>
          </a:p>
          <a:p>
            <a:pPr>
              <a:spcBef>
                <a:spcPts val="500"/>
              </a:spcBef>
            </a:pPr>
            <a:r>
              <a:rPr b="1" sz="950">
                <a:solidFill>
                  <a:srgbClr val="F4F3EB"/>
                </a:solidFill>
              </a:rPr>
              <a:t>4. Backpropagation Through Time (BPTT): </a:t>
            </a:r>
            <a:r>
              <a:rPr sz="900">
                <a:solidFill>
                  <a:srgbClr val="94A3B8"/>
                </a:solidFill>
              </a:rPr>
              <a:t> loss.backward() unrolls gradients backward across all 32 time steps.</a:t>
            </a:r>
          </a:p>
          <a:p>
            <a:pPr>
              <a:spcBef>
                <a:spcPts val="500"/>
              </a:spcBef>
            </a:pPr>
            <a:r>
              <a:rPr b="1" sz="950">
                <a:solidFill>
                  <a:srgbClr val="F4F3EB"/>
                </a:solidFill>
              </a:rPr>
              <a:t>5. Gradient Clipping: </a:t>
            </a:r>
            <a:r>
              <a:rPr sz="900">
                <a:solidFill>
                  <a:srgbClr val="94A3B8"/>
                </a:solidFill>
              </a:rPr>
              <a:t> torch.nn.utils.clip_grad_norm_(max_norm=1.0) prevents exploding gradients during sudden transitions.</a:t>
            </a:r>
          </a:p>
          <a:p>
            <a:pPr>
              <a:spcBef>
                <a:spcPts val="500"/>
              </a:spcBef>
            </a:pPr>
            <a:r>
              <a:rPr b="1" sz="950">
                <a:solidFill>
                  <a:srgbClr val="F4F3EB"/>
                </a:solidFill>
              </a:rPr>
              <a:t>6. Parameter Update: </a:t>
            </a:r>
            <a:r>
              <a:rPr sz="900">
                <a:solidFill>
                  <a:srgbClr val="94A3B8"/>
                </a:solidFill>
              </a:rPr>
              <a:t> Adam optimizer (lr=0.001, weight_decay=1e-5) updates all 167k parameters using running first &amp; second moments.</a:t>
            </a:r>
          </a:p>
        </p:txBody>
      </p:sp>
      <p:sp>
        <p:nvSpPr>
          <p:cNvPr id="10" name="Rounded Rectangle 9"/>
          <p:cNvSpPr/>
          <p:nvPr/>
        </p:nvSpPr>
        <p:spPr>
          <a:xfrm>
            <a:off x="6217920" y="1554480"/>
            <a:ext cx="5212080" cy="466344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91640"/>
            <a:ext cx="4846320" cy="4297680"/>
          </a:xfrm>
          <a:prstGeom prst="rect">
            <a:avLst/>
          </a:prstGeom>
          <a:noFill/>
        </p:spPr>
        <p:txBody>
          <a:bodyPr wrap="square">
            <a:spAutoFit/>
          </a:bodyPr>
          <a:lstStyle/>
          <a:p>
            <a:pPr>
              <a:defRPr sz="1200" b="1">
                <a:solidFill>
                  <a:srgbClr val="FFC857"/>
                </a:solidFill>
              </a:defRPr>
            </a:pPr>
            <a:r>
              <a:t>HYPERPARAMETER SPECIFICATION &amp; HARDWARE</a:t>
            </a:r>
          </a:p>
          <a:p>
            <a:pPr>
              <a:spcBef>
                <a:spcPts val="500"/>
              </a:spcBef>
            </a:pPr>
            <a:r>
              <a:rPr b="1" sz="950">
                <a:solidFill>
                  <a:srgbClr val="F4F3EB"/>
                </a:solidFill>
              </a:rPr>
              <a:t>• Compute Device: </a:t>
            </a:r>
            <a:r>
              <a:rPr sz="900">
                <a:solidFill>
                  <a:srgbClr val="26D9F1"/>
                </a:solidFill>
              </a:rPr>
              <a:t> NVIDIA GeForce RTX 3050 Laptop GPU (4 GB VRAM)</a:t>
            </a:r>
          </a:p>
          <a:p>
            <a:pPr>
              <a:spcBef>
                <a:spcPts val="500"/>
              </a:spcBef>
            </a:pPr>
            <a:r>
              <a:rPr b="1" sz="950">
                <a:solidFill>
                  <a:srgbClr val="F4F3EB"/>
                </a:solidFill>
              </a:rPr>
              <a:t>• PyTorch Environment: </a:t>
            </a:r>
            <a:r>
              <a:rPr sz="900">
                <a:solidFill>
                  <a:srgbClr val="26D9F1"/>
                </a:solidFill>
              </a:rPr>
              <a:t> PyTorch 2.13.0+cu126 (CUDA 12.6 Backend)</a:t>
            </a:r>
          </a:p>
          <a:p>
            <a:pPr>
              <a:spcBef>
                <a:spcPts val="500"/>
              </a:spcBef>
            </a:pPr>
            <a:r>
              <a:rPr b="1" sz="950">
                <a:solidFill>
                  <a:srgbClr val="F4F3EB"/>
                </a:solidFill>
              </a:rPr>
              <a:t>• Batch Size: </a:t>
            </a:r>
            <a:r>
              <a:rPr sz="900">
                <a:solidFill>
                  <a:srgbClr val="26D9F1"/>
                </a:solidFill>
              </a:rPr>
              <a:t> 64 sequences per iteration (1,562 batches / epoch)</a:t>
            </a:r>
          </a:p>
          <a:p>
            <a:pPr>
              <a:spcBef>
                <a:spcPts val="500"/>
              </a:spcBef>
            </a:pPr>
            <a:r>
              <a:rPr b="1" sz="950">
                <a:solidFill>
                  <a:srgbClr val="F4F3EB"/>
                </a:solidFill>
              </a:rPr>
              <a:t>• Sequence Length: </a:t>
            </a:r>
            <a:r>
              <a:rPr sz="900">
                <a:solidFill>
                  <a:srgbClr val="26D9F1"/>
                </a:solidFill>
              </a:rPr>
              <a:t> 32 note events (sliding window, stride = 4)</a:t>
            </a:r>
          </a:p>
          <a:p>
            <a:pPr>
              <a:spcBef>
                <a:spcPts val="500"/>
              </a:spcBef>
            </a:pPr>
            <a:r>
              <a:rPr b="1" sz="950">
                <a:solidFill>
                  <a:srgbClr val="F4F3EB"/>
                </a:solidFill>
              </a:rPr>
              <a:t>• Optimizer: </a:t>
            </a:r>
            <a:r>
              <a:rPr sz="900">
                <a:solidFill>
                  <a:srgbClr val="26D9F1"/>
                </a:solidFill>
              </a:rPr>
              <a:t> Adam (Learning Rate = 1e-3, Weight Decay = 1e-5)</a:t>
            </a:r>
          </a:p>
          <a:p>
            <a:pPr>
              <a:spcBef>
                <a:spcPts val="500"/>
              </a:spcBef>
            </a:pPr>
            <a:r>
              <a:rPr b="1" sz="950">
                <a:solidFill>
                  <a:srgbClr val="F4F3EB"/>
                </a:solidFill>
              </a:rPr>
              <a:t>• Loss Function: </a:t>
            </a:r>
            <a:r>
              <a:rPr sz="900">
                <a:solidFill>
                  <a:srgbClr val="26D9F1"/>
                </a:solidFill>
              </a:rPr>
              <a:t> Multi-Task Cross-Entropy (Pitch, Duration, Step)</a:t>
            </a:r>
          </a:p>
          <a:p>
            <a:pPr>
              <a:spcBef>
                <a:spcPts val="500"/>
              </a:spcBef>
            </a:pPr>
            <a:r>
              <a:rPr b="1" sz="950">
                <a:solidFill>
                  <a:srgbClr val="F4F3EB"/>
                </a:solidFill>
              </a:rPr>
              <a:t>• Regularization: </a:t>
            </a:r>
            <a:r>
              <a:rPr sz="900">
                <a:solidFill>
                  <a:srgbClr val="26D9F1"/>
                </a:solidFill>
              </a:rPr>
              <a:t> Dropout(p=0.1) after embeddings + Gradient Clipping (1.0)</a:t>
            </a:r>
          </a:p>
          <a:p>
            <a:pPr>
              <a:spcBef>
                <a:spcPts val="500"/>
              </a:spcBef>
            </a:pPr>
            <a:r>
              <a:rPr b="1" sz="950">
                <a:solidFill>
                  <a:srgbClr val="F4F3EB"/>
                </a:solidFill>
              </a:rPr>
              <a:t>• Throughput: </a:t>
            </a:r>
            <a:r>
              <a:rPr sz="900">
                <a:solidFill>
                  <a:srgbClr val="26D9F1"/>
                </a:solidFill>
              </a:rPr>
              <a:t> ~91 batches/sec (17.2 seconds per epoch)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CHAPTER 09 • EMPIRICAL RESULTS</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Empirical Training Curves &amp; Early Stopping Checkpoint Selection</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14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pic>
        <p:nvPicPr>
          <p:cNvPr id="8" name="Picture 7" descr="fig_training_loss.png"/>
          <p:cNvPicPr>
            <a:picLocks noChangeAspect="1"/>
          </p:cNvPicPr>
          <p:nvPr/>
        </p:nvPicPr>
        <p:blipFill>
          <a:blip r:embed="rId2"/>
          <a:stretch>
            <a:fillRect/>
          </a:stretch>
        </p:blipFill>
        <p:spPr>
          <a:xfrm>
            <a:off x="731520" y="1508760"/>
            <a:ext cx="10728655" cy="3291840"/>
          </a:xfrm>
          <a:prstGeom prst="rect">
            <a:avLst/>
          </a:prstGeom>
        </p:spPr>
      </p:pic>
      <p:sp>
        <p:nvSpPr>
          <p:cNvPr id="9" name="Rounded Rectangle 8"/>
          <p:cNvSpPr/>
          <p:nvPr/>
        </p:nvSpPr>
        <p:spPr>
          <a:xfrm>
            <a:off x="731520" y="4892040"/>
            <a:ext cx="34134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937760"/>
            <a:ext cx="3139135" cy="1325880"/>
          </a:xfrm>
          <a:prstGeom prst="rect">
            <a:avLst/>
          </a:prstGeom>
          <a:noFill/>
        </p:spPr>
        <p:txBody>
          <a:bodyPr wrap="square" tIns="0" bIns="0" lIns="0" rIns="0">
            <a:spAutoFit/>
          </a:bodyPr>
          <a:lstStyle/>
          <a:p>
            <a:pPr>
              <a:defRPr sz="1050" b="1">
                <a:solidFill>
                  <a:srgbClr val="22C55E"/>
                </a:solidFill>
              </a:defRPr>
            </a:pPr>
            <a:r>
              <a:t>Best Validation Checkpoint</a:t>
            </a:r>
          </a:p>
          <a:p>
            <a:pPr>
              <a:spcBef>
                <a:spcPts val="300"/>
              </a:spcBef>
              <a:defRPr sz="880">
                <a:solidFill>
                  <a:srgbClr val="F4F3EB"/>
                </a:solidFill>
              </a:defRPr>
            </a:pPr>
            <a:r>
              <a:t>Epoch 07 (Val Loss: 5.9151)</a:t>
            </a:r>
            <a:br/>
            <a:r>
              <a:t>Pitch: 3.320 | Dur: 1.223 | Step: 1.372</a:t>
            </a:r>
            <a:br/>
            <a:r>
              <a:t>Surpasses baseline model best val loss (6.1791) by -0.2640 points.</a:t>
            </a:r>
          </a:p>
        </p:txBody>
      </p:sp>
      <p:sp>
        <p:nvSpPr>
          <p:cNvPr id="11" name="Rounded Rectangle 10"/>
          <p:cNvSpPr/>
          <p:nvPr/>
        </p:nvSpPr>
        <p:spPr>
          <a:xfrm>
            <a:off x="4389120" y="4892040"/>
            <a:ext cx="34134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4937760"/>
            <a:ext cx="3139135" cy="1325880"/>
          </a:xfrm>
          <a:prstGeom prst="rect">
            <a:avLst/>
          </a:prstGeom>
          <a:noFill/>
        </p:spPr>
        <p:txBody>
          <a:bodyPr wrap="square" tIns="0" bIns="0" lIns="0" rIns="0">
            <a:spAutoFit/>
          </a:bodyPr>
          <a:lstStyle/>
          <a:p>
            <a:pPr>
              <a:defRPr sz="1050" b="1">
                <a:solidFill>
                  <a:srgbClr val="26D9F1"/>
                </a:solidFill>
              </a:defRPr>
            </a:pPr>
            <a:r>
              <a:t>Training Loss Trajectory</a:t>
            </a:r>
          </a:p>
          <a:p>
            <a:pPr>
              <a:spcBef>
                <a:spcPts val="300"/>
              </a:spcBef>
              <a:defRPr sz="880">
                <a:solidFill>
                  <a:srgbClr val="F4F3EB"/>
                </a:solidFill>
              </a:defRPr>
            </a:pPr>
            <a:r>
              <a:t>6.3280 (Epoch 1) → 4.9121 (Epoch 15)</a:t>
            </a:r>
            <a:br/>
            <a:r>
              <a:t>Steady monotonic reduction (-1.4159 points) proves effective backpropagation and gradient descent optimization.</a:t>
            </a:r>
          </a:p>
        </p:txBody>
      </p:sp>
      <p:sp>
        <p:nvSpPr>
          <p:cNvPr id="13" name="Rounded Rectangle 12"/>
          <p:cNvSpPr/>
          <p:nvPr/>
        </p:nvSpPr>
        <p:spPr>
          <a:xfrm>
            <a:off x="8046720" y="4892040"/>
            <a:ext cx="34134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79" y="4937760"/>
            <a:ext cx="3139135" cy="1325880"/>
          </a:xfrm>
          <a:prstGeom prst="rect">
            <a:avLst/>
          </a:prstGeom>
          <a:noFill/>
        </p:spPr>
        <p:txBody>
          <a:bodyPr wrap="square" tIns="0" bIns="0" lIns="0" rIns="0">
            <a:spAutoFit/>
          </a:bodyPr>
          <a:lstStyle/>
          <a:p>
            <a:pPr>
              <a:defRPr sz="1050" b="1">
                <a:solidFill>
                  <a:srgbClr val="FFC857"/>
                </a:solidFill>
              </a:defRPr>
            </a:pPr>
            <a:r>
              <a:t>Generalization &amp; Early Stopping</a:t>
            </a:r>
          </a:p>
          <a:p>
            <a:pPr>
              <a:spcBef>
                <a:spcPts val="300"/>
              </a:spcBef>
              <a:defRPr sz="880">
                <a:solidFill>
                  <a:srgbClr val="F4F3EB"/>
                </a:solidFill>
              </a:defRPr>
            </a:pPr>
            <a:r>
              <a:t>Patience = 8 Epochs Triggered at Ep 15</a:t>
            </a:r>
            <a:br/>
            <a:r>
              <a:t>Validation loss stabilized around ~5.92–6.03 while train loss continued falling. Best checkpoint was preserved to prevent overfitting.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CHAPTER 09 • MODEL PERSISTENCE</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Checkpoint Serialization &amp; Inference Resumption</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15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sp>
        <p:nvSpPr>
          <p:cNvPr id="8" name="Rounded Rectangle 7"/>
          <p:cNvSpPr/>
          <p:nvPr/>
        </p:nvSpPr>
        <p:spPr>
          <a:xfrm>
            <a:off x="731520" y="1554480"/>
            <a:ext cx="5212080" cy="466344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91640"/>
            <a:ext cx="4846320" cy="4297680"/>
          </a:xfrm>
          <a:prstGeom prst="rect">
            <a:avLst/>
          </a:prstGeom>
          <a:noFill/>
        </p:spPr>
        <p:txBody>
          <a:bodyPr wrap="square">
            <a:spAutoFit/>
          </a:bodyPr>
          <a:lstStyle/>
          <a:p>
            <a:pPr>
              <a:defRPr sz="1200" b="1">
                <a:solidFill>
                  <a:srgbClr val="26D9F1"/>
                </a:solidFill>
              </a:defRPr>
            </a:pPr>
            <a:r>
              <a:t>CHECKPOINT PAYLOAD ANATOMY (.pt)</a:t>
            </a:r>
          </a:p>
          <a:p>
            <a:pPr>
              <a:spcBef>
                <a:spcPts val="600"/>
              </a:spcBef>
            </a:pPr>
            <a:r>
              <a:rPr b="1" sz="950">
                <a:solidFill>
                  <a:srgbClr val="FFC857"/>
                </a:solidFill>
                <a:latin typeface="Consolas"/>
              </a:rPr>
              <a:t>• model_state_dict: </a:t>
            </a:r>
            <a:r>
              <a:rPr sz="900">
                <a:solidFill>
                  <a:srgbClr val="F4F3EB"/>
                </a:solidFill>
              </a:rPr>
              <a:t> Complete dictionary of all learned PyTorch tensor weight matrices (167,104 parameters).</a:t>
            </a:r>
          </a:p>
          <a:p>
            <a:pPr>
              <a:spcBef>
                <a:spcPts val="600"/>
              </a:spcBef>
            </a:pPr>
            <a:r>
              <a:rPr b="1" sz="950">
                <a:solidFill>
                  <a:srgbClr val="FFC857"/>
                </a:solidFill>
                <a:latin typeface="Consolas"/>
              </a:rPr>
              <a:t>• optimizer_state_dict: </a:t>
            </a:r>
            <a:r>
              <a:rPr sz="900">
                <a:solidFill>
                  <a:srgbClr val="F4F3EB"/>
                </a:solidFill>
              </a:rPr>
              <a:t> Running Adam first (m) and second (v) gradient momentum vectors for seamless training resumption.</a:t>
            </a:r>
          </a:p>
          <a:p>
            <a:pPr>
              <a:spcBef>
                <a:spcPts val="600"/>
              </a:spcBef>
            </a:pPr>
            <a:r>
              <a:rPr b="1" sz="950">
                <a:solidFill>
                  <a:srgbClr val="FFC857"/>
                </a:solidFill>
                <a:latin typeface="Consolas"/>
              </a:rPr>
              <a:t>• epoch: </a:t>
            </a:r>
            <a:r>
              <a:rPr sz="900">
                <a:solidFill>
                  <a:srgbClr val="F4F3EB"/>
                </a:solidFill>
              </a:rPr>
              <a:t> Integer recording the exact completed epoch index (e.g. Epoch 7).</a:t>
            </a:r>
          </a:p>
          <a:p>
            <a:pPr>
              <a:spcBef>
                <a:spcPts val="600"/>
              </a:spcBef>
            </a:pPr>
            <a:r>
              <a:rPr b="1" sz="950">
                <a:solidFill>
                  <a:srgbClr val="FFC857"/>
                </a:solidFill>
                <a:latin typeface="Consolas"/>
              </a:rPr>
              <a:t>• train_loss &amp; val_loss: </a:t>
            </a:r>
            <a:r>
              <a:rPr sz="900">
                <a:solidFill>
                  <a:srgbClr val="F4F3EB"/>
                </a:solidFill>
              </a:rPr>
              <a:t> Floating-point loss values at checkpoint creation (val_loss: 5.9151).</a:t>
            </a:r>
          </a:p>
          <a:p>
            <a:pPr>
              <a:spcBef>
                <a:spcPts val="600"/>
              </a:spcBef>
            </a:pPr>
            <a:r>
              <a:rPr b="1" sz="950">
                <a:solidFill>
                  <a:srgbClr val="FFC857"/>
                </a:solidFill>
                <a:latin typeface="Consolas"/>
              </a:rPr>
              <a:t>• metrics: </a:t>
            </a:r>
            <a:r>
              <a:rPr sz="900">
                <a:solidFill>
                  <a:srgbClr val="F4F3EB"/>
                </a:solidFill>
              </a:rPr>
              <a:t> Multi-task breakdown dictionary (loss_pitch, loss_dur, loss_step).</a:t>
            </a:r>
          </a:p>
          <a:p>
            <a:pPr>
              <a:spcBef>
                <a:spcPts val="600"/>
              </a:spcBef>
            </a:pPr>
            <a:r>
              <a:rPr b="1" sz="950">
                <a:solidFill>
                  <a:srgbClr val="FFC857"/>
                </a:solidFill>
                <a:latin typeface="Consolas"/>
              </a:rPr>
              <a:t>• config: </a:t>
            </a:r>
            <a:r>
              <a:rPr sz="900">
                <a:solidFill>
                  <a:srgbClr val="F4F3EB"/>
                </a:solidFill>
              </a:rPr>
              <a:t> Serialized dictionary of all hyperparameters (hidden_dim=128, seq_length=32) for zero-mismatch reloading.</a:t>
            </a:r>
          </a:p>
        </p:txBody>
      </p:sp>
      <p:sp>
        <p:nvSpPr>
          <p:cNvPr id="10" name="Rounded Rectangle 9"/>
          <p:cNvSpPr/>
          <p:nvPr/>
        </p:nvSpPr>
        <p:spPr>
          <a:xfrm>
            <a:off x="6217920" y="1554480"/>
            <a:ext cx="5212080" cy="466344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91640"/>
            <a:ext cx="4846320" cy="4297680"/>
          </a:xfrm>
          <a:prstGeom prst="rect">
            <a:avLst/>
          </a:prstGeom>
          <a:noFill/>
        </p:spPr>
        <p:txBody>
          <a:bodyPr wrap="square">
            <a:spAutoFit/>
          </a:bodyPr>
          <a:lstStyle/>
          <a:p>
            <a:pPr>
              <a:defRPr sz="1200" b="1">
                <a:solidFill>
                  <a:srgbClr val="FFC857"/>
                </a:solidFill>
              </a:defRPr>
            </a:pPr>
            <a:r>
              <a:t>VERIFIED ARTIFACT STORAGE &amp; VERSIONING</a:t>
            </a:r>
          </a:p>
          <a:p>
            <a:pPr>
              <a:spcBef>
                <a:spcPts val="600"/>
              </a:spcBef>
            </a:pPr>
            <a:r>
              <a:rPr b="1" sz="950">
                <a:solidFill>
                  <a:srgbClr val="22C55E"/>
                </a:solidFill>
                <a:latin typeface="Consolas"/>
              </a:rPr>
              <a:t>📁 best_model_expanded.pt
</a:t>
            </a:r>
            <a:r>
              <a:rPr sz="850">
                <a:solidFill>
                  <a:srgbClr val="F4F3EB"/>
                </a:solidFill>
              </a:rPr>
              <a:t>Epoch 7 Best Model — Val Loss: 5.9151 | Trained on 962 files, 100k sequences. Primary deployment checkpoint.</a:t>
            </a:r>
          </a:p>
          <a:p>
            <a:pPr>
              <a:spcBef>
                <a:spcPts val="600"/>
              </a:spcBef>
            </a:pPr>
            <a:r>
              <a:rPr b="1" sz="950">
                <a:solidFill>
                  <a:srgbClr val="2855D9"/>
                </a:solidFill>
                <a:latin typeface="Consolas"/>
              </a:rPr>
              <a:t>📁 latest_model_expanded.pt
</a:t>
            </a:r>
            <a:r>
              <a:rPr sz="850">
                <a:solidFill>
                  <a:srgbClr val="F4F3EB"/>
                </a:solidFill>
              </a:rPr>
              <a:t>Epoch 15 Latest Model — Val Loss: 6.0386 | Final epoch before early stopping. Preserved for training recovery.</a:t>
            </a:r>
          </a:p>
          <a:p>
            <a:pPr>
              <a:spcBef>
                <a:spcPts val="600"/>
              </a:spcBef>
            </a:pPr>
            <a:r>
              <a:rPr b="1" sz="950">
                <a:solidFill>
                  <a:srgbClr val="94A3B8"/>
                </a:solidFill>
                <a:latin typeface="Consolas"/>
              </a:rPr>
              <a:t>📁 best_model_v1_baseline.pt
</a:t>
            </a:r>
            <a:r>
              <a:rPr sz="850">
                <a:solidFill>
                  <a:srgbClr val="F4F3EB"/>
                </a:solidFill>
              </a:rPr>
              <a:t>Epoch 4 Baseline Model — Val Loss: 6.1791 | Original 13-performance model safely preserved for comparative benchmark.</a:t>
            </a:r>
          </a:p>
          <a:p>
            <a:pPr>
              <a:spcBef>
                <a:spcPts val="600"/>
              </a:spcBef>
            </a:pPr>
            <a:r>
              <a:rPr b="1" sz="950">
                <a:solidFill>
                  <a:srgbClr val="26D9F1"/>
                </a:solidFill>
                <a:latin typeface="Consolas"/>
              </a:rPr>
              <a:t>📁 training_expanded.log
</a:t>
            </a:r>
            <a:r>
              <a:rPr sz="850">
                <a:solidFill>
                  <a:srgbClr val="F4F3EB"/>
                </a:solidFill>
              </a:rPr>
              <a:t>Persistent Training Record — Complete timestamped log of all batches, running averages, and validation metrics.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CHAPTER 11 • GENERATION &amp; SAMPLING</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Autoregressive Music Generation &amp; Controllable Sampling</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16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pic>
        <p:nvPicPr>
          <p:cNvPr id="8" name="Picture 7" descr="fig_autoregressive_loop.png"/>
          <p:cNvPicPr>
            <a:picLocks noChangeAspect="1"/>
          </p:cNvPicPr>
          <p:nvPr/>
        </p:nvPicPr>
        <p:blipFill>
          <a:blip r:embed="rId2"/>
          <a:stretch>
            <a:fillRect/>
          </a:stretch>
        </p:blipFill>
        <p:spPr>
          <a:xfrm>
            <a:off x="731520" y="1508760"/>
            <a:ext cx="10728655" cy="3291840"/>
          </a:xfrm>
          <a:prstGeom prst="rect">
            <a:avLst/>
          </a:prstGeom>
        </p:spPr>
      </p:pic>
      <p:sp>
        <p:nvSpPr>
          <p:cNvPr id="9" name="Rounded Rectangle 8"/>
          <p:cNvSpPr/>
          <p:nvPr/>
        </p:nvSpPr>
        <p:spPr>
          <a:xfrm>
            <a:off x="731520" y="4892040"/>
            <a:ext cx="34134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937760"/>
            <a:ext cx="3139135" cy="1325880"/>
          </a:xfrm>
          <a:prstGeom prst="rect">
            <a:avLst/>
          </a:prstGeom>
          <a:noFill/>
        </p:spPr>
        <p:txBody>
          <a:bodyPr wrap="square" tIns="0" bIns="0" lIns="0" rIns="0">
            <a:spAutoFit/>
          </a:bodyPr>
          <a:lstStyle/>
          <a:p>
            <a:pPr>
              <a:defRPr sz="1050" b="1">
                <a:solidFill>
                  <a:srgbClr val="26D9F1"/>
                </a:solidFill>
              </a:defRPr>
            </a:pPr>
            <a:r>
              <a:t>Temperature Scaling (T = 0.6)</a:t>
            </a:r>
          </a:p>
          <a:p>
            <a:pPr>
              <a:spcBef>
                <a:spcPts val="300"/>
              </a:spcBef>
              <a:defRPr sz="880">
                <a:solidFill>
                  <a:srgbClr val="F4F3EB"/>
                </a:solidFill>
              </a:defRPr>
            </a:pPr>
            <a:r>
              <a:t>P(y_i) = exp(z_i / T) / Σ exp(z_j / T)</a:t>
            </a:r>
            <a:br/>
            <a:r>
              <a:t>• Low Temp (T=0.4–0.6): Sharpens distribution around high-confidence notes; prevents erratic dissonance.</a:t>
            </a:r>
            <a:br/>
            <a:r>
              <a:t>• High Temp (T=1.2): Flattens distribution; encourages exploration at the cost of coherence.</a:t>
            </a:r>
          </a:p>
        </p:txBody>
      </p:sp>
      <p:sp>
        <p:nvSpPr>
          <p:cNvPr id="11" name="Rounded Rectangle 10"/>
          <p:cNvSpPr/>
          <p:nvPr/>
        </p:nvSpPr>
        <p:spPr>
          <a:xfrm>
            <a:off x="4389120" y="4892040"/>
            <a:ext cx="34134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4937760"/>
            <a:ext cx="3139135" cy="1325880"/>
          </a:xfrm>
          <a:prstGeom prst="rect">
            <a:avLst/>
          </a:prstGeom>
          <a:noFill/>
        </p:spPr>
        <p:txBody>
          <a:bodyPr wrap="square" tIns="0" bIns="0" lIns="0" rIns="0">
            <a:spAutoFit/>
          </a:bodyPr>
          <a:lstStyle/>
          <a:p>
            <a:pPr>
              <a:defRPr sz="1050" b="1">
                <a:solidFill>
                  <a:srgbClr val="FFC857"/>
                </a:solidFill>
              </a:defRPr>
            </a:pPr>
            <a:r>
              <a:t>Top-K Candidate Truncation (k = 5)</a:t>
            </a:r>
          </a:p>
          <a:p>
            <a:pPr>
              <a:spcBef>
                <a:spcPts val="300"/>
              </a:spcBef>
              <a:defRPr sz="880">
                <a:solidFill>
                  <a:srgbClr val="F4F3EB"/>
                </a:solidFill>
              </a:defRPr>
            </a:pPr>
            <a:r>
              <a:t>Sorts predicted logits, retains only top k=5 most probable candidates, sets all others to -inf, and renormalizes with Softmax.</a:t>
            </a:r>
            <a:br/>
            <a:r>
              <a:t>Completely eliminates tail probability hallucinations and unnatural pitch jumps.</a:t>
            </a:r>
          </a:p>
        </p:txBody>
      </p:sp>
      <p:sp>
        <p:nvSpPr>
          <p:cNvPr id="13" name="Rounded Rectangle 12"/>
          <p:cNvSpPr/>
          <p:nvPr/>
        </p:nvSpPr>
        <p:spPr>
          <a:xfrm>
            <a:off x="8046720" y="4892040"/>
            <a:ext cx="34134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79" y="4937760"/>
            <a:ext cx="3139135" cy="1325880"/>
          </a:xfrm>
          <a:prstGeom prst="rect">
            <a:avLst/>
          </a:prstGeom>
          <a:noFill/>
        </p:spPr>
        <p:txBody>
          <a:bodyPr wrap="square" tIns="0" bIns="0" lIns="0" rIns="0">
            <a:spAutoFit/>
          </a:bodyPr>
          <a:lstStyle/>
          <a:p>
            <a:pPr>
              <a:defRPr sz="1050" b="1">
                <a:solidFill>
                  <a:srgbClr val="2855D9"/>
                </a:solidFill>
              </a:defRPr>
            </a:pPr>
            <a:r>
              <a:t>Dual Generation Modes</a:t>
            </a:r>
          </a:p>
          <a:p>
            <a:pPr>
              <a:spcBef>
                <a:spcPts val="300"/>
              </a:spcBef>
              <a:defRPr sz="880">
                <a:solidFill>
                  <a:srgbClr val="F4F3EB"/>
                </a:solidFill>
              </a:defRPr>
            </a:pPr>
            <a:r>
              <a:t>• Free Generation: Generates from scratch using an initial uniform middle-register seed buffer.</a:t>
            </a:r>
            <a:br/>
            <a:r>
              <a:t>• Seeded Continuation: Ingests 32 notes from real classical MIDI (e.g. Schubert, Chopin) and generates an original LSTM continuation.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CHAPTER 12 • AUDIO SYNTHESIS</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Audio Rendering: Additive Synthesis &amp; ADSR Enveloping</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17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pic>
        <p:nvPicPr>
          <p:cNvPr id="8" name="Picture 7" descr="fig_audio_synthesis.png"/>
          <p:cNvPicPr>
            <a:picLocks noChangeAspect="1"/>
          </p:cNvPicPr>
          <p:nvPr/>
        </p:nvPicPr>
        <p:blipFill>
          <a:blip r:embed="rId2"/>
          <a:stretch>
            <a:fillRect/>
          </a:stretch>
        </p:blipFill>
        <p:spPr>
          <a:xfrm>
            <a:off x="731520" y="1508760"/>
            <a:ext cx="10728655" cy="3291840"/>
          </a:xfrm>
          <a:prstGeom prst="rect">
            <a:avLst/>
          </a:prstGeom>
        </p:spPr>
      </p:pic>
      <p:sp>
        <p:nvSpPr>
          <p:cNvPr id="9" name="Rounded Rectangle 8"/>
          <p:cNvSpPr/>
          <p:nvPr/>
        </p:nvSpPr>
        <p:spPr>
          <a:xfrm>
            <a:off x="731520" y="4892040"/>
            <a:ext cx="34134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937760"/>
            <a:ext cx="3139135" cy="1325880"/>
          </a:xfrm>
          <a:prstGeom prst="rect">
            <a:avLst/>
          </a:prstGeom>
          <a:noFill/>
        </p:spPr>
        <p:txBody>
          <a:bodyPr wrap="square" tIns="0" bIns="0" lIns="0" rIns="0">
            <a:spAutoFit/>
          </a:bodyPr>
          <a:lstStyle/>
          <a:p>
            <a:pPr>
              <a:defRPr sz="1050" b="1">
                <a:solidFill>
                  <a:srgbClr val="26D9F1"/>
                </a:solidFill>
              </a:defRPr>
            </a:pPr>
            <a:r>
              <a:t>Additive Harmonic Synthesis</a:t>
            </a:r>
          </a:p>
          <a:p>
            <a:pPr>
              <a:spcBef>
                <a:spcPts val="300"/>
              </a:spcBef>
              <a:defRPr sz="880">
                <a:solidFill>
                  <a:srgbClr val="F4F3EB"/>
                </a:solidFill>
              </a:defRPr>
            </a:pPr>
            <a:r>
              <a:t>Real piano tones contain harmonic overtones. melodyloop/audio.py synthesizes notes via:</a:t>
            </a:r>
            <a:br/>
            <a:r>
              <a:t>  s(t) = 0.60 sin(2π f0 t) + 0.25 sin(4π f0 t) + 0.15 sin(6π f0 t)</a:t>
            </a:r>
            <a:br/>
            <a:r>
              <a:t>Fundamental f0 + 2nd harmonic (2f0) + 3rd harmonic (3f0).</a:t>
            </a:r>
          </a:p>
        </p:txBody>
      </p:sp>
      <p:sp>
        <p:nvSpPr>
          <p:cNvPr id="11" name="Rounded Rectangle 10"/>
          <p:cNvSpPr/>
          <p:nvPr/>
        </p:nvSpPr>
        <p:spPr>
          <a:xfrm>
            <a:off x="4389120" y="4892040"/>
            <a:ext cx="34134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4937760"/>
            <a:ext cx="3139135" cy="1325880"/>
          </a:xfrm>
          <a:prstGeom prst="rect">
            <a:avLst/>
          </a:prstGeom>
          <a:noFill/>
        </p:spPr>
        <p:txBody>
          <a:bodyPr wrap="square" tIns="0" bIns="0" lIns="0" rIns="0">
            <a:spAutoFit/>
          </a:bodyPr>
          <a:lstStyle/>
          <a:p>
            <a:pPr>
              <a:defRPr sz="1050" b="1">
                <a:solidFill>
                  <a:srgbClr val="FFC857"/>
                </a:solidFill>
              </a:defRPr>
            </a:pPr>
            <a:r>
              <a:t>ADSR Amplitude Envelope</a:t>
            </a:r>
          </a:p>
          <a:p>
            <a:pPr>
              <a:spcBef>
                <a:spcPts val="300"/>
              </a:spcBef>
              <a:defRPr sz="880">
                <a:solidFill>
                  <a:srgbClr val="F4F3EB"/>
                </a:solidFill>
              </a:defRPr>
            </a:pPr>
            <a:r>
              <a:t>To prevent harsh clicking artifacts at note onset and release, an exponential envelope is applied:</a:t>
            </a:r>
            <a:br/>
            <a:r>
              <a:t>  E(t) = exp(-3.0 t / duration)</a:t>
            </a:r>
            <a:br/>
            <a:r>
              <a:t>Includes 5ms linear attack ramp and 10ms smooth release decay.</a:t>
            </a:r>
          </a:p>
        </p:txBody>
      </p:sp>
      <p:sp>
        <p:nvSpPr>
          <p:cNvPr id="13" name="Rounded Rectangle 12"/>
          <p:cNvSpPr/>
          <p:nvPr/>
        </p:nvSpPr>
        <p:spPr>
          <a:xfrm>
            <a:off x="8046720" y="4892040"/>
            <a:ext cx="34134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79" y="4937760"/>
            <a:ext cx="3139135" cy="1325880"/>
          </a:xfrm>
          <a:prstGeom prst="rect">
            <a:avLst/>
          </a:prstGeom>
          <a:noFill/>
        </p:spPr>
        <p:txBody>
          <a:bodyPr wrap="square" tIns="0" bIns="0" lIns="0" rIns="0">
            <a:spAutoFit/>
          </a:bodyPr>
          <a:lstStyle/>
          <a:p>
            <a:pPr>
              <a:defRPr sz="1050" b="1">
                <a:solidFill>
                  <a:srgbClr val="2855D9"/>
                </a:solidFill>
              </a:defRPr>
            </a:pPr>
            <a:r>
              <a:t>Dual Export Pipeline</a:t>
            </a:r>
          </a:p>
          <a:p>
            <a:pPr>
              <a:spcBef>
                <a:spcPts val="300"/>
              </a:spcBef>
              <a:defRPr sz="880">
                <a:solidFill>
                  <a:srgbClr val="F4F3EB"/>
                </a:solidFill>
              </a:defRPr>
            </a:pPr>
            <a:r>
              <a:t>• MIDI File (.mid): Built via mido, contains raw Note On/Off channel events and microsecond tempo (120 BPM).</a:t>
            </a:r>
            <a:br/>
            <a:r>
              <a:t>• WAV File (.wav): 44.1 kHz 16-bit PCM waveform rendered entirely in pure NumPy/SciPy without external soundfonts.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CHAPTERS 11, 12 • INTERACTIVE DEPLOYMENT</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Interactive Deployment: Streamlit Web Dashboard</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18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pic>
        <p:nvPicPr>
          <p:cNvPr id="8" name="Picture 7" descr="fig_piano_roll.png"/>
          <p:cNvPicPr>
            <a:picLocks noChangeAspect="1"/>
          </p:cNvPicPr>
          <p:nvPr/>
        </p:nvPicPr>
        <p:blipFill>
          <a:blip r:embed="rId2"/>
          <a:stretch>
            <a:fillRect/>
          </a:stretch>
        </p:blipFill>
        <p:spPr>
          <a:xfrm>
            <a:off x="731520" y="1508760"/>
            <a:ext cx="6858000" cy="3291840"/>
          </a:xfrm>
          <a:prstGeom prst="rect">
            <a:avLst/>
          </a:prstGeom>
        </p:spPr>
      </p:pic>
      <p:sp>
        <p:nvSpPr>
          <p:cNvPr id="9" name="Rounded Rectangle 8"/>
          <p:cNvSpPr/>
          <p:nvPr/>
        </p:nvSpPr>
        <p:spPr>
          <a:xfrm>
            <a:off x="7772400" y="1508760"/>
            <a:ext cx="3687775" cy="329184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60" y="1600200"/>
            <a:ext cx="3413455" cy="3108960"/>
          </a:xfrm>
          <a:prstGeom prst="rect">
            <a:avLst/>
          </a:prstGeom>
          <a:noFill/>
        </p:spPr>
        <p:txBody>
          <a:bodyPr wrap="square">
            <a:spAutoFit/>
          </a:bodyPr>
          <a:lstStyle/>
          <a:p>
            <a:pPr>
              <a:defRPr sz="1100" b="1">
                <a:solidFill>
                  <a:srgbClr val="26D9F1"/>
                </a:solidFill>
              </a:defRPr>
            </a:pPr>
            <a:r>
              <a:t>STREAMLIT DASHBOARD (app.py)</a:t>
            </a:r>
          </a:p>
          <a:p>
            <a:pPr>
              <a:spcBef>
                <a:spcPts val="500"/>
              </a:spcBef>
            </a:pPr>
            <a:r>
              <a:rPr b="1" sz="950">
                <a:solidFill>
                  <a:srgbClr val="F4F3EB"/>
                </a:solidFill>
              </a:rPr>
              <a:t>• Multi-Model Selector: </a:t>
            </a:r>
            <a:r>
              <a:rPr sz="880">
                <a:solidFill>
                  <a:srgbClr val="94A3B8"/>
                </a:solidFill>
              </a:rPr>
              <a:t> Toggle between Expanded Model (v2: 962 Pieces, Val Loss: 5.9151) and Baseline Model (v1: 13 Pieces, Val Loss: 6.1791) in real time.</a:t>
            </a:r>
          </a:p>
          <a:p>
            <a:pPr>
              <a:spcBef>
                <a:spcPts val="500"/>
              </a:spcBef>
            </a:pPr>
            <a:r>
              <a:rPr b="1" sz="950">
                <a:solidFill>
                  <a:srgbClr val="F4F3EB"/>
                </a:solidFill>
              </a:rPr>
              <a:t>• Interactive Piano-Roll: </a:t>
            </a:r>
            <a:r>
              <a:rPr sz="880">
                <a:solidFill>
                  <a:srgbClr val="94A3B8"/>
                </a:solidFill>
              </a:rPr>
              <a:t> High-resolution Matplotlib timeline visually distinguishing human prompt notes (Gold) from LSTM continuations (Cyan).</a:t>
            </a:r>
          </a:p>
          <a:p>
            <a:pPr>
              <a:spcBef>
                <a:spcPts val="500"/>
              </a:spcBef>
            </a:pPr>
            <a:r>
              <a:rPr b="1" sz="950">
                <a:solidFill>
                  <a:srgbClr val="F4F3EB"/>
                </a:solidFill>
              </a:rPr>
              <a:t>• Live Audio Synthesis: </a:t>
            </a:r>
            <a:r>
              <a:rPr sz="880">
                <a:solidFill>
                  <a:srgbClr val="94A3B8"/>
                </a:solidFill>
              </a:rPr>
              <a:t> Renders browser-playable HTML5 WAV previews without page reloading via st.audio.</a:t>
            </a:r>
          </a:p>
          <a:p>
            <a:pPr>
              <a:spcBef>
                <a:spcPts val="500"/>
              </a:spcBef>
            </a:pPr>
            <a:r>
              <a:rPr b="1" sz="950">
                <a:solidFill>
                  <a:srgbClr val="F4F3EB"/>
                </a:solidFill>
              </a:rPr>
              <a:t>• Catalog Exploration: </a:t>
            </a:r>
            <a:r>
              <a:rPr sz="880">
                <a:solidFill>
                  <a:srgbClr val="94A3B8"/>
                </a:solidFill>
              </a:rPr>
              <a:t> Browse and audition held-out real MAESTRO competition performances directly in the UI.</a:t>
            </a:r>
          </a:p>
        </p:txBody>
      </p:sp>
      <p:sp>
        <p:nvSpPr>
          <p:cNvPr id="11" name="Rounded Rectangle 10"/>
          <p:cNvSpPr/>
          <p:nvPr/>
        </p:nvSpPr>
        <p:spPr>
          <a:xfrm>
            <a:off x="731520" y="4937760"/>
            <a:ext cx="10728655" cy="137160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983480"/>
            <a:ext cx="10362895" cy="1234440"/>
          </a:xfrm>
          <a:prstGeom prst="rect">
            <a:avLst/>
          </a:prstGeom>
          <a:noFill/>
        </p:spPr>
        <p:txBody>
          <a:bodyPr wrap="square">
            <a:spAutoFit/>
          </a:bodyPr>
          <a:lstStyle/>
          <a:p>
            <a:pPr>
              <a:defRPr sz="1100" b="1">
                <a:solidFill>
                  <a:srgbClr val="FFC857"/>
                </a:solidFill>
              </a:defRPr>
            </a:pPr>
            <a:r>
              <a:t>EXECUTION COMMAND &amp; CACHED INFERENCE DESIGN</a:t>
            </a:r>
          </a:p>
          <a:p>
            <a:pPr>
              <a:spcBef>
                <a:spcPts val="300"/>
              </a:spcBef>
              <a:defRPr sz="1000">
                <a:solidFill>
                  <a:srgbClr val="26D9F1"/>
                </a:solidFill>
                <a:latin typeface="Consolas"/>
              </a:defRPr>
            </a:pPr>
            <a:r>
              <a:t>Command: streamlit run app.py  |  Default Port: http://localhost:8501</a:t>
            </a:r>
          </a:p>
          <a:p>
            <a:pPr>
              <a:spcBef>
                <a:spcPts val="200"/>
              </a:spcBef>
              <a:defRPr sz="900">
                <a:solidFill>
                  <a:srgbClr val="F4F3EB"/>
                </a:solidFill>
              </a:defRPr>
            </a:pPr>
            <a:r>
              <a:t>The application implements st.cache_resource for checkpoint weight loading and st.cache_data for the MAESTRO catalog, ensuring the neural network is never redundantly retrained or reloaded upon user interactions.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CHAPTERS 01, 09, 11, 12 • EVALUATION &amp; BENCHMARKS</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Quantitative &amp; Qualitative Evaluation: Baseline vs. Expanded</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19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pic>
        <p:nvPicPr>
          <p:cNvPr id="8" name="Picture 7" descr="fig_evaluation_comparison.png"/>
          <p:cNvPicPr>
            <a:picLocks noChangeAspect="1"/>
          </p:cNvPicPr>
          <p:nvPr/>
        </p:nvPicPr>
        <p:blipFill>
          <a:blip r:embed="rId2"/>
          <a:stretch>
            <a:fillRect/>
          </a:stretch>
        </p:blipFill>
        <p:spPr>
          <a:xfrm>
            <a:off x="731520" y="1508760"/>
            <a:ext cx="6217920" cy="3200400"/>
          </a:xfrm>
          <a:prstGeom prst="rect">
            <a:avLst/>
          </a:prstGeom>
        </p:spPr>
      </p:pic>
      <p:sp>
        <p:nvSpPr>
          <p:cNvPr id="9" name="Rounded Rectangle 8"/>
          <p:cNvSpPr/>
          <p:nvPr/>
        </p:nvSpPr>
        <p:spPr>
          <a:xfrm>
            <a:off x="7132320" y="1508760"/>
            <a:ext cx="4327855" cy="320040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69480" y="1600200"/>
            <a:ext cx="4053535" cy="3017520"/>
          </a:xfrm>
          <a:prstGeom prst="rect">
            <a:avLst/>
          </a:prstGeom>
          <a:noFill/>
        </p:spPr>
        <p:txBody>
          <a:bodyPr wrap="square">
            <a:spAutoFit/>
          </a:bodyPr>
          <a:lstStyle/>
          <a:p>
            <a:pPr>
              <a:defRPr sz="1100" b="1">
                <a:solidFill>
                  <a:srgbClr val="FFC857"/>
                </a:solidFill>
              </a:defRPr>
            </a:pPr>
            <a:r>
              <a:t>EMPIRICAL BENCHMARK COMPARISON</a:t>
            </a:r>
          </a:p>
          <a:p>
            <a:pPr>
              <a:spcBef>
                <a:spcPts val="300"/>
              </a:spcBef>
              <a:defRPr b="1" sz="850">
                <a:solidFill>
                  <a:srgbClr val="26D9F1"/>
                </a:solidFill>
              </a:defRPr>
            </a:pPr>
            <a:r>
              <a:t>Metric             | Baseline (13) | Expanded (962)</a:t>
            </a:r>
          </a:p>
          <a:p>
            <a:pPr>
              <a:spcBef>
                <a:spcPts val="300"/>
              </a:spcBef>
            </a:pPr>
            <a:r>
              <a:rPr b="1" sz="850">
                <a:solidFill>
                  <a:srgbClr val="F4F3EB"/>
                </a:solidFill>
              </a:rPr>
              <a:t>Val Loss:          </a:t>
            </a:r>
            <a:r>
              <a:rPr sz="850">
                <a:solidFill>
                  <a:srgbClr val="FFC857"/>
                </a:solidFill>
              </a:rPr>
              <a:t>6.1791 → 5.9151 (-0.26)</a:t>
            </a:r>
          </a:p>
          <a:p>
            <a:pPr>
              <a:spcBef>
                <a:spcPts val="300"/>
              </a:spcBef>
            </a:pPr>
            <a:r>
              <a:rPr b="1" sz="850">
                <a:solidFill>
                  <a:srgbClr val="F4F3EB"/>
                </a:solidFill>
              </a:rPr>
              <a:t>Repetition Rate:   </a:t>
            </a:r>
            <a:r>
              <a:rPr sz="850">
                <a:solidFill>
                  <a:srgbClr val="FFC857"/>
                </a:solidFill>
              </a:rPr>
              <a:t>17.7% → 10.1% (-43%)</a:t>
            </a:r>
          </a:p>
          <a:p>
            <a:pPr>
              <a:spcBef>
                <a:spcPts val="300"/>
              </a:spcBef>
            </a:pPr>
            <a:r>
              <a:rPr b="1" sz="850">
                <a:solidFill>
                  <a:srgbClr val="F4F3EB"/>
                </a:solidFill>
              </a:rPr>
              <a:t>Avg Pitch Jump:    </a:t>
            </a:r>
            <a:r>
              <a:rPr sz="850">
                <a:solidFill>
                  <a:srgbClr val="94A3B8"/>
                </a:solidFill>
              </a:rPr>
              <a:t>6.48 st → 1.49 st</a:t>
            </a:r>
          </a:p>
          <a:p>
            <a:pPr>
              <a:spcBef>
                <a:spcPts val="300"/>
              </a:spcBef>
            </a:pPr>
            <a:r>
              <a:rPr b="1" sz="850">
                <a:solidFill>
                  <a:srgbClr val="F4F3EB"/>
                </a:solidFill>
              </a:rPr>
              <a:t>Avg Note Duration: </a:t>
            </a:r>
            <a:r>
              <a:rPr sz="850">
                <a:solidFill>
                  <a:srgbClr val="FFC857"/>
                </a:solidFill>
              </a:rPr>
              <a:t>0.06s (Clicks) → 0.34s (Piano)</a:t>
            </a:r>
          </a:p>
          <a:p>
            <a:pPr>
              <a:spcBef>
                <a:spcPts val="300"/>
              </a:spcBef>
            </a:pPr>
            <a:r>
              <a:rPr b="1" sz="850">
                <a:solidFill>
                  <a:srgbClr val="F4F3EB"/>
                </a:solidFill>
              </a:rPr>
              <a:t>Avg Step Interval: </a:t>
            </a:r>
            <a:r>
              <a:rPr sz="850">
                <a:solidFill>
                  <a:srgbClr val="94A3B8"/>
                </a:solidFill>
              </a:rPr>
              <a:t>0.05s → 0.25s</a:t>
            </a:r>
          </a:p>
          <a:p>
            <a:pPr>
              <a:spcBef>
                <a:spcPts val="300"/>
              </a:spcBef>
            </a:pPr>
            <a:r>
              <a:rPr b="1" sz="850">
                <a:solidFill>
                  <a:srgbClr val="F4F3EB"/>
                </a:solidFill>
              </a:rPr>
              <a:t>Auditory Coherence: </a:t>
            </a:r>
            <a:r>
              <a:rPr sz="850">
                <a:solidFill>
                  <a:srgbClr val="94A3B8"/>
                </a:solidFill>
              </a:rPr>
              <a:t>Erratic bursts → Singable soprano</a:t>
            </a:r>
          </a:p>
        </p:txBody>
      </p:sp>
      <p:sp>
        <p:nvSpPr>
          <p:cNvPr id="11" name="Rounded Rectangle 10"/>
          <p:cNvSpPr/>
          <p:nvPr/>
        </p:nvSpPr>
        <p:spPr>
          <a:xfrm>
            <a:off x="731520" y="4846320"/>
            <a:ext cx="10728655" cy="146304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892040"/>
            <a:ext cx="10362895" cy="1325880"/>
          </a:xfrm>
          <a:prstGeom prst="rect">
            <a:avLst/>
          </a:prstGeom>
          <a:noFill/>
        </p:spPr>
        <p:txBody>
          <a:bodyPr wrap="square">
            <a:spAutoFit/>
          </a:bodyPr>
          <a:lstStyle/>
          <a:p>
            <a:pPr>
              <a:defRPr sz="1100" b="1">
                <a:solidFill>
                  <a:srgbClr val="26D9F1"/>
                </a:solidFill>
              </a:defRPr>
            </a:pPr>
            <a:r>
              <a:t>HONEST SCIENTIFIC APPRAISAL: WHAT IMPROVED VS. REMAINING LIMITATIONS</a:t>
            </a:r>
          </a:p>
          <a:p>
            <a:pPr>
              <a:spcBef>
                <a:spcPts val="200"/>
              </a:spcBef>
              <a:defRPr sz="880">
                <a:solidFill>
                  <a:srgbClr val="F4F3EB"/>
                </a:solidFill>
              </a:defRPr>
            </a:pPr>
            <a:r>
              <a:t>• What Substantially Improved: The baseline model suffered from duration collapse (predicting 0.06s staccato clicks). The expanded model learned realistic human pacing (0.34s duration, 0.25s step time) closely matching real Scriabin ground truth (0.48s/0.21s). Monotone note repetitions decreased by 43%.</a:t>
            </a:r>
          </a:p>
          <a:p>
            <a:pPr>
              <a:spcBef>
                <a:spcPts val="200"/>
              </a:spcBef>
              <a:defRPr sz="880">
                <a:solidFill>
                  <a:srgbClr val="F4F3EB"/>
                </a:solidFill>
              </a:defRPr>
            </a:pPr>
            <a:r>
              <a:t>• Remaining Architectural Limitations: An LSTM lacks multi-track polyphonic counterpoint and global hierarchical phrase structure (A-B-A sonata form). Long generations (&gt;150 notes) tend to wander tonally without global cadences.</a:t>
            </a:r>
          </a:p>
          <a:p>
            <a:pPr>
              <a:spcBef>
                <a:spcPts val="200"/>
              </a:spcBef>
              <a:defRPr sz="880">
                <a:solidFill>
                  <a:srgbClr val="F4F3EB"/>
                </a:solidFill>
              </a:defRPr>
            </a:pPr>
            <a:r>
              <a:t>• Crucial Insight: Lower validation loss correlates with valid local transitions, but does NOT guarantee long-term human aesthetic perfection. Domain-specific qualitative evaluation remains essential.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SUMMARY &amp; CONCLUSION</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Key Technical Takeaways &amp; Engineering Conclusions</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20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sp>
        <p:nvSpPr>
          <p:cNvPr id="8" name="Rounded Rectangle 7"/>
          <p:cNvSpPr/>
          <p:nvPr/>
        </p:nvSpPr>
        <p:spPr>
          <a:xfrm>
            <a:off x="731520" y="1554480"/>
            <a:ext cx="10728655" cy="100584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00200"/>
            <a:ext cx="10362895" cy="868680"/>
          </a:xfrm>
          <a:prstGeom prst="rect">
            <a:avLst/>
          </a:prstGeom>
          <a:noFill/>
        </p:spPr>
        <p:txBody>
          <a:bodyPr wrap="square" tIns="0" bIns="0" lIns="0" rIns="0">
            <a:spAutoFit/>
          </a:bodyPr>
          <a:lstStyle/>
          <a:p>
            <a:pPr>
              <a:defRPr sz="1150" b="1">
                <a:solidFill>
                  <a:srgbClr val="26D9F1"/>
                </a:solidFill>
              </a:defRPr>
            </a:pPr>
            <a:r>
              <a:t>1. Discrete Symbolic Representation</a:t>
            </a:r>
          </a:p>
          <a:p>
            <a:pPr>
              <a:spcBef>
                <a:spcPts val="300"/>
              </a:spcBef>
              <a:defRPr sz="950">
                <a:solidFill>
                  <a:srgbClr val="F4F3EB"/>
                </a:solidFill>
              </a:defRPr>
            </a:pPr>
            <a:r>
              <a:t>Tokenizing MIDI into discrete 3-tuples (Pitch, Duration, Step) reduced data dimensionality by orders of magnitude compared to continuous waveforms, enabling effective recurrent learning on standard consumer hardware.</a:t>
            </a:r>
          </a:p>
        </p:txBody>
      </p:sp>
      <p:sp>
        <p:nvSpPr>
          <p:cNvPr id="10" name="Rounded Rectangle 9"/>
          <p:cNvSpPr/>
          <p:nvPr/>
        </p:nvSpPr>
        <p:spPr>
          <a:xfrm>
            <a:off x="731520" y="2697480"/>
            <a:ext cx="10728655" cy="100584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743200"/>
            <a:ext cx="10362895" cy="868680"/>
          </a:xfrm>
          <a:prstGeom prst="rect">
            <a:avLst/>
          </a:prstGeom>
          <a:noFill/>
        </p:spPr>
        <p:txBody>
          <a:bodyPr wrap="square" tIns="0" bIns="0" lIns="0" rIns="0">
            <a:spAutoFit/>
          </a:bodyPr>
          <a:lstStyle/>
          <a:p>
            <a:pPr>
              <a:defRPr sz="1150" b="1">
                <a:solidFill>
                  <a:srgbClr val="FFC857"/>
                </a:solidFill>
              </a:defRPr>
            </a:pPr>
            <a:r>
              <a:t>2. Memory-Bounded Data Engineering</a:t>
            </a:r>
          </a:p>
          <a:p>
            <a:pPr>
              <a:spcBef>
                <a:spcPts val="300"/>
              </a:spcBef>
              <a:defRPr sz="950">
                <a:solidFill>
                  <a:srgbClr val="F4F3EB"/>
                </a:solidFill>
              </a:defRPr>
            </a:pPr>
            <a:r>
              <a:t>Transitioning from unconstrained Python lists to compact uint8 tensors and multi-process persistent caching eliminated the 13-file bottleneck, expanding training to 962 performances without exceeding 4 GB GPU VRAM.</a:t>
            </a:r>
          </a:p>
        </p:txBody>
      </p:sp>
      <p:sp>
        <p:nvSpPr>
          <p:cNvPr id="12" name="Rounded Rectangle 11"/>
          <p:cNvSpPr/>
          <p:nvPr/>
        </p:nvSpPr>
        <p:spPr>
          <a:xfrm>
            <a:off x="731520" y="3840480"/>
            <a:ext cx="10728655" cy="100584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886200"/>
            <a:ext cx="10362895" cy="868680"/>
          </a:xfrm>
          <a:prstGeom prst="rect">
            <a:avLst/>
          </a:prstGeom>
          <a:noFill/>
        </p:spPr>
        <p:txBody>
          <a:bodyPr wrap="square" tIns="0" bIns="0" lIns="0" rIns="0">
            <a:spAutoFit/>
          </a:bodyPr>
          <a:lstStyle/>
          <a:p>
            <a:pPr>
              <a:defRPr sz="1150" b="1">
                <a:solidFill>
                  <a:srgbClr val="2855D9"/>
                </a:solidFill>
              </a:defRPr>
            </a:pPr>
            <a:r>
              <a:t>3. Gated Memory Prevents Vanishing Gradients</a:t>
            </a:r>
          </a:p>
          <a:p>
            <a:pPr>
              <a:spcBef>
                <a:spcPts val="300"/>
              </a:spcBef>
              <a:defRPr sz="950">
                <a:solidFill>
                  <a:srgbClr val="F4F3EB"/>
                </a:solidFill>
              </a:defRPr>
            </a:pPr>
            <a:r>
              <a:t>The LSTM's constant error carousel additively routed gradient highways across 32 time steps, enabling the network to learn rhythmic pacing, pitch intervals, and multi-task predictions.</a:t>
            </a:r>
          </a:p>
        </p:txBody>
      </p:sp>
      <p:sp>
        <p:nvSpPr>
          <p:cNvPr id="14" name="Rounded Rectangle 13"/>
          <p:cNvSpPr/>
          <p:nvPr/>
        </p:nvSpPr>
        <p:spPr>
          <a:xfrm>
            <a:off x="731520" y="4983480"/>
            <a:ext cx="10728655" cy="100584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029200"/>
            <a:ext cx="10362895" cy="868680"/>
          </a:xfrm>
          <a:prstGeom prst="rect">
            <a:avLst/>
          </a:prstGeom>
          <a:noFill/>
        </p:spPr>
        <p:txBody>
          <a:bodyPr wrap="square" tIns="0" bIns="0" lIns="0" rIns="0">
            <a:spAutoFit/>
          </a:bodyPr>
          <a:lstStyle/>
          <a:p>
            <a:pPr>
              <a:defRPr sz="1150" b="1">
                <a:solidFill>
                  <a:srgbClr val="22C55E"/>
                </a:solidFill>
              </a:defRPr>
            </a:pPr>
            <a:r>
              <a:t>4. Deployment &amp; Evaluation Completeness</a:t>
            </a:r>
          </a:p>
          <a:p>
            <a:pPr>
              <a:spcBef>
                <a:spcPts val="300"/>
              </a:spcBef>
              <a:defRPr sz="950">
                <a:solidFill>
                  <a:srgbClr val="F4F3EB"/>
                </a:solidFill>
              </a:defRPr>
            </a:pPr>
            <a:r>
              <a:t>A complete end-to-end artifact was delivered: PyTorch checkpoints, a Streamlit interactive web application, NumPy additive DSP synthesis, and rigorous quantitative musical benchmarks.</a:t>
            </a:r>
          </a:p>
        </p:txBody>
      </p:sp>
      <p:sp>
        <p:nvSpPr>
          <p:cNvPr id="16" name="Rounded Rectangle 15"/>
          <p:cNvSpPr/>
          <p:nvPr/>
        </p:nvSpPr>
        <p:spPr>
          <a:xfrm>
            <a:off x="731520" y="5715000"/>
            <a:ext cx="10728655" cy="594360"/>
          </a:xfrm>
          <a:prstGeom prst="roundRect">
            <a:avLst/>
          </a:prstGeom>
          <a:solidFill>
            <a:srgbClr val="18264A"/>
          </a:solidFill>
          <a:ln w="15240">
            <a:solidFill>
              <a:srgbClr val="26D9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779008"/>
            <a:ext cx="10362895" cy="457200"/>
          </a:xfrm>
          <a:prstGeom prst="rect">
            <a:avLst/>
          </a:prstGeom>
          <a:noFill/>
        </p:spPr>
        <p:txBody>
          <a:bodyPr wrap="none">
            <a:spAutoFit/>
          </a:bodyPr>
          <a:lstStyle/>
          <a:p>
            <a:pPr>
              <a:defRPr sz="1100" b="1">
                <a:solidFill>
                  <a:srgbClr val="26D9F1"/>
                </a:solidFill>
                <a:latin typeface="Segoe UI"/>
              </a:defRPr>
            </a:pPr>
            <a:r>
              <a:t>Thank you for your time. I welcome questions regarding the implementation, architecture, and evaluation.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APPENDIX • VIVA DEFENSE PREP A</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Viva Defense: Data Representation &amp; Preprocessing</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21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sp>
        <p:nvSpPr>
          <p:cNvPr id="8" name="Rounded Rectangle 7"/>
          <p:cNvSpPr/>
          <p:nvPr/>
        </p:nvSpPr>
        <p:spPr>
          <a:xfrm>
            <a:off x="731520" y="1554480"/>
            <a:ext cx="107286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27632"/>
            <a:ext cx="10362895" cy="1280160"/>
          </a:xfrm>
          <a:prstGeom prst="rect">
            <a:avLst/>
          </a:prstGeom>
          <a:noFill/>
        </p:spPr>
        <p:txBody>
          <a:bodyPr wrap="square" tIns="0" bIns="0" lIns="0" rIns="0">
            <a:spAutoFit/>
          </a:bodyPr>
          <a:lstStyle/>
          <a:p>
            <a:pPr>
              <a:defRPr sz="1100" b="1">
                <a:solidFill>
                  <a:srgbClr val="26D9F1"/>
                </a:solidFill>
              </a:defRPr>
            </a:pPr>
            <a:r>
              <a:t>Q: Why train on symbolic MIDI instead of raw audio waveforms like MP3 or WAV?</a:t>
            </a:r>
          </a:p>
          <a:p>
            <a:pPr>
              <a:spcBef>
                <a:spcPts val="300"/>
              </a:spcBef>
              <a:defRPr sz="950">
                <a:solidFill>
                  <a:srgbClr val="F4F3EB"/>
                </a:solidFill>
              </a:defRPr>
            </a:pPr>
            <a:r>
              <a:t>A: Audio waveforms require predicting 44,100 continuous 16-bit floating-point samples per second, demanding massive compute and resulting in acoustic noise. MIDI abstracts music into discrete symbolic event tokens (pitch, duration, step). This allows us to frame music as a natural sequence-modeling problem using categorical Cross-Entropy loss and token embeddings.</a:t>
            </a:r>
          </a:p>
        </p:txBody>
      </p:sp>
      <p:sp>
        <p:nvSpPr>
          <p:cNvPr id="10" name="Rounded Rectangle 9"/>
          <p:cNvSpPr/>
          <p:nvPr/>
        </p:nvSpPr>
        <p:spPr>
          <a:xfrm>
            <a:off x="731520" y="3108960"/>
            <a:ext cx="107286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182112"/>
            <a:ext cx="10362895" cy="1280160"/>
          </a:xfrm>
          <a:prstGeom prst="rect">
            <a:avLst/>
          </a:prstGeom>
          <a:noFill/>
        </p:spPr>
        <p:txBody>
          <a:bodyPr wrap="square" tIns="0" bIns="0" lIns="0" rIns="0">
            <a:spAutoFit/>
          </a:bodyPr>
          <a:lstStyle/>
          <a:p>
            <a:pPr>
              <a:defRPr sz="1100" b="1">
                <a:solidFill>
                  <a:srgbClr val="FFC857"/>
                </a:solidFill>
              </a:defRPr>
            </a:pPr>
            <a:r>
              <a:t>Q: Why are there 128 MIDI note numbers if a standard piano only has 88 keys?</a:t>
            </a:r>
          </a:p>
          <a:p>
            <a:pPr>
              <a:spcBef>
                <a:spcPts val="300"/>
              </a:spcBef>
              <a:defRPr sz="950">
                <a:solidFill>
                  <a:srgbClr val="F4F3EB"/>
                </a:solidFill>
              </a:defRPr>
            </a:pPr>
            <a:r>
              <a:t>A: The physical acoustic piano keyboard spans from A0 (MIDI 21) to C8 (MIDI 108). The MIDI protocol is a 7-bit standard (2^7 = 128 integers, from 0 to 127). The extra note numbers represent sub-audio pitches (0–20) and ultra-high registers (109–127) used by organs, synthesizers, and microtonal controllers.</a:t>
            </a:r>
          </a:p>
        </p:txBody>
      </p:sp>
      <p:sp>
        <p:nvSpPr>
          <p:cNvPr id="12" name="Rounded Rectangle 11"/>
          <p:cNvSpPr/>
          <p:nvPr/>
        </p:nvSpPr>
        <p:spPr>
          <a:xfrm>
            <a:off x="731520" y="4663440"/>
            <a:ext cx="107286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736592"/>
            <a:ext cx="10362895" cy="1280160"/>
          </a:xfrm>
          <a:prstGeom prst="rect">
            <a:avLst/>
          </a:prstGeom>
          <a:noFill/>
        </p:spPr>
        <p:txBody>
          <a:bodyPr wrap="square" tIns="0" bIns="0" lIns="0" rIns="0">
            <a:spAutoFit/>
          </a:bodyPr>
          <a:lstStyle/>
          <a:p>
            <a:pPr>
              <a:defRPr sz="1100" b="1">
                <a:solidFill>
                  <a:srgbClr val="22C55E"/>
                </a:solidFill>
              </a:defRPr>
            </a:pPr>
            <a:r>
              <a:t>Q: How does the model represent simultaneous chords or polyphonic notes?</a:t>
            </a:r>
          </a:p>
          <a:p>
            <a:pPr>
              <a:spcBef>
                <a:spcPts val="300"/>
              </a:spcBef>
              <a:defRPr sz="950">
                <a:solidFill>
                  <a:srgbClr val="F4F3EB"/>
                </a:solidFill>
              </a:defRPr>
            </a:pPr>
            <a:r>
              <a:t>A: Through the step interval s. If two notes are struck simultaneously in a chord (e.g. C4 and G4), the time delta between their start times is 0.0 seconds. The quantizer maps 0.0s to step_bin = 0. The model plays the first note, immediately advances 0 steps, and triggers the second note concurrently.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APPENDIX • VIVA DEFENSE PREP B</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Viva Defense: LSTM Architecture &amp; Training Dynamics</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22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sp>
        <p:nvSpPr>
          <p:cNvPr id="8" name="Rounded Rectangle 7"/>
          <p:cNvSpPr/>
          <p:nvPr/>
        </p:nvSpPr>
        <p:spPr>
          <a:xfrm>
            <a:off x="731520" y="1554480"/>
            <a:ext cx="107286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27632"/>
            <a:ext cx="10362895" cy="1280160"/>
          </a:xfrm>
          <a:prstGeom prst="rect">
            <a:avLst/>
          </a:prstGeom>
          <a:noFill/>
        </p:spPr>
        <p:txBody>
          <a:bodyPr wrap="square" tIns="0" bIns="0" lIns="0" rIns="0">
            <a:spAutoFit/>
          </a:bodyPr>
          <a:lstStyle/>
          <a:p>
            <a:pPr>
              <a:defRPr sz="1100" b="1">
                <a:solidFill>
                  <a:srgbClr val="26D9F1"/>
                </a:solidFill>
              </a:defRPr>
            </a:pPr>
            <a:r>
              <a:t>Q: Why does the LSTM cell state prevent vanishing gradients while vanilla RNNs fail?</a:t>
            </a:r>
          </a:p>
          <a:p>
            <a:pPr>
              <a:spcBef>
                <a:spcPts val="300"/>
              </a:spcBef>
              <a:defRPr sz="950">
                <a:solidFill>
                  <a:srgbClr val="F4F3EB"/>
                </a:solidFill>
              </a:defRPr>
            </a:pPr>
            <a:r>
              <a:t>A: In a vanilla RNN, backpropagation through time computes ∂h_T/∂h_0 by repeatedly multiplying by the recurrent weight matrix W, causing gradients to vanish exponentially. In an LSTM, the cell state update C_t = f_t ⊙ C_(t-1) + i_t ⊙ C~_t is additive. The gradient ∂C_t/∂C_(t-1) = f_t. If the forget gate is near 1, gradients flow indefinitely across time without exponential decay.</a:t>
            </a:r>
          </a:p>
        </p:txBody>
      </p:sp>
      <p:sp>
        <p:nvSpPr>
          <p:cNvPr id="10" name="Rounded Rectangle 9"/>
          <p:cNvSpPr/>
          <p:nvPr/>
        </p:nvSpPr>
        <p:spPr>
          <a:xfrm>
            <a:off x="731520" y="3108960"/>
            <a:ext cx="107286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182112"/>
            <a:ext cx="10362895" cy="1280160"/>
          </a:xfrm>
          <a:prstGeom prst="rect">
            <a:avLst/>
          </a:prstGeom>
          <a:noFill/>
        </p:spPr>
        <p:txBody>
          <a:bodyPr wrap="square" tIns="0" bIns="0" lIns="0" rIns="0">
            <a:spAutoFit/>
          </a:bodyPr>
          <a:lstStyle/>
          <a:p>
            <a:pPr>
              <a:defRPr sz="1100" b="1">
                <a:solidFill>
                  <a:srgbClr val="FFC857"/>
                </a:solidFill>
              </a:defRPr>
            </a:pPr>
            <a:r>
              <a:t>Q: Why did early stopping select Epoch 7 rather than the final Epoch 15?</a:t>
            </a:r>
          </a:p>
          <a:p>
            <a:pPr>
              <a:spcBef>
                <a:spcPts val="300"/>
              </a:spcBef>
              <a:defRPr sz="950">
                <a:solidFill>
                  <a:srgbClr val="F4F3EB"/>
                </a:solidFill>
              </a:defRPr>
            </a:pPr>
            <a:r>
              <a:t>A: Training loss measures performance on the training data, while validation loss measures generalization on unseen performances. As shown in our training curves, validation loss reached its minimum of 5.9151 at Epoch 7. In subsequent epochs, validation loss drifted upward to 6.0386 while train loss continued dropping, indicating over-parameterized memorization. Epoch 7 was preserved to ensure optimal generalization.</a:t>
            </a:r>
          </a:p>
        </p:txBody>
      </p:sp>
      <p:sp>
        <p:nvSpPr>
          <p:cNvPr id="12" name="Rounded Rectangle 11"/>
          <p:cNvSpPr/>
          <p:nvPr/>
        </p:nvSpPr>
        <p:spPr>
          <a:xfrm>
            <a:off x="731520" y="4663440"/>
            <a:ext cx="107286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736592"/>
            <a:ext cx="10362895" cy="1280160"/>
          </a:xfrm>
          <a:prstGeom prst="rect">
            <a:avLst/>
          </a:prstGeom>
          <a:noFill/>
        </p:spPr>
        <p:txBody>
          <a:bodyPr wrap="square" tIns="0" bIns="0" lIns="0" rIns="0">
            <a:spAutoFit/>
          </a:bodyPr>
          <a:lstStyle/>
          <a:p>
            <a:pPr>
              <a:defRPr sz="1100" b="1">
                <a:solidFill>
                  <a:srgbClr val="2855D9"/>
                </a:solidFill>
              </a:defRPr>
            </a:pPr>
            <a:r>
              <a:t>Q: Why multi-task cross-entropy instead of Mean Squared Error (MSE)?</a:t>
            </a:r>
          </a:p>
          <a:p>
            <a:pPr>
              <a:spcBef>
                <a:spcPts val="300"/>
              </a:spcBef>
              <a:defRPr sz="950">
                <a:solidFill>
                  <a:srgbClr val="F4F3EB"/>
                </a:solidFill>
              </a:defRPr>
            </a:pPr>
            <a:r>
              <a:t>A: Pitch, duration, and step bins are categorical tokens, not continuous scalars. In music, pitch 60 (Middle C) and pitch 61 (C#) are musically dissonant despite having a numerical difference of only 1. MSE assumes numerical distance equates to musical error. Cross-entropy evaluates the probability distribution over all discrete choices without imposing a false Euclidean distance metric.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APPENDIX • VIVA DEFENSE PREP C</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Viva Defense: Autoregressive Generation &amp; Synthesis</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23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sp>
        <p:nvSpPr>
          <p:cNvPr id="8" name="Rounded Rectangle 7"/>
          <p:cNvSpPr/>
          <p:nvPr/>
        </p:nvSpPr>
        <p:spPr>
          <a:xfrm>
            <a:off x="731520" y="1554480"/>
            <a:ext cx="107286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27632"/>
            <a:ext cx="10362895" cy="1280160"/>
          </a:xfrm>
          <a:prstGeom prst="rect">
            <a:avLst/>
          </a:prstGeom>
          <a:noFill/>
        </p:spPr>
        <p:txBody>
          <a:bodyPr wrap="square" tIns="0" bIns="0" lIns="0" rIns="0">
            <a:spAutoFit/>
          </a:bodyPr>
          <a:lstStyle/>
          <a:p>
            <a:pPr>
              <a:defRPr sz="1100" b="1">
                <a:solidFill>
                  <a:srgbClr val="26D9F1"/>
                </a:solidFill>
              </a:defRPr>
            </a:pPr>
            <a:r>
              <a:t>Q: What is sampling temperature, and what happens at T -&gt; 0 vs T -&gt; inf?</a:t>
            </a:r>
          </a:p>
          <a:p>
            <a:pPr>
              <a:spcBef>
                <a:spcPts val="300"/>
              </a:spcBef>
              <a:defRPr sz="950">
                <a:solidFill>
                  <a:srgbClr val="F4F3EB"/>
                </a:solidFill>
              </a:defRPr>
            </a:pPr>
            <a:r>
              <a:t>A: Temperature T scales the raw logits z before the softmax function: P(y_i) = exp(z_i / T) / Σ exp(z_j / T). As T → 0, the distribution approaches an argmax one-hot vector (greedy decoding), resulting in deterministic but repetitive loops. As T → ∞, logits become equal and the distribution approaches uniform random noise. Setting T = 0.6 balances novelty and harmonic coherence.</a:t>
            </a:r>
          </a:p>
        </p:txBody>
      </p:sp>
      <p:sp>
        <p:nvSpPr>
          <p:cNvPr id="10" name="Rounded Rectangle 9"/>
          <p:cNvSpPr/>
          <p:nvPr/>
        </p:nvSpPr>
        <p:spPr>
          <a:xfrm>
            <a:off x="731520" y="3108960"/>
            <a:ext cx="107286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182112"/>
            <a:ext cx="10362895" cy="1280160"/>
          </a:xfrm>
          <a:prstGeom prst="rect">
            <a:avLst/>
          </a:prstGeom>
          <a:noFill/>
        </p:spPr>
        <p:txBody>
          <a:bodyPr wrap="square" tIns="0" bIns="0" lIns="0" rIns="0">
            <a:spAutoFit/>
          </a:bodyPr>
          <a:lstStyle/>
          <a:p>
            <a:pPr>
              <a:defRPr sz="1100" b="1">
                <a:solidFill>
                  <a:srgbClr val="FFC857"/>
                </a:solidFill>
              </a:defRPr>
            </a:pPr>
            <a:r>
              <a:t>Q: Why does Top-K filtering (k = 5) dramatically improve musical output?</a:t>
            </a:r>
          </a:p>
          <a:p>
            <a:pPr>
              <a:spcBef>
                <a:spcPts val="300"/>
              </a:spcBef>
              <a:defRPr sz="950">
                <a:solidFill>
                  <a:srgbClr val="F4F3EB"/>
                </a:solidFill>
              </a:defRPr>
            </a:pPr>
            <a:r>
              <a:t>A: In standard temperature sampling, low-probability tail tokens still retain a small chance of being sampled. In a vocabulary of 128 pitches, sampling a random tail token causes jarring out-of-key dissonance or unnatural 4-octave jumps. Top-K filtering sets all logits outside the top 5 candidates to -inf, guaranteeing that every generated note is among the network's most musically confident predictions.</a:t>
            </a:r>
          </a:p>
        </p:txBody>
      </p:sp>
      <p:sp>
        <p:nvSpPr>
          <p:cNvPr id="12" name="Rounded Rectangle 11"/>
          <p:cNvSpPr/>
          <p:nvPr/>
        </p:nvSpPr>
        <p:spPr>
          <a:xfrm>
            <a:off x="731520" y="4663440"/>
            <a:ext cx="10728655" cy="141732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736592"/>
            <a:ext cx="10362895" cy="1280160"/>
          </a:xfrm>
          <a:prstGeom prst="rect">
            <a:avLst/>
          </a:prstGeom>
          <a:noFill/>
        </p:spPr>
        <p:txBody>
          <a:bodyPr wrap="square" tIns="0" bIns="0" lIns="0" rIns="0">
            <a:spAutoFit/>
          </a:bodyPr>
          <a:lstStyle/>
          <a:p>
            <a:pPr>
              <a:defRPr sz="1100" b="1">
                <a:solidFill>
                  <a:srgbClr val="22C55E"/>
                </a:solidFill>
              </a:defRPr>
            </a:pPr>
            <a:r>
              <a:t>Q: How does the additive synthesizer synthesize audio without an external soundfont?</a:t>
            </a:r>
          </a:p>
          <a:p>
            <a:pPr>
              <a:spcBef>
                <a:spcPts val="300"/>
              </a:spcBef>
              <a:defRPr sz="950">
                <a:solidFill>
                  <a:srgbClr val="F4F3EB"/>
                </a:solidFill>
              </a:defRPr>
            </a:pPr>
            <a:r>
              <a:t>A: An acoustic piano note is modeled as a sum of sinusoidal harmonics: s(t) = Σ a_k sin(2π k f_0 t) where f_0 = 440 × 2^((p - 69)/12). We compute the fundamental (60%), 2nd harmonic (25%), and 3rd harmonic (15%). Multiplying by an exponential decay envelope exp(-3t / dur) creates the characteristic percussive piano timbre in pure NumPy/SciPy.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26D9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7315200" cy="320040"/>
          </a:xfrm>
          <a:prstGeom prst="rect">
            <a:avLst/>
          </a:prstGeom>
          <a:noFill/>
        </p:spPr>
        <p:txBody>
          <a:bodyPr wrap="square" lIns="0" rIns="0" tIns="0" bIns="0">
            <a:spAutoFit/>
          </a:bodyPr>
          <a:lstStyle/>
          <a:p>
            <a:pPr>
              <a:defRPr sz="1100" b="1">
                <a:solidFill>
                  <a:srgbClr val="26D9F1"/>
                </a:solidFill>
                <a:latin typeface="Segoe UI"/>
              </a:defRPr>
            </a:pPr>
            <a:r>
              <a:t>APPENDIX • TECHNICAL MODEL CARD</a:t>
            </a:r>
          </a:p>
        </p:txBody>
      </p:sp>
      <p:sp>
        <p:nvSpPr>
          <p:cNvPr id="5" name="TextBox 4"/>
          <p:cNvSpPr txBox="1"/>
          <p:nvPr/>
        </p:nvSpPr>
        <p:spPr>
          <a:xfrm>
            <a:off x="731520" y="777240"/>
            <a:ext cx="9601200" cy="594360"/>
          </a:xfrm>
          <a:prstGeom prst="rect">
            <a:avLst/>
          </a:prstGeom>
          <a:noFill/>
        </p:spPr>
        <p:txBody>
          <a:bodyPr wrap="square" lIns="0" rIns="0" tIns="0" bIns="0">
            <a:spAutoFit/>
          </a:bodyPr>
          <a:lstStyle/>
          <a:p>
            <a:pPr>
              <a:defRPr sz="2400" b="1">
                <a:solidFill>
                  <a:srgbClr val="F4F3EB"/>
                </a:solidFill>
                <a:latin typeface="Segoe UI"/>
              </a:defRPr>
            </a:pPr>
            <a:r>
              <a:t>MelodyLoop Technical Quick Reference &amp; Model Card</a:t>
            </a:r>
          </a:p>
        </p:txBody>
      </p:sp>
      <p:sp>
        <p:nvSpPr>
          <p:cNvPr id="6" name="TextBox 5"/>
          <p:cNvSpPr txBox="1"/>
          <p:nvPr/>
        </p:nvSpPr>
        <p:spPr>
          <a:xfrm>
            <a:off x="10362895" y="777240"/>
            <a:ext cx="1097280" cy="411480"/>
          </a:xfrm>
          <a:prstGeom prst="rect">
            <a:avLst/>
          </a:prstGeom>
          <a:noFill/>
        </p:spPr>
        <p:txBody>
          <a:bodyPr wrap="none" lIns="0" rIns="0" tIns="0" bIns="0">
            <a:spAutoFit/>
          </a:bodyPr>
          <a:lstStyle/>
          <a:p>
            <a:pPr algn="r">
              <a:defRPr sz="1300" b="1">
                <a:solidFill>
                  <a:srgbClr val="FFC857"/>
                </a:solidFill>
                <a:latin typeface="Segoe UI"/>
              </a:defRPr>
            </a:pPr>
            <a:r>
              <a:t>24 / 24</a:t>
            </a:r>
          </a:p>
        </p:txBody>
      </p:sp>
      <p:sp>
        <p:nvSpPr>
          <p:cNvPr id="7" name="TextBox 6"/>
          <p:cNvSpPr txBox="1"/>
          <p:nvPr/>
        </p:nvSpPr>
        <p:spPr>
          <a:xfrm>
            <a:off x="731520" y="6446520"/>
            <a:ext cx="10728655" cy="274320"/>
          </a:xfrm>
          <a:prstGeom prst="rect">
            <a:avLst/>
          </a:prstGeom>
          <a:noFill/>
        </p:spPr>
        <p:txBody>
          <a:bodyPr wrap="none" lIns="0" rIns="0" tIns="0" bIns="0">
            <a:spAutoFit/>
          </a:bodyPr>
          <a:lstStyle/>
          <a:p>
            <a:pPr>
              <a:defRPr sz="950">
                <a:solidFill>
                  <a:srgbClr val="94A3B8"/>
                </a:solidFill>
                <a:latin typeface="Segoe UI"/>
              </a:defRPr>
            </a:pPr>
            <a:r>
              <a:t>MelodyLoop — LSTM Music Generation | Academic Project Defense &amp; Evaluation</a:t>
            </a:r>
          </a:p>
        </p:txBody>
      </p:sp>
      <p:sp>
        <p:nvSpPr>
          <p:cNvPr id="8" name="Rounded Rectangle 7"/>
          <p:cNvSpPr/>
          <p:nvPr/>
        </p:nvSpPr>
        <p:spPr>
          <a:xfrm>
            <a:off x="731520" y="1554480"/>
            <a:ext cx="5242255" cy="224028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664207"/>
            <a:ext cx="4967935" cy="2057400"/>
          </a:xfrm>
          <a:prstGeom prst="rect">
            <a:avLst/>
          </a:prstGeom>
          <a:noFill/>
        </p:spPr>
        <p:txBody>
          <a:bodyPr wrap="square" tIns="0" bIns="0" lIns="0" rIns="0">
            <a:spAutoFit/>
          </a:bodyPr>
          <a:lstStyle/>
          <a:p>
            <a:pPr>
              <a:defRPr sz="1100" b="1">
                <a:solidFill>
                  <a:srgbClr val="26D9F1"/>
                </a:solidFill>
              </a:defRPr>
            </a:pPr>
            <a:r>
              <a:t>MODEL &amp; ARCHITECTURE</a:t>
            </a:r>
          </a:p>
          <a:p>
            <a:pPr>
              <a:spcBef>
                <a:spcPts val="300"/>
              </a:spcBef>
            </a:pPr>
            <a:r>
              <a:rPr b="1" sz="900">
                <a:solidFill>
                  <a:srgbClr val="F4F3EB"/>
                </a:solidFill>
              </a:rPr>
              <a:t>• Model Type: </a:t>
            </a:r>
            <a:r>
              <a:rPr sz="850">
                <a:solidFill>
                  <a:srgbClr val="94A3B8"/>
                </a:solidFill>
              </a:rPr>
              <a:t>MelodyLSTM Multi-Head Recurrent Network</a:t>
            </a:r>
          </a:p>
          <a:p>
            <a:pPr>
              <a:spcBef>
                <a:spcPts val="300"/>
              </a:spcBef>
            </a:pPr>
            <a:r>
              <a:rPr b="1" sz="900">
                <a:solidFill>
                  <a:srgbClr val="F4F3EB"/>
                </a:solidFill>
              </a:rPr>
              <a:t>• Trainable Parameters: </a:t>
            </a:r>
            <a:r>
              <a:rPr sz="850">
                <a:solidFill>
                  <a:srgbClr val="94A3B8"/>
                </a:solidFill>
              </a:rPr>
              <a:t>167,104 float32 parameters</a:t>
            </a:r>
          </a:p>
          <a:p>
            <a:pPr>
              <a:spcBef>
                <a:spcPts val="300"/>
              </a:spcBef>
            </a:pPr>
            <a:r>
              <a:rPr b="1" sz="900">
                <a:solidFill>
                  <a:srgbClr val="F4F3EB"/>
                </a:solidFill>
              </a:rPr>
              <a:t>• Embeddings: </a:t>
            </a:r>
            <a:r>
              <a:rPr sz="850">
                <a:solidFill>
                  <a:srgbClr val="94A3B8"/>
                </a:solidFill>
              </a:rPr>
              <a:t>Pitch (128-&gt;64), Dur (32-&gt;32), Step (32-&gt;32)</a:t>
            </a:r>
          </a:p>
          <a:p>
            <a:pPr>
              <a:spcBef>
                <a:spcPts val="300"/>
              </a:spcBef>
            </a:pPr>
            <a:r>
              <a:rPr b="1" sz="900">
                <a:solidFill>
                  <a:srgbClr val="F4F3EB"/>
                </a:solidFill>
              </a:rPr>
              <a:t>• Hidden Core: </a:t>
            </a:r>
            <a:r>
              <a:rPr sz="850">
                <a:solidFill>
                  <a:srgbClr val="94A3B8"/>
                </a:solidFill>
              </a:rPr>
              <a:t>1-Layer LSTM, Hidden Dimension = 128</a:t>
            </a:r>
          </a:p>
          <a:p>
            <a:pPr>
              <a:spcBef>
                <a:spcPts val="300"/>
              </a:spcBef>
            </a:pPr>
            <a:r>
              <a:rPr b="1" sz="900">
                <a:solidFill>
                  <a:srgbClr val="F4F3EB"/>
                </a:solidFill>
              </a:rPr>
              <a:t>• Prediction Heads: </a:t>
            </a:r>
            <a:r>
              <a:rPr sz="850">
                <a:solidFill>
                  <a:srgbClr val="94A3B8"/>
                </a:solidFill>
              </a:rPr>
              <a:t>3 Linear Heads (128, 32, 32 classes)</a:t>
            </a:r>
          </a:p>
        </p:txBody>
      </p:sp>
      <p:sp>
        <p:nvSpPr>
          <p:cNvPr id="10" name="Rounded Rectangle 9"/>
          <p:cNvSpPr/>
          <p:nvPr/>
        </p:nvSpPr>
        <p:spPr>
          <a:xfrm>
            <a:off x="6217920" y="1554480"/>
            <a:ext cx="5242255" cy="224028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64207"/>
            <a:ext cx="4967935" cy="2057400"/>
          </a:xfrm>
          <a:prstGeom prst="rect">
            <a:avLst/>
          </a:prstGeom>
          <a:noFill/>
        </p:spPr>
        <p:txBody>
          <a:bodyPr wrap="square" tIns="0" bIns="0" lIns="0" rIns="0">
            <a:spAutoFit/>
          </a:bodyPr>
          <a:lstStyle/>
          <a:p>
            <a:pPr>
              <a:defRPr sz="1100" b="1">
                <a:solidFill>
                  <a:srgbClr val="FFC857"/>
                </a:solidFill>
              </a:defRPr>
            </a:pPr>
            <a:r>
              <a:t>DATASET &amp; INGESTION</a:t>
            </a:r>
          </a:p>
          <a:p>
            <a:pPr>
              <a:spcBef>
                <a:spcPts val="300"/>
              </a:spcBef>
            </a:pPr>
            <a:r>
              <a:rPr b="1" sz="900">
                <a:solidFill>
                  <a:srgbClr val="F4F3EB"/>
                </a:solidFill>
              </a:rPr>
              <a:t>• Source Dataset: </a:t>
            </a:r>
            <a:r>
              <a:rPr sz="850">
                <a:solidFill>
                  <a:srgbClr val="94A3B8"/>
                </a:solidFill>
              </a:rPr>
              <a:t>MAESTRO v3.0.0 (Google Magenta)</a:t>
            </a:r>
          </a:p>
          <a:p>
            <a:pPr>
              <a:spcBef>
                <a:spcPts val="300"/>
              </a:spcBef>
            </a:pPr>
            <a:r>
              <a:rPr b="1" sz="900">
                <a:solidFill>
                  <a:srgbClr val="F4F3EB"/>
                </a:solidFill>
              </a:rPr>
              <a:t>• Split Breakdown: </a:t>
            </a:r>
            <a:r>
              <a:rPr sz="850">
                <a:solidFill>
                  <a:srgbClr val="94A3B8"/>
                </a:solidFill>
              </a:rPr>
              <a:t>962 Train (75.4%), 137 Val (10.7%), 177 Test (13.9%)</a:t>
            </a:r>
          </a:p>
          <a:p>
            <a:pPr>
              <a:spcBef>
                <a:spcPts val="300"/>
              </a:spcBef>
            </a:pPr>
            <a:r>
              <a:rPr b="1" sz="900">
                <a:solidFill>
                  <a:srgbClr val="F4F3EB"/>
                </a:solidFill>
              </a:rPr>
              <a:t>• Events Extracted: </a:t>
            </a:r>
            <a:r>
              <a:rPr sz="850">
                <a:solidFill>
                  <a:srgbClr val="94A3B8"/>
                </a:solidFill>
              </a:rPr>
              <a:t>5,659,329 chronologically verified notes</a:t>
            </a:r>
          </a:p>
          <a:p>
            <a:pPr>
              <a:spcBef>
                <a:spcPts val="300"/>
              </a:spcBef>
            </a:pPr>
            <a:r>
              <a:rPr b="1" sz="900">
                <a:solidFill>
                  <a:srgbClr val="F4F3EB"/>
                </a:solidFill>
              </a:rPr>
              <a:t>• Training Sequences: </a:t>
            </a:r>
            <a:r>
              <a:rPr sz="850">
                <a:solidFill>
                  <a:srgbClr val="94A3B8"/>
                </a:solidFill>
              </a:rPr>
              <a:t>100,000 sliding-window sequences (uint8)</a:t>
            </a:r>
          </a:p>
          <a:p>
            <a:pPr>
              <a:spcBef>
                <a:spcPts val="300"/>
              </a:spcBef>
            </a:pPr>
            <a:r>
              <a:rPr b="1" sz="900">
                <a:solidFill>
                  <a:srgbClr val="F4F3EB"/>
                </a:solidFill>
              </a:rPr>
              <a:t>• Validation Sequences: </a:t>
            </a:r>
            <a:r>
              <a:rPr sz="850">
                <a:solidFill>
                  <a:srgbClr val="94A3B8"/>
                </a:solidFill>
              </a:rPr>
              <a:t>10,000 held-out sequences (uint8)</a:t>
            </a:r>
          </a:p>
        </p:txBody>
      </p:sp>
      <p:sp>
        <p:nvSpPr>
          <p:cNvPr id="12" name="Rounded Rectangle 11"/>
          <p:cNvSpPr/>
          <p:nvPr/>
        </p:nvSpPr>
        <p:spPr>
          <a:xfrm>
            <a:off x="731520" y="3931920"/>
            <a:ext cx="5242255" cy="224028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41648"/>
            <a:ext cx="4967935" cy="2057400"/>
          </a:xfrm>
          <a:prstGeom prst="rect">
            <a:avLst/>
          </a:prstGeom>
          <a:noFill/>
        </p:spPr>
        <p:txBody>
          <a:bodyPr wrap="square" tIns="0" bIns="0" lIns="0" rIns="0">
            <a:spAutoFit/>
          </a:bodyPr>
          <a:lstStyle/>
          <a:p>
            <a:pPr>
              <a:defRPr sz="1100" b="1">
                <a:solidFill>
                  <a:srgbClr val="2855D9"/>
                </a:solidFill>
              </a:defRPr>
            </a:pPr>
            <a:r>
              <a:t>TRAINING METRICS</a:t>
            </a:r>
          </a:p>
          <a:p>
            <a:pPr>
              <a:spcBef>
                <a:spcPts val="300"/>
              </a:spcBef>
            </a:pPr>
            <a:r>
              <a:rPr b="1" sz="900">
                <a:solidFill>
                  <a:srgbClr val="F4F3EB"/>
                </a:solidFill>
              </a:rPr>
              <a:t>• Hardware Used: </a:t>
            </a:r>
            <a:r>
              <a:rPr sz="850">
                <a:solidFill>
                  <a:srgbClr val="94A3B8"/>
                </a:solidFill>
              </a:rPr>
              <a:t>NVIDIA GeForce RTX 3050 Laptop GPU (4 GB)</a:t>
            </a:r>
          </a:p>
          <a:p>
            <a:pPr>
              <a:spcBef>
                <a:spcPts val="300"/>
              </a:spcBef>
            </a:pPr>
            <a:r>
              <a:rPr b="1" sz="900">
                <a:solidFill>
                  <a:srgbClr val="F4F3EB"/>
                </a:solidFill>
              </a:rPr>
              <a:t>• Batch Size &amp; Stride: </a:t>
            </a:r>
            <a:r>
              <a:rPr sz="850">
                <a:solidFill>
                  <a:srgbClr val="94A3B8"/>
                </a:solidFill>
              </a:rPr>
              <a:t>Batch Size: 64, Seq Len: 32, Stride: 4</a:t>
            </a:r>
          </a:p>
          <a:p>
            <a:pPr>
              <a:spcBef>
                <a:spcPts val="300"/>
              </a:spcBef>
            </a:pPr>
            <a:r>
              <a:rPr b="1" sz="900">
                <a:solidFill>
                  <a:srgbClr val="F4F3EB"/>
                </a:solidFill>
              </a:rPr>
              <a:t>• Best Epoch &amp; Loss: </a:t>
            </a:r>
            <a:r>
              <a:rPr sz="850">
                <a:solidFill>
                  <a:srgbClr val="94A3B8"/>
                </a:solidFill>
              </a:rPr>
              <a:t>Epoch 07 | Best Val Loss: 5.9151</a:t>
            </a:r>
          </a:p>
          <a:p>
            <a:pPr>
              <a:spcBef>
                <a:spcPts val="300"/>
              </a:spcBef>
            </a:pPr>
            <a:r>
              <a:rPr b="1" sz="900">
                <a:solidFill>
                  <a:srgbClr val="F4F3EB"/>
                </a:solidFill>
              </a:rPr>
              <a:t>• Stopping Criterion: </a:t>
            </a:r>
            <a:r>
              <a:rPr sz="850">
                <a:solidFill>
                  <a:srgbClr val="94A3B8"/>
                </a:solidFill>
              </a:rPr>
              <a:t>Early Stopping (Patience = 8 at Epoch 15)</a:t>
            </a:r>
          </a:p>
          <a:p>
            <a:pPr>
              <a:spcBef>
                <a:spcPts val="300"/>
              </a:spcBef>
            </a:pPr>
            <a:r>
              <a:rPr b="1" sz="900">
                <a:solidFill>
                  <a:srgbClr val="F4F3EB"/>
                </a:solidFill>
              </a:rPr>
              <a:t>• Training Speed: </a:t>
            </a:r>
            <a:r>
              <a:rPr sz="850">
                <a:solidFill>
                  <a:srgbClr val="94A3B8"/>
                </a:solidFill>
              </a:rPr>
              <a:t>17.2 seconds per epoch (~91 batches/s)</a:t>
            </a:r>
          </a:p>
        </p:txBody>
      </p:sp>
      <p:sp>
        <p:nvSpPr>
          <p:cNvPr id="14" name="Rounded Rectangle 13"/>
          <p:cNvSpPr/>
          <p:nvPr/>
        </p:nvSpPr>
        <p:spPr>
          <a:xfrm>
            <a:off x="6217920" y="3931920"/>
            <a:ext cx="5242255" cy="2240280"/>
          </a:xfrm>
          <a:prstGeom prst="roundRect">
            <a:avLst/>
          </a:prstGeom>
          <a:solidFill>
            <a:srgbClr val="151D36"/>
          </a:solidFill>
          <a:ln w="15240">
            <a:solidFill>
              <a:srgbClr val="2A3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4041648"/>
            <a:ext cx="4967935" cy="2057400"/>
          </a:xfrm>
          <a:prstGeom prst="rect">
            <a:avLst/>
          </a:prstGeom>
          <a:noFill/>
        </p:spPr>
        <p:txBody>
          <a:bodyPr wrap="square" tIns="0" bIns="0" lIns="0" rIns="0">
            <a:spAutoFit/>
          </a:bodyPr>
          <a:lstStyle/>
          <a:p>
            <a:pPr>
              <a:defRPr sz="1100" b="1">
                <a:solidFill>
                  <a:srgbClr val="22C55E"/>
                </a:solidFill>
              </a:defRPr>
            </a:pPr>
            <a:r>
              <a:t>PROJECT COMMANDS</a:t>
            </a:r>
          </a:p>
          <a:p>
            <a:pPr>
              <a:spcBef>
                <a:spcPts val="300"/>
              </a:spcBef>
            </a:pPr>
            <a:r>
              <a:rPr b="1" sz="900">
                <a:solidFill>
                  <a:srgbClr val="F4F3EB"/>
                </a:solidFill>
              </a:rPr>
              <a:t>• Launch Web Dashboard: </a:t>
            </a:r>
            <a:r>
              <a:rPr sz="850">
                <a:solidFill>
                  <a:srgbClr val="94A3B8"/>
                </a:solidFill>
              </a:rPr>
              <a:t>streamlit run app.py</a:t>
            </a:r>
          </a:p>
          <a:p>
            <a:pPr>
              <a:spcBef>
                <a:spcPts val="300"/>
              </a:spcBef>
            </a:pPr>
            <a:r>
              <a:rPr b="1" sz="900">
                <a:solidFill>
                  <a:srgbClr val="F4F3EB"/>
                </a:solidFill>
              </a:rPr>
              <a:t>• CLI Generation: </a:t>
            </a:r>
            <a:r>
              <a:rPr sz="850">
                <a:solidFill>
                  <a:srgbClr val="94A3B8"/>
                </a:solidFill>
              </a:rPr>
              <a:t>python generate.py --checkpoint ... --length 80</a:t>
            </a:r>
          </a:p>
          <a:p>
            <a:pPr>
              <a:spcBef>
                <a:spcPts val="300"/>
              </a:spcBef>
            </a:pPr>
            <a:r>
              <a:rPr b="1" sz="900">
                <a:solidFill>
                  <a:srgbClr val="F4F3EB"/>
                </a:solidFill>
              </a:rPr>
              <a:t>• Comparative Evaluation: </a:t>
            </a:r>
            <a:r>
              <a:rPr sz="850">
                <a:solidFill>
                  <a:srgbClr val="94A3B8"/>
                </a:solidFill>
              </a:rPr>
              <a:t>python evaluate_comparison.py</a:t>
            </a:r>
          </a:p>
          <a:p>
            <a:pPr>
              <a:spcBef>
                <a:spcPts val="300"/>
              </a:spcBef>
            </a:pPr>
            <a:r>
              <a:rPr b="1" sz="900">
                <a:solidFill>
                  <a:srgbClr val="F4F3EB"/>
                </a:solidFill>
              </a:rPr>
              <a:t>• Run Full Test Suite: </a:t>
            </a:r>
            <a:r>
              <a:rPr sz="850">
                <a:solidFill>
                  <a:srgbClr val="94A3B8"/>
                </a:solidFill>
              </a:rPr>
              <a:t>python -m pytest -v (15/15 Passed)</a:t>
            </a:r>
          </a:p>
          <a:p>
            <a:pPr>
              <a:spcBef>
                <a:spcPts val="300"/>
              </a:spcBef>
            </a:pPr>
            <a:r>
              <a:rPr b="1" sz="900">
                <a:solidFill>
                  <a:srgbClr val="F4F3EB"/>
                </a:solidFill>
              </a:rPr>
              <a:t>• Checkpoint Location: </a:t>
            </a:r>
            <a:r>
              <a:rPr sz="850">
                <a:solidFill>
                  <a:srgbClr val="94A3B8"/>
                </a:solidFill>
              </a:rPr>
              <a:t>artifacts/checkpoints/best_model_expanded.pt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